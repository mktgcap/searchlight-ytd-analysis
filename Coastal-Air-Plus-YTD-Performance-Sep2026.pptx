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0" r:id="rId22"/>
    <p:sldId id="268" r:id="rId20"/>
    <p:sldId id="257" r:id="rId9"/>
    <p:sldId id="269" r:id="rId21"/>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revenue from Searchlight is 1.06 million. Adding 94 thousand from LettrLabs direct mail brings the total to about 1.16 million. TV revenue has not been provided yet, so it is shown as a placeholder and not included in the total. Searchlight's digital figure already includes about 1,477 dollars from two campaigns named Direct Mail; the LettrLabs figure is reported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4</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12</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13</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14</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Total revenue: $1.16M across digital, TV and direct mail</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lang="en-US" sz="1000" b="0">
                <a:solidFill>
                  <a:srgbClr val="5A6478"/>
                </a:solidFill>
                <a:latin typeface="Arial"/>
              </a:rPr>
              <a:t>Sources: Searchlight (digital) · LettrLabs (direct mail) · Jan 1 – Sep 30, 2026</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3</a:t>
            </a:r>
          </a:p>
        </p:txBody>
      </p:sp>
      <p:sp>
        <p:nvSpPr>
          <p:cNvPr id="5" name="Source Digital"/>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gital label"/>
          <p:cNvSpPr txBox="1"/>
          <p:nvPr/>
        </p:nvSpPr>
        <p:spPr>
          <a:xfrm>
            <a:off x="868680"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DIGITAL · SEARCHLIGHT</a:t>
            </a:r>
          </a:p>
        </p:txBody>
      </p:sp>
      <p:sp>
        <p:nvSpPr>
          <p:cNvPr id="7" name="Digital value"/>
          <p:cNvSpPr txBox="1"/>
          <p:nvPr/>
        </p:nvSpPr>
        <p:spPr>
          <a:xfrm>
            <a:off x="868680"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$1.06M</a:t>
            </a:r>
          </a:p>
        </p:txBody>
      </p:sp>
      <p:sp>
        <p:nvSpPr>
          <p:cNvPr id="8" name="Digital detail"/>
          <p:cNvSpPr txBox="1"/>
          <p:nvPr/>
        </p:nvSpPr>
        <p:spPr>
          <a:xfrm>
            <a:off x="868680"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$1,061,372 closed revenue</a:t>
            </a:r>
          </a:p>
        </p:txBody>
      </p:sp>
      <p:sp>
        <p:nvSpPr>
          <p:cNvPr id="9" name="Source TV"/>
          <p:cNvSpPr/>
          <p:nvPr/>
        </p:nvSpPr>
        <p:spPr>
          <a:xfrm>
            <a:off x="4337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V label"/>
          <p:cNvSpPr txBox="1"/>
          <p:nvPr/>
        </p:nvSpPr>
        <p:spPr>
          <a:xfrm>
            <a:off x="4657258"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TV</a:t>
            </a:r>
          </a:p>
        </p:txBody>
      </p:sp>
      <p:sp>
        <p:nvSpPr>
          <p:cNvPr id="11" name="TV value"/>
          <p:cNvSpPr txBox="1"/>
          <p:nvPr/>
        </p:nvSpPr>
        <p:spPr>
          <a:xfrm>
            <a:off x="4657258" y="2057400"/>
            <a:ext cx="2875178" cy="822960"/>
          </a:xfrm>
          <a:prstGeom prst="rect">
            <a:avLst/>
          </a:prstGeom>
          <a:noFill/>
        </p:spPr>
        <p:txBody>
          <a:bodyPr wrap="square" anchor="t" lIns="0" rIns="0" tIns="0" bIns="0">
            <a:spAutoFit/>
          </a:bodyPr>
          <a:lstStyle/>
          <a:p>
            <a:pPr algn="l"/>
            <a:r>
              <a:rPr lang="en-US" sz="4800" b="1">
                <a:solidFill>
                  <a:srgbClr val="5A6478"/>
                </a:solidFill>
                <a:latin typeface="Arial"/>
              </a:rPr>
              <a:t>—</a:t>
            </a:r>
          </a:p>
        </p:txBody>
      </p:sp>
      <p:sp>
        <p:nvSpPr>
          <p:cNvPr id="12" name="TV detail"/>
          <p:cNvSpPr txBox="1"/>
          <p:nvPr/>
        </p:nvSpPr>
        <p:spPr>
          <a:xfrm>
            <a:off x="4657258"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Amount not yet provided</a:t>
            </a:r>
          </a:p>
        </p:txBody>
      </p:sp>
      <p:sp>
        <p:nvSpPr>
          <p:cNvPr id="13" name="Source Direct Mail"/>
          <p:cNvSpPr/>
          <p:nvPr/>
        </p:nvSpPr>
        <p:spPr>
          <a:xfrm>
            <a:off x="8125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ect Mail label"/>
          <p:cNvSpPr txBox="1"/>
          <p:nvPr/>
        </p:nvSpPr>
        <p:spPr>
          <a:xfrm>
            <a:off x="8445836"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DIRECT MAIL · LETTRLABS</a:t>
            </a:r>
          </a:p>
        </p:txBody>
      </p:sp>
      <p:sp>
        <p:nvSpPr>
          <p:cNvPr id="15" name="Direct Mail value"/>
          <p:cNvSpPr txBox="1"/>
          <p:nvPr/>
        </p:nvSpPr>
        <p:spPr>
          <a:xfrm>
            <a:off x="8445836"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$94K</a:t>
            </a:r>
          </a:p>
        </p:txBody>
      </p:sp>
      <p:sp>
        <p:nvSpPr>
          <p:cNvPr id="16" name="Direct Mail detail"/>
          <p:cNvSpPr txBox="1"/>
          <p:nvPr/>
        </p:nvSpPr>
        <p:spPr>
          <a:xfrm>
            <a:off x="8445836"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$94,000</a:t>
            </a:r>
          </a:p>
        </p:txBody>
      </p:sp>
      <p:sp>
        <p:nvSpPr>
          <p:cNvPr id="17" name="Total Revenue"/>
          <p:cNvSpPr/>
          <p:nvPr/>
        </p:nvSpPr>
        <p:spPr>
          <a:xfrm>
            <a:off x="548640" y="3840480"/>
            <a:ext cx="11094416"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otal label"/>
          <p:cNvSpPr txBox="1"/>
          <p:nvPr/>
        </p:nvSpPr>
        <p:spPr>
          <a:xfrm>
            <a:off x="868680" y="4114800"/>
            <a:ext cx="5000000" cy="274320"/>
          </a:xfrm>
          <a:prstGeom prst="rect">
            <a:avLst/>
          </a:prstGeom>
          <a:noFill/>
        </p:spPr>
        <p:txBody>
          <a:bodyPr wrap="square" anchor="t" lIns="0" rIns="0" tIns="0" bIns="0">
            <a:spAutoFit/>
          </a:bodyPr>
          <a:lstStyle/>
          <a:p>
            <a:pPr algn="l"/>
            <a:r>
              <a:rPr lang="en-US" sz="1200" b="1">
                <a:solidFill>
                  <a:srgbClr val="C9D3E3"/>
                </a:solidFill>
                <a:latin typeface="Arial"/>
              </a:rPr>
              <a:t>TOTAL REVENUE, ALL SOURCES</a:t>
            </a:r>
          </a:p>
        </p:txBody>
      </p:sp>
      <p:sp>
        <p:nvSpPr>
          <p:cNvPr id="19" name="Total value"/>
          <p:cNvSpPr txBox="1"/>
          <p:nvPr/>
        </p:nvSpPr>
        <p:spPr>
          <a:xfrm>
            <a:off x="868680" y="4480560"/>
            <a:ext cx="5000000" cy="822960"/>
          </a:xfrm>
          <a:prstGeom prst="rect">
            <a:avLst/>
          </a:prstGeom>
          <a:noFill/>
        </p:spPr>
        <p:txBody>
          <a:bodyPr wrap="square" anchor="t" lIns="0" rIns="0" tIns="0" bIns="0">
            <a:spAutoFit/>
          </a:bodyPr>
          <a:lstStyle/>
          <a:p>
            <a:pPr algn="l"/>
            <a:r>
              <a:rPr lang="en-US" sz="4800" b="1">
                <a:solidFill>
                  <a:srgbClr val="F2A65A"/>
                </a:solidFill>
                <a:latin typeface="Arial"/>
              </a:rPr>
              <a:t>$1.16M</a:t>
            </a:r>
          </a:p>
        </p:txBody>
      </p:sp>
      <p:sp>
        <p:nvSpPr>
          <p:cNvPr id="20" name="Total detail"/>
          <p:cNvSpPr txBox="1"/>
          <p:nvPr/>
        </p:nvSpPr>
        <p:spPr>
          <a:xfrm>
            <a:off x="868680" y="5394960"/>
            <a:ext cx="5000000" cy="365760"/>
          </a:xfrm>
          <a:prstGeom prst="rect">
            <a:avLst/>
          </a:prstGeom>
          <a:noFill/>
        </p:spPr>
        <p:txBody>
          <a:bodyPr wrap="square" anchor="t" lIns="0" rIns="0" tIns="0" bIns="0">
            <a:spAutoFit/>
          </a:bodyPr>
          <a:lstStyle/>
          <a:p>
            <a:pPr algn="l"/>
            <a:r>
              <a:rPr lang="en-US" sz="1400" b="0">
                <a:solidFill>
                  <a:srgbClr val="C9D3E3"/>
                </a:solidFill>
                <a:latin typeface="Arial"/>
              </a:rPr>
              <a:t>$1,155,372</a:t>
            </a:r>
          </a:p>
        </p:txBody>
      </p:sp>
      <p:sp>
        <p:nvSpPr>
          <p:cNvPr id="21" name="Breakdown 1 name"/>
          <p:cNvSpPr txBox="1"/>
          <p:nvPr/>
        </p:nvSpPr>
        <p:spPr>
          <a:xfrm>
            <a:off x="6400800" y="42062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Digital (Searchlight)</a:t>
            </a:r>
          </a:p>
        </p:txBody>
      </p:sp>
      <p:sp>
        <p:nvSpPr>
          <p:cNvPr id="22" name="Breakdown 1 amount"/>
          <p:cNvSpPr txBox="1"/>
          <p:nvPr/>
        </p:nvSpPr>
        <p:spPr>
          <a:xfrm>
            <a:off x="9601200" y="42062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$1,061,372</a:t>
            </a:r>
          </a:p>
        </p:txBody>
      </p:sp>
      <p:sp>
        <p:nvSpPr>
          <p:cNvPr id="23" name="Breakdown 2 name"/>
          <p:cNvSpPr txBox="1"/>
          <p:nvPr/>
        </p:nvSpPr>
        <p:spPr>
          <a:xfrm>
            <a:off x="6400800" y="46634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TV</a:t>
            </a:r>
          </a:p>
        </p:txBody>
      </p:sp>
      <p:sp>
        <p:nvSpPr>
          <p:cNvPr id="24" name="Breakdown 2 amount"/>
          <p:cNvSpPr txBox="1"/>
          <p:nvPr/>
        </p:nvSpPr>
        <p:spPr>
          <a:xfrm>
            <a:off x="9601200" y="46634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a:t>
            </a:r>
          </a:p>
        </p:txBody>
      </p:sp>
      <p:sp>
        <p:nvSpPr>
          <p:cNvPr id="25" name="Breakdown 3 name"/>
          <p:cNvSpPr txBox="1"/>
          <p:nvPr/>
        </p:nvSpPr>
        <p:spPr>
          <a:xfrm>
            <a:off x="6400800" y="51206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Direct mail (LettrLabs)</a:t>
            </a:r>
          </a:p>
        </p:txBody>
      </p:sp>
      <p:sp>
        <p:nvSpPr>
          <p:cNvPr id="26" name="Breakdown 3 amount"/>
          <p:cNvSpPr txBox="1"/>
          <p:nvPr/>
        </p:nvSpPr>
        <p:spPr>
          <a:xfrm>
            <a:off x="9601200" y="51206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$94,000</a:t>
            </a:r>
          </a:p>
        </p:txBody>
      </p:sp>
      <p:cxnSp>
        <p:nvCxnSpPr>
          <p:cNvPr id="27" name="Breakdown rule"/>
          <p:cNvCxnSpPr/>
          <p:nvPr/>
        </p:nvCxnSpPr>
        <p:spPr>
          <a:xfrm>
            <a:off x="6400800" y="5486400"/>
            <a:ext cx="4914900" cy="0"/>
          </a:xfrm>
          <a:prstGeom prst="line">
            <a:avLst/>
          </a:prstGeom>
          <a:ln w="9525">
            <a:solidFill>
              <a:srgbClr val="5A6478"/>
            </a:solidFill>
          </a:ln>
        </p:spPr>
      </p:cxnSp>
      <p:sp>
        <p:nvSpPr>
          <p:cNvPr id="28" name="Breakdown total name"/>
          <p:cNvSpPr txBox="1"/>
          <p:nvPr/>
        </p:nvSpPr>
        <p:spPr>
          <a:xfrm>
            <a:off x="6400800" y="5577840"/>
            <a:ext cx="3200400" cy="320040"/>
          </a:xfrm>
          <a:prstGeom prst="rect">
            <a:avLst/>
          </a:prstGeom>
          <a:noFill/>
        </p:spPr>
        <p:txBody>
          <a:bodyPr wrap="square" anchor="t" lIns="0" rIns="0" tIns="0" bIns="0">
            <a:spAutoFit/>
          </a:bodyPr>
          <a:lstStyle/>
          <a:p>
            <a:pPr algn="l"/>
            <a:r>
              <a:rPr lang="en-US" sz="1400" b="1">
                <a:solidFill>
                  <a:srgbClr val="F7F6F2"/>
                </a:solidFill>
                <a:latin typeface="Arial"/>
              </a:rPr>
              <a:t>Total</a:t>
            </a:r>
          </a:p>
        </p:txBody>
      </p:sp>
      <p:sp>
        <p:nvSpPr>
          <p:cNvPr id="29" name="Breakdown total amount"/>
          <p:cNvSpPr txBox="1"/>
          <p:nvPr/>
        </p:nvSpPr>
        <p:spPr>
          <a:xfrm>
            <a:off x="9601200" y="5577840"/>
            <a:ext cx="1714500" cy="320040"/>
          </a:xfrm>
          <a:prstGeom prst="rect">
            <a:avLst/>
          </a:prstGeom>
          <a:noFill/>
        </p:spPr>
        <p:txBody>
          <a:bodyPr wrap="square" anchor="t" lIns="0" rIns="0" tIns="0" bIns="0">
            <a:spAutoFit/>
          </a:bodyPr>
          <a:lstStyle/>
          <a:p>
            <a:pPr algn="r"/>
            <a:r>
              <a:rPr lang="en-US" sz="1400" b="1">
                <a:solidFill>
                  <a:srgbClr val="F2A65A"/>
                </a:solidFill>
                <a:latin typeface="Arial"/>
              </a:rPr>
              <a:t>$1,155,372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2468880"/>
            <a:ext cx="11094415" cy="365760"/>
          </a:xfrm>
          <a:prstGeom prst="rect">
            <a:avLst/>
          </a:prstGeom>
          <a:noFill/>
        </p:spPr>
        <p:txBody>
          <a:bodyPr wrap="square" anchor="t" lIns="0" rIns="0" tIns="0" bIns="0">
            <a:spAutoFit/>
          </a:bodyPr>
          <a:lstStyle/>
          <a:p>
            <a:pPr algn="l"/>
            <a:r>
              <a:rPr sz="1600" b="1">
                <a:solidFill>
                  <a:srgbClr val="F2A65A"/>
                </a:solidFill>
                <a:latin typeface="Arial"/>
              </a:rPr>
              <a:t>SECTION</a:t>
            </a:r>
          </a:p>
        </p:txBody>
      </p:sp>
      <p:sp>
        <p:nvSpPr>
          <p:cNvPr id="3" name="Title"/>
          <p:cNvSpPr txBox="1"/>
          <p:nvPr/>
        </p:nvSpPr>
        <p:spPr>
          <a:xfrm>
            <a:off x="548640" y="2926080"/>
            <a:ext cx="11094415" cy="914400"/>
          </a:xfrm>
          <a:prstGeom prst="rect">
            <a:avLst/>
          </a:prstGeom>
          <a:noFill/>
        </p:spPr>
        <p:txBody>
          <a:bodyPr wrap="square" anchor="t" lIns="0" rIns="0" tIns="0" bIns="0">
            <a:spAutoFit/>
          </a:bodyPr>
          <a:lstStyle/>
          <a:p>
            <a:pPr algn="l"/>
            <a:r>
              <a:rPr lang="en-US" sz="5400" b="1">
                <a:solidFill>
                  <a:srgbClr val="F7F6F2"/>
                </a:solidFill>
                <a:latin typeface="Arial"/>
              </a:rPr>
              <a:t>Digital Advertising</a:t>
            </a:r>
          </a:p>
        </p:txBody>
      </p:sp>
      <p:sp>
        <p:nvSpPr>
          <p:cNvPr id="5"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9FB0C9"/>
                </a:solidFill>
                <a:latin typeface="Arial"/>
              </a:rPr>
              <a: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A Customer’s Journey</a:t>
            </a:r>
          </a:p>
        </p:txBody>
      </p:sp>
      <p:cxnSp>
        <p:nvCxnSpPr>
          <p:cNvPr id="3" name="Connector"/>
          <p:cNvCxnSpPr/>
          <p:nvPr/>
        </p:nvCxnSpPr>
        <p:spPr>
          <a:xfrm>
            <a:off x="6096000" y="1931920"/>
            <a:ext cx="0" cy="2000000"/>
          </a:xfrm>
          <a:prstGeom prst="line">
            <a:avLst/>
          </a:prstGeom>
          <a:ln w="12700">
            <a:solidFill>
              <a:srgbClr val="C9CDD6"/>
            </a:solidFill>
            <a:prstDash val="dash"/>
          </a:ln>
        </p:spPr>
      </p:cxnSp>
      <p:cxnSp>
        <p:nvCxnSpPr>
          <p:cNvPr id="4" name="Connector"/>
          <p:cNvCxnSpPr/>
          <p:nvPr/>
        </p:nvCxnSpPr>
        <p:spPr>
          <a:xfrm flipV="1">
            <a:off x="6096000" y="2313886"/>
            <a:ext cx="2703812" cy="1618034"/>
          </a:xfrm>
          <a:prstGeom prst="line">
            <a:avLst/>
          </a:prstGeom>
          <a:ln w="12700">
            <a:solidFill>
              <a:srgbClr val="C9CDD6"/>
            </a:solidFill>
            <a:prstDash val="dash"/>
          </a:ln>
        </p:spPr>
      </p:cxnSp>
      <p:cxnSp>
        <p:nvCxnSpPr>
          <p:cNvPr id="5" name="Connector"/>
          <p:cNvCxnSpPr/>
          <p:nvPr/>
        </p:nvCxnSpPr>
        <p:spPr>
          <a:xfrm flipV="1">
            <a:off x="6096000" y="3313886"/>
            <a:ext cx="4374859" cy="618034"/>
          </a:xfrm>
          <a:prstGeom prst="line">
            <a:avLst/>
          </a:prstGeom>
          <a:ln w="12700">
            <a:solidFill>
              <a:srgbClr val="C9CDD6"/>
            </a:solidFill>
            <a:prstDash val="dash"/>
          </a:ln>
        </p:spPr>
      </p:cxnSp>
      <p:cxnSp>
        <p:nvCxnSpPr>
          <p:cNvPr id="6" name="Connector"/>
          <p:cNvCxnSpPr/>
          <p:nvPr/>
        </p:nvCxnSpPr>
        <p:spPr>
          <a:xfrm>
            <a:off x="6096000" y="3931920"/>
            <a:ext cx="4374859" cy="618033"/>
          </a:xfrm>
          <a:prstGeom prst="line">
            <a:avLst/>
          </a:prstGeom>
          <a:ln w="12700">
            <a:solidFill>
              <a:srgbClr val="C9CDD6"/>
            </a:solidFill>
            <a:prstDash val="dash"/>
          </a:ln>
        </p:spPr>
      </p:cxnSp>
      <p:cxnSp>
        <p:nvCxnSpPr>
          <p:cNvPr id="7" name="Connector"/>
          <p:cNvCxnSpPr/>
          <p:nvPr/>
        </p:nvCxnSpPr>
        <p:spPr>
          <a:xfrm>
            <a:off x="6096000" y="3931920"/>
            <a:ext cx="2703812" cy="1618033"/>
          </a:xfrm>
          <a:prstGeom prst="line">
            <a:avLst/>
          </a:prstGeom>
          <a:ln w="12700">
            <a:solidFill>
              <a:srgbClr val="C9CDD6"/>
            </a:solidFill>
            <a:prstDash val="dash"/>
          </a:ln>
        </p:spPr>
      </p:cxnSp>
      <p:cxnSp>
        <p:nvCxnSpPr>
          <p:cNvPr id="8" name="Connector"/>
          <p:cNvCxnSpPr/>
          <p:nvPr/>
        </p:nvCxnSpPr>
        <p:spPr>
          <a:xfrm>
            <a:off x="6096000" y="3931920"/>
            <a:ext cx="0" cy="2000000"/>
          </a:xfrm>
          <a:prstGeom prst="line">
            <a:avLst/>
          </a:prstGeom>
          <a:ln w="12700">
            <a:solidFill>
              <a:srgbClr val="C9CDD6"/>
            </a:solidFill>
            <a:prstDash val="dash"/>
          </a:ln>
        </p:spPr>
      </p:cxnSp>
      <p:cxnSp>
        <p:nvCxnSpPr>
          <p:cNvPr id="9" name="Connector"/>
          <p:cNvCxnSpPr/>
          <p:nvPr/>
        </p:nvCxnSpPr>
        <p:spPr>
          <a:xfrm flipV="1">
            <a:off x="3392187" y="3931920"/>
            <a:ext cx="2703813" cy="1618033"/>
          </a:xfrm>
          <a:prstGeom prst="line">
            <a:avLst/>
          </a:prstGeom>
          <a:ln w="12700">
            <a:solidFill>
              <a:srgbClr val="C9CDD6"/>
            </a:solidFill>
            <a:prstDash val="dash"/>
          </a:ln>
        </p:spPr>
      </p:cxnSp>
      <p:cxnSp>
        <p:nvCxnSpPr>
          <p:cNvPr id="10" name="Connector"/>
          <p:cNvCxnSpPr/>
          <p:nvPr/>
        </p:nvCxnSpPr>
        <p:spPr>
          <a:xfrm flipV="1">
            <a:off x="1721140" y="3931920"/>
            <a:ext cx="4374860" cy="618033"/>
          </a:xfrm>
          <a:prstGeom prst="line">
            <a:avLst/>
          </a:prstGeom>
          <a:ln w="12700">
            <a:solidFill>
              <a:srgbClr val="C9CDD6"/>
            </a:solidFill>
            <a:prstDash val="dash"/>
          </a:ln>
        </p:spPr>
      </p:cxnSp>
      <p:cxnSp>
        <p:nvCxnSpPr>
          <p:cNvPr id="11" name="Connector"/>
          <p:cNvCxnSpPr/>
          <p:nvPr/>
        </p:nvCxnSpPr>
        <p:spPr>
          <a:xfrm>
            <a:off x="1721140" y="3313886"/>
            <a:ext cx="4374860" cy="618034"/>
          </a:xfrm>
          <a:prstGeom prst="line">
            <a:avLst/>
          </a:prstGeom>
          <a:ln w="12700">
            <a:solidFill>
              <a:srgbClr val="C9CDD6"/>
            </a:solidFill>
            <a:prstDash val="dash"/>
          </a:ln>
        </p:spPr>
      </p:cxnSp>
      <p:cxnSp>
        <p:nvCxnSpPr>
          <p:cNvPr id="12" name="Connector"/>
          <p:cNvCxnSpPr/>
          <p:nvPr/>
        </p:nvCxnSpPr>
        <p:spPr>
          <a:xfrm>
            <a:off x="3392187" y="2313886"/>
            <a:ext cx="2703813" cy="1618034"/>
          </a:xfrm>
          <a:prstGeom prst="line">
            <a:avLst/>
          </a:prstGeom>
          <a:ln w="12700">
            <a:solidFill>
              <a:srgbClr val="C9CDD6"/>
            </a:solidFill>
            <a:prstDash val="dash"/>
          </a:ln>
        </p:spPr>
      </p:cxnSp>
      <p:sp>
        <p:nvSpPr>
          <p:cNvPr id="13" name="Customer"/>
          <p:cNvSpPr/>
          <p:nvPr/>
        </p:nvSpPr>
        <p:spPr>
          <a:xfrm>
            <a:off x="5227320" y="3063240"/>
            <a:ext cx="1737360" cy="1737360"/>
          </a:xfrm>
          <a:prstGeom prst="ellipse">
            <a:avLst/>
          </a:prstGeom>
          <a:solidFill>
            <a:srgbClr val="14213D"/>
          </a:solidFill>
          <a:ln w="12700">
            <a:solidFill>
              <a:srgbClr val="14213D"/>
            </a:solidFill>
          </a:ln>
        </p:spPr>
        <p:txBody>
          <a:bodyPr wrap="none" anchor="ctr" lIns="91440" rIns="91440" tIns="0" bIns="0"/>
          <a:lstStyle/>
          <a:p>
            <a:pPr algn="ctr"/>
            <a:r>
              <a:rPr lang="en-US" sz="2000" b="1">
                <a:solidFill>
                  <a:srgbClr val="F7F6F2"/>
                </a:solidFill>
                <a:latin typeface="Arial"/>
              </a:rPr>
              <a:t>Customer</a:t>
            </a:r>
          </a:p>
        </p:txBody>
      </p:sp>
      <p:sp>
        <p:nvSpPr>
          <p:cNvPr id="14" name="Touchpoint TV"/>
          <p:cNvSpPr/>
          <p:nvPr/>
        </p:nvSpPr>
        <p:spPr>
          <a:xfrm>
            <a:off x="5364480" y="1634740"/>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TV</a:t>
            </a:r>
          </a:p>
        </p:txBody>
      </p:sp>
      <p:sp>
        <p:nvSpPr>
          <p:cNvPr id="15" name="Touchpoint Direct Mail"/>
          <p:cNvSpPr/>
          <p:nvPr/>
        </p:nvSpPr>
        <p:spPr>
          <a:xfrm>
            <a:off x="7944848" y="2016706"/>
            <a:ext cx="1709928"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Direct Mail</a:t>
            </a:r>
          </a:p>
        </p:txBody>
      </p:sp>
      <p:sp>
        <p:nvSpPr>
          <p:cNvPr id="16" name="Touchpoint GBP"/>
          <p:cNvSpPr/>
          <p:nvPr/>
        </p:nvSpPr>
        <p:spPr>
          <a:xfrm>
            <a:off x="9739339" y="3016706"/>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GBP</a:t>
            </a:r>
          </a:p>
        </p:txBody>
      </p:sp>
      <p:sp>
        <p:nvSpPr>
          <p:cNvPr id="17" name="Touchpoint Website"/>
          <p:cNvSpPr/>
          <p:nvPr/>
        </p:nvSpPr>
        <p:spPr>
          <a:xfrm>
            <a:off x="9739339" y="4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Website</a:t>
            </a:r>
          </a:p>
        </p:txBody>
      </p:sp>
      <p:sp>
        <p:nvSpPr>
          <p:cNvPr id="18" name="Touchpoint Promos"/>
          <p:cNvSpPr/>
          <p:nvPr/>
        </p:nvSpPr>
        <p:spPr>
          <a:xfrm>
            <a:off x="8068292" y="5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Promos</a:t>
            </a:r>
          </a:p>
        </p:txBody>
      </p:sp>
      <p:sp>
        <p:nvSpPr>
          <p:cNvPr id="19" name="Touchpoint Outbound Text Campaigns"/>
          <p:cNvSpPr/>
          <p:nvPr/>
        </p:nvSpPr>
        <p:spPr>
          <a:xfrm>
            <a:off x="4582669" y="5634740"/>
            <a:ext cx="3026663"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Outbound Text Campaigns</a:t>
            </a:r>
          </a:p>
        </p:txBody>
      </p:sp>
      <p:sp>
        <p:nvSpPr>
          <p:cNvPr id="20" name="Touchpoint Inbound"/>
          <p:cNvSpPr/>
          <p:nvPr/>
        </p:nvSpPr>
        <p:spPr>
          <a:xfrm>
            <a:off x="2660667" y="5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Inbound</a:t>
            </a:r>
          </a:p>
        </p:txBody>
      </p:sp>
      <p:sp>
        <p:nvSpPr>
          <p:cNvPr id="21" name="Touchpoint Facebook"/>
          <p:cNvSpPr/>
          <p:nvPr/>
        </p:nvSpPr>
        <p:spPr>
          <a:xfrm>
            <a:off x="989620" y="4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Facebook</a:t>
            </a:r>
          </a:p>
        </p:txBody>
      </p:sp>
      <p:sp>
        <p:nvSpPr>
          <p:cNvPr id="22" name="Touchpoint Google Ads"/>
          <p:cNvSpPr/>
          <p:nvPr/>
        </p:nvSpPr>
        <p:spPr>
          <a:xfrm>
            <a:off x="921040" y="3016706"/>
            <a:ext cx="160020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Google Ads</a:t>
            </a:r>
          </a:p>
        </p:txBody>
      </p:sp>
      <p:sp>
        <p:nvSpPr>
          <p:cNvPr id="23" name="Touchpoint Fleetworx"/>
          <p:cNvSpPr/>
          <p:nvPr/>
        </p:nvSpPr>
        <p:spPr>
          <a:xfrm>
            <a:off x="2646951" y="2016706"/>
            <a:ext cx="1490472"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Fleetworx</a:t>
            </a:r>
          </a:p>
        </p:txBody>
      </p:sp>
      <p:sp>
        <p:nvSpPr>
          <p:cNvPr id="2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