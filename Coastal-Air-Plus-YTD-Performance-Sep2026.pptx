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68" r:id="rId20"/>
    <p:sldId id="270" r:id="rId22"/>
    <p:sldId id="257" r:id="rId9"/>
    <p:sldId id="269" r:id="rId21"/>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Coastal Air Plus performance from January 1 through September 30, 2026, pulled from Searchlight. Retention, membership and follow-up campaigns are excluded so the focus is on new-customer marketing.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 over a million dollars closed year to date on about 159 thousand in ad spend. The 6.7x return counts revenue from all channels, including organic and direct, against ad spend. Paid advertising on its own returned 2.7x.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Advertising is the biggest channel at 1,898 leads and 436 thousand closed, a 2.7x return. Organic, mainly the two Google Business Profile listings and Google organic search, brings 1,288 leads and 368 thousand without media spend.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search is the most efficient paid spend at almost 14 times return. The two Local Services Ads listings carry most of the paid volume. Competitor targeting on zip codes and both Performance Max campaigns also return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Myrtle Beach non-brand search campaigns spent about 54 thousand and closed about 41 thousand, under break-even. Four special-offer campaigns spent about 9 thousand with no closed revenue yet, though the newer ones may still close.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unpaid sources closed about 576 thousand dollars. Charleston GBP is the largest single lead source at 707 leads, but only about one in ten books. Myrtle Beach GBP books about one in four.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ranking runs over five slides. LSA names are shortened (each ends "/ David Long"). Direct Mktg = Direct Marketing; AI =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the full campaign ranking by closed revenue.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caveats matter when comparing to the live report: unique leads are summed by month so may be slightly higher, and about 9 thousand of ad spend is not tied to a named campaign.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revenue from Searchlight is 1.06 million. Adding 94 thousand from LettrLabs direct mail brings the total to about 1.16 million. TV revenue has not been provided yet, so it is shown as a placeholder and not included in the total. Searchlight's digital figure already includes about 1,477 dollars from two campaigns named Direct Mail; the LettrLabs figure is reported separately.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Eyebrow"/>
          <p:cNvSpPr txBox="1"/>
          <p:nvPr/>
        </p:nvSpPr>
        <p:spPr>
          <a:xfrm>
            <a:off x="548640" y="1417320"/>
            <a:ext cx="11094415" cy="365760"/>
          </a:xfrm>
          <a:prstGeom prst="rect">
            <a:avLst/>
          </a:prstGeom>
          <a:noFill/>
        </p:spPr>
        <p:txBody>
          <a:bodyPr wrap="square" anchor="t" lIns="0" rIns="0" tIns="0" bIns="0">
            <a:spAutoFit/>
          </a:bodyPr>
          <a:lstStyle/>
          <a:p>
            <a:pPr algn="l"/>
            <a:r>
              <a:rPr sz="1600" b="1">
                <a:solidFill>
                  <a:srgbClr val="F2A65A"/>
                </a:solidFill>
                <a:latin typeface="Arial"/>
              </a:rPr>
              <a:t>SEARCHLIGHT PERFORMANCE REVIEW</a:t>
            </a:r>
          </a:p>
        </p:txBody>
      </p:sp>
      <p:sp>
        <p:nvSpPr>
          <p:cNvPr id="3" name="Title"/>
          <p:cNvSpPr txBox="1"/>
          <p:nvPr/>
        </p:nvSpPr>
        <p:spPr>
          <a:xfrm>
            <a:off x="548640" y="2011680"/>
            <a:ext cx="11094415" cy="1828800"/>
          </a:xfrm>
          <a:prstGeom prst="rect">
            <a:avLst/>
          </a:prstGeom>
          <a:noFill/>
        </p:spPr>
        <p:txBody>
          <a:bodyPr wrap="square" anchor="t" lIns="0" rIns="0" tIns="0" bIns="0">
            <a:spAutoFit/>
          </a:bodyPr>
          <a:lstStyle/>
          <a:p>
            <a:pPr algn="l"/>
            <a:r>
              <a:rPr sz="4800" b="1">
                <a:solidFill>
                  <a:srgbClr val="F7F6F2"/>
                </a:solidFill>
                <a:latin typeface="Arial"/>
              </a:rPr>
              <a:t>Coastal Air Plus</a:t>
            </a:r>
          </a:p>
          <a:p>
            <a:pPr algn="l"/>
            <a:r>
              <a:rPr sz="4800" b="1">
                <a:solidFill>
                  <a:srgbClr val="F7F6F2"/>
                </a:solidFill>
                <a:latin typeface="Arial"/>
              </a:rPr>
              <a:t>Year-to-Date Results</a:t>
            </a:r>
          </a:p>
        </p:txBody>
      </p:sp>
      <p:sp>
        <p:nvSpPr>
          <p:cNvPr id="4" name="Subtitle"/>
          <p:cNvSpPr txBox="1"/>
          <p:nvPr/>
        </p:nvSpPr>
        <p:spPr>
          <a:xfrm>
            <a:off x="548640" y="3977639"/>
            <a:ext cx="11094415" cy="457200"/>
          </a:xfrm>
          <a:prstGeom prst="rect">
            <a:avLst/>
          </a:prstGeom>
          <a:noFill/>
        </p:spPr>
        <p:txBody>
          <a:bodyPr wrap="square" anchor="t" lIns="0" rIns="0" tIns="0" bIns="0">
            <a:spAutoFit/>
          </a:bodyPr>
          <a:lstStyle/>
          <a:p>
            <a:pPr algn="l"/>
            <a:r>
              <a:rPr sz="2200" b="0">
                <a:solidFill>
                  <a:srgbClr val="C9D3E3"/>
                </a:solidFill>
                <a:latin typeface="Arial"/>
              </a:rPr>
              <a:t>January 1 – September 30, 2026 · by channel and campaign</a:t>
            </a:r>
          </a:p>
        </p:txBody>
      </p:sp>
      <p:sp>
        <p:nvSpPr>
          <p:cNvPr id="5" name="Filter note"/>
          <p:cNvSpPr txBox="1"/>
          <p:nvPr/>
        </p:nvSpPr>
        <p:spPr>
          <a:xfrm>
            <a:off x="548640" y="5943600"/>
            <a:ext cx="11094415" cy="365760"/>
          </a:xfrm>
          <a:prstGeom prst="rect">
            <a:avLst/>
          </a:prstGeom>
          <a:noFill/>
        </p:spPr>
        <p:txBody>
          <a:bodyPr wrap="square" anchor="t" lIns="0" rIns="0" tIns="0" bIns="0">
            <a:spAutoFit/>
          </a:bodyPr>
          <a:lstStyle/>
          <a:p>
            <a:pPr algn="l"/>
            <a:r>
              <a:rPr sz="1200" b="0">
                <a:solidFill>
                  <a:srgbClr val="9FB0C9"/>
                </a:solidFill>
                <a:latin typeface="Arial"/>
              </a:rPr>
              <a:t>Excludes 45 retention, membership, estimate follow-up and SMS reminder campaigns, per the report filter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Year to date: $1.06M closed on $159K of ad spend</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4</a:t>
            </a:r>
          </a:p>
        </p:txBody>
      </p:sp>
      <p:sp>
        <p:nvSpPr>
          <p:cNvPr id="5" name="Stat Closed Revenue"/>
          <p:cNvSpPr/>
          <p:nvPr/>
        </p:nvSpPr>
        <p:spPr>
          <a:xfrm>
            <a:off x="548640"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91640"/>
            <a:ext cx="2875178" cy="274320"/>
          </a:xfrm>
          <a:prstGeom prst="rect">
            <a:avLst/>
          </a:prstGeom>
          <a:noFill/>
        </p:spPr>
        <p:txBody>
          <a:bodyPr wrap="square" anchor="t" lIns="0" rIns="0" tIns="0" bIns="0">
            <a:spAutoFit/>
          </a:bodyPr>
          <a:lstStyle/>
          <a:p>
            <a:pPr algn="l"/>
            <a:r>
              <a:rPr sz="1200" b="1">
                <a:solidFill>
                  <a:srgbClr val="5A6478"/>
                </a:solidFill>
                <a:latin typeface="Arial"/>
              </a:rPr>
              <a:t>CLOSED REVENUE</a:t>
            </a:r>
          </a:p>
        </p:txBody>
      </p:sp>
      <p:sp>
        <p:nvSpPr>
          <p:cNvPr id="7" name="TextBox 6"/>
          <p:cNvSpPr txBox="1"/>
          <p:nvPr/>
        </p:nvSpPr>
        <p:spPr>
          <a:xfrm>
            <a:off x="868680" y="2057400"/>
            <a:ext cx="2875178" cy="822960"/>
          </a:xfrm>
          <a:prstGeom prst="rect">
            <a:avLst/>
          </a:prstGeom>
          <a:noFill/>
        </p:spPr>
        <p:txBody>
          <a:bodyPr wrap="square" anchor="t" lIns="0" rIns="0" tIns="0" bIns="0">
            <a:spAutoFit/>
          </a:bodyPr>
          <a:lstStyle/>
          <a:p>
            <a:pPr algn="l"/>
            <a:r>
              <a:rPr sz="4800" b="1">
                <a:solidFill>
                  <a:srgbClr val="14213D"/>
                </a:solidFill>
                <a:latin typeface="Arial"/>
              </a:rPr>
              <a:t>$1.06M</a:t>
            </a:r>
          </a:p>
        </p:txBody>
      </p:sp>
      <p:sp>
        <p:nvSpPr>
          <p:cNvPr id="8" name="TextBox 7"/>
          <p:cNvSpPr txBox="1"/>
          <p:nvPr/>
        </p:nvSpPr>
        <p:spPr>
          <a:xfrm>
            <a:off x="868680" y="2971800"/>
            <a:ext cx="2875178" cy="365760"/>
          </a:xfrm>
          <a:prstGeom prst="rect">
            <a:avLst/>
          </a:prstGeom>
          <a:noFill/>
        </p:spPr>
        <p:txBody>
          <a:bodyPr wrap="square" anchor="t" lIns="0" rIns="0" tIns="0" bIns="0">
            <a:spAutoFit/>
          </a:bodyPr>
          <a:lstStyle/>
          <a:p>
            <a:pPr algn="l"/>
            <a:r>
              <a:rPr sz="1400" b="0">
                <a:solidFill>
                  <a:srgbClr val="5A6478"/>
                </a:solidFill>
                <a:latin typeface="Arial"/>
              </a:rPr>
              <a:t>$1,061,372</a:t>
            </a:r>
          </a:p>
        </p:txBody>
      </p:sp>
      <p:sp>
        <p:nvSpPr>
          <p:cNvPr id="9" name="Stat Unique Leads"/>
          <p:cNvSpPr/>
          <p:nvPr/>
        </p:nvSpPr>
        <p:spPr>
          <a:xfrm>
            <a:off x="4338218"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8258" y="1691640"/>
            <a:ext cx="2875178" cy="274320"/>
          </a:xfrm>
          <a:prstGeom prst="rect">
            <a:avLst/>
          </a:prstGeom>
          <a:noFill/>
        </p:spPr>
        <p:txBody>
          <a:bodyPr wrap="square" anchor="t" lIns="0" rIns="0" tIns="0" bIns="0">
            <a:spAutoFit/>
          </a:bodyPr>
          <a:lstStyle/>
          <a:p>
            <a:pPr algn="l"/>
            <a:r>
              <a:rPr sz="1200" b="1">
                <a:solidFill>
                  <a:srgbClr val="5A6478"/>
                </a:solidFill>
                <a:latin typeface="Arial"/>
              </a:rPr>
              <a:t>UNIQUE LEADS</a:t>
            </a:r>
          </a:p>
        </p:txBody>
      </p:sp>
      <p:sp>
        <p:nvSpPr>
          <p:cNvPr id="11" name="TextBox 10"/>
          <p:cNvSpPr txBox="1"/>
          <p:nvPr/>
        </p:nvSpPr>
        <p:spPr>
          <a:xfrm>
            <a:off x="4658258" y="2057400"/>
            <a:ext cx="2875178" cy="822960"/>
          </a:xfrm>
          <a:prstGeom prst="rect">
            <a:avLst/>
          </a:prstGeom>
          <a:noFill/>
        </p:spPr>
        <p:txBody>
          <a:bodyPr wrap="square" anchor="t" lIns="0" rIns="0" tIns="0" bIns="0">
            <a:spAutoFit/>
          </a:bodyPr>
          <a:lstStyle/>
          <a:p>
            <a:pPr algn="l"/>
            <a:r>
              <a:rPr sz="4800" b="1">
                <a:solidFill>
                  <a:srgbClr val="14213D"/>
                </a:solidFill>
                <a:latin typeface="Arial"/>
              </a:rPr>
              <a:t>3,905</a:t>
            </a:r>
          </a:p>
        </p:txBody>
      </p:sp>
      <p:sp>
        <p:nvSpPr>
          <p:cNvPr id="12" name="TextBox 11"/>
          <p:cNvSpPr txBox="1"/>
          <p:nvPr/>
        </p:nvSpPr>
        <p:spPr>
          <a:xfrm>
            <a:off x="4658258" y="2971800"/>
            <a:ext cx="2875178" cy="365760"/>
          </a:xfrm>
          <a:prstGeom prst="rect">
            <a:avLst/>
          </a:prstGeom>
          <a:noFill/>
        </p:spPr>
        <p:txBody>
          <a:bodyPr wrap="square" anchor="t" lIns="0" rIns="0" tIns="0" bIns="0">
            <a:spAutoFit/>
          </a:bodyPr>
          <a:lstStyle/>
          <a:p>
            <a:pPr algn="l"/>
            <a:r>
              <a:rPr sz="1400" b="0">
                <a:solidFill>
                  <a:srgbClr val="5A6478"/>
                </a:solidFill>
                <a:latin typeface="Arial"/>
              </a:rPr>
              <a:t>5,057 total calls and forms</a:t>
            </a:r>
          </a:p>
        </p:txBody>
      </p:sp>
      <p:sp>
        <p:nvSpPr>
          <p:cNvPr id="13" name="Stat Booked Jobs"/>
          <p:cNvSpPr/>
          <p:nvPr/>
        </p:nvSpPr>
        <p:spPr>
          <a:xfrm>
            <a:off x="8127796"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47836" y="1691640"/>
            <a:ext cx="2875178" cy="274320"/>
          </a:xfrm>
          <a:prstGeom prst="rect">
            <a:avLst/>
          </a:prstGeom>
          <a:noFill/>
        </p:spPr>
        <p:txBody>
          <a:bodyPr wrap="square" anchor="t" lIns="0" rIns="0" tIns="0" bIns="0">
            <a:spAutoFit/>
          </a:bodyPr>
          <a:lstStyle/>
          <a:p>
            <a:pPr algn="l"/>
            <a:r>
              <a:rPr sz="1200" b="1">
                <a:solidFill>
                  <a:srgbClr val="5A6478"/>
                </a:solidFill>
                <a:latin typeface="Arial"/>
              </a:rPr>
              <a:t>BOOKED JOBS</a:t>
            </a:r>
          </a:p>
        </p:txBody>
      </p:sp>
      <p:sp>
        <p:nvSpPr>
          <p:cNvPr id="15" name="TextBox 14"/>
          <p:cNvSpPr txBox="1"/>
          <p:nvPr/>
        </p:nvSpPr>
        <p:spPr>
          <a:xfrm>
            <a:off x="8447836" y="2057400"/>
            <a:ext cx="2875178" cy="822960"/>
          </a:xfrm>
          <a:prstGeom prst="rect">
            <a:avLst/>
          </a:prstGeom>
          <a:noFill/>
        </p:spPr>
        <p:txBody>
          <a:bodyPr wrap="square" anchor="t" lIns="0" rIns="0" tIns="0" bIns="0">
            <a:spAutoFit/>
          </a:bodyPr>
          <a:lstStyle/>
          <a:p>
            <a:pPr algn="l"/>
            <a:r>
              <a:rPr sz="4800" b="1">
                <a:solidFill>
                  <a:srgbClr val="14213D"/>
                </a:solidFill>
                <a:latin typeface="Arial"/>
              </a:rPr>
              <a:t>933</a:t>
            </a:r>
          </a:p>
        </p:txBody>
      </p:sp>
      <p:sp>
        <p:nvSpPr>
          <p:cNvPr id="16" name="TextBox 15"/>
          <p:cNvSpPr txBox="1"/>
          <p:nvPr/>
        </p:nvSpPr>
        <p:spPr>
          <a:xfrm>
            <a:off x="8447836" y="2971800"/>
            <a:ext cx="2875178" cy="365760"/>
          </a:xfrm>
          <a:prstGeom prst="rect">
            <a:avLst/>
          </a:prstGeom>
          <a:noFill/>
        </p:spPr>
        <p:txBody>
          <a:bodyPr wrap="square" anchor="t" lIns="0" rIns="0" tIns="0" bIns="0">
            <a:spAutoFit/>
          </a:bodyPr>
          <a:lstStyle/>
          <a:p>
            <a:pPr algn="l"/>
            <a:r>
              <a:rPr sz="1400" b="0">
                <a:solidFill>
                  <a:srgbClr val="5A6478"/>
                </a:solidFill>
                <a:latin typeface="Arial"/>
              </a:rPr>
              <a:t>24% of unique leads</a:t>
            </a:r>
          </a:p>
        </p:txBody>
      </p:sp>
      <p:sp>
        <p:nvSpPr>
          <p:cNvPr id="17" name="Stat Ad Spend"/>
          <p:cNvSpPr/>
          <p:nvPr/>
        </p:nvSpPr>
        <p:spPr>
          <a:xfrm>
            <a:off x="548640"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14800"/>
            <a:ext cx="2875178" cy="274320"/>
          </a:xfrm>
          <a:prstGeom prst="rect">
            <a:avLst/>
          </a:prstGeom>
          <a:noFill/>
        </p:spPr>
        <p:txBody>
          <a:bodyPr wrap="square" anchor="t" lIns="0" rIns="0" tIns="0" bIns="0">
            <a:spAutoFit/>
          </a:bodyPr>
          <a:lstStyle/>
          <a:p>
            <a:pPr algn="l"/>
            <a:r>
              <a:rPr sz="1200" b="1">
                <a:solidFill>
                  <a:srgbClr val="C9D3E3"/>
                </a:solidFill>
                <a:latin typeface="Arial"/>
              </a:rPr>
              <a:t>AD SPEND</a:t>
            </a:r>
          </a:p>
        </p:txBody>
      </p:sp>
      <p:sp>
        <p:nvSpPr>
          <p:cNvPr id="19" name="TextBox 18"/>
          <p:cNvSpPr txBox="1"/>
          <p:nvPr/>
        </p:nvSpPr>
        <p:spPr>
          <a:xfrm>
            <a:off x="868680" y="4480560"/>
            <a:ext cx="2875178" cy="822960"/>
          </a:xfrm>
          <a:prstGeom prst="rect">
            <a:avLst/>
          </a:prstGeom>
          <a:noFill/>
        </p:spPr>
        <p:txBody>
          <a:bodyPr wrap="square" anchor="t" lIns="0" rIns="0" tIns="0" bIns="0">
            <a:spAutoFit/>
          </a:bodyPr>
          <a:lstStyle/>
          <a:p>
            <a:pPr algn="l"/>
            <a:r>
              <a:rPr sz="4800" b="1">
                <a:solidFill>
                  <a:srgbClr val="F7F6F2"/>
                </a:solidFill>
                <a:latin typeface="Arial"/>
              </a:rPr>
              <a:t>$159K</a:t>
            </a:r>
          </a:p>
        </p:txBody>
      </p:sp>
      <p:sp>
        <p:nvSpPr>
          <p:cNvPr id="20" name="TextBox 19"/>
          <p:cNvSpPr txBox="1"/>
          <p:nvPr/>
        </p:nvSpPr>
        <p:spPr>
          <a:xfrm>
            <a:off x="868680" y="5394960"/>
            <a:ext cx="2875178" cy="365760"/>
          </a:xfrm>
          <a:prstGeom prst="rect">
            <a:avLst/>
          </a:prstGeom>
          <a:noFill/>
        </p:spPr>
        <p:txBody>
          <a:bodyPr wrap="square" anchor="t" lIns="0" rIns="0" tIns="0" bIns="0">
            <a:spAutoFit/>
          </a:bodyPr>
          <a:lstStyle/>
          <a:p>
            <a:pPr algn="l"/>
            <a:r>
              <a:rPr sz="1400" b="0">
                <a:solidFill>
                  <a:srgbClr val="C9D3E3"/>
                </a:solidFill>
                <a:latin typeface="Arial"/>
              </a:rPr>
              <a:t>$159,196, all in Advertising</a:t>
            </a:r>
          </a:p>
        </p:txBody>
      </p:sp>
      <p:sp>
        <p:nvSpPr>
          <p:cNvPr id="21" name="Stat Cost Per Booked Job"/>
          <p:cNvSpPr/>
          <p:nvPr/>
        </p:nvSpPr>
        <p:spPr>
          <a:xfrm>
            <a:off x="4338218"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58258" y="4114800"/>
            <a:ext cx="2875178" cy="274320"/>
          </a:xfrm>
          <a:prstGeom prst="rect">
            <a:avLst/>
          </a:prstGeom>
          <a:noFill/>
        </p:spPr>
        <p:txBody>
          <a:bodyPr wrap="square" anchor="t" lIns="0" rIns="0" tIns="0" bIns="0">
            <a:spAutoFit/>
          </a:bodyPr>
          <a:lstStyle/>
          <a:p>
            <a:pPr algn="l"/>
            <a:r>
              <a:rPr sz="1200" b="1">
                <a:solidFill>
                  <a:srgbClr val="C9D3E3"/>
                </a:solidFill>
                <a:latin typeface="Arial"/>
              </a:rPr>
              <a:t>COST PER BOOKED JOB</a:t>
            </a:r>
          </a:p>
        </p:txBody>
      </p:sp>
      <p:sp>
        <p:nvSpPr>
          <p:cNvPr id="23" name="TextBox 22"/>
          <p:cNvSpPr txBox="1"/>
          <p:nvPr/>
        </p:nvSpPr>
        <p:spPr>
          <a:xfrm>
            <a:off x="4658258" y="4480560"/>
            <a:ext cx="2875178" cy="822960"/>
          </a:xfrm>
          <a:prstGeom prst="rect">
            <a:avLst/>
          </a:prstGeom>
          <a:noFill/>
        </p:spPr>
        <p:txBody>
          <a:bodyPr wrap="square" anchor="t" lIns="0" rIns="0" tIns="0" bIns="0">
            <a:spAutoFit/>
          </a:bodyPr>
          <a:lstStyle/>
          <a:p>
            <a:pPr algn="l"/>
            <a:r>
              <a:rPr sz="4800" b="1">
                <a:solidFill>
                  <a:srgbClr val="F7F6F2"/>
                </a:solidFill>
                <a:latin typeface="Arial"/>
              </a:rPr>
              <a:t>$171</a:t>
            </a:r>
          </a:p>
        </p:txBody>
      </p:sp>
      <p:sp>
        <p:nvSpPr>
          <p:cNvPr id="24" name="TextBox 23"/>
          <p:cNvSpPr txBox="1"/>
          <p:nvPr/>
        </p:nvSpPr>
        <p:spPr>
          <a:xfrm>
            <a:off x="4658258" y="5394960"/>
            <a:ext cx="2875178" cy="365760"/>
          </a:xfrm>
          <a:prstGeom prst="rect">
            <a:avLst/>
          </a:prstGeom>
          <a:noFill/>
        </p:spPr>
        <p:txBody>
          <a:bodyPr wrap="square" anchor="t" lIns="0" rIns="0" tIns="0" bIns="0">
            <a:spAutoFit/>
          </a:bodyPr>
          <a:lstStyle/>
          <a:p>
            <a:pPr algn="l"/>
            <a:r>
              <a:rPr sz="1400" b="0">
                <a:solidFill>
                  <a:srgbClr val="C9D3E3"/>
                </a:solidFill>
                <a:latin typeface="Arial"/>
              </a:rPr>
              <a:t>$41 per unique lead</a:t>
            </a:r>
          </a:p>
        </p:txBody>
      </p:sp>
      <p:sp>
        <p:nvSpPr>
          <p:cNvPr id="25" name="Stat Return On Ad Spend"/>
          <p:cNvSpPr/>
          <p:nvPr/>
        </p:nvSpPr>
        <p:spPr>
          <a:xfrm>
            <a:off x="8127796" y="3840480"/>
            <a:ext cx="3515258"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47836" y="4114800"/>
            <a:ext cx="2875178" cy="274320"/>
          </a:xfrm>
          <a:prstGeom prst="rect">
            <a:avLst/>
          </a:prstGeom>
          <a:noFill/>
        </p:spPr>
        <p:txBody>
          <a:bodyPr wrap="square" anchor="t" lIns="0" rIns="0" tIns="0" bIns="0">
            <a:spAutoFit/>
          </a:bodyPr>
          <a:lstStyle/>
          <a:p>
            <a:pPr algn="l"/>
            <a:r>
              <a:rPr sz="1200" b="1">
                <a:solidFill>
                  <a:srgbClr val="C9D3E3"/>
                </a:solidFill>
                <a:latin typeface="Arial"/>
              </a:rPr>
              <a:t>RETURN ON AD SPEND</a:t>
            </a:r>
          </a:p>
        </p:txBody>
      </p:sp>
      <p:sp>
        <p:nvSpPr>
          <p:cNvPr id="27" name="TextBox 26"/>
          <p:cNvSpPr txBox="1"/>
          <p:nvPr/>
        </p:nvSpPr>
        <p:spPr>
          <a:xfrm>
            <a:off x="8447836" y="4480560"/>
            <a:ext cx="2875178" cy="822960"/>
          </a:xfrm>
          <a:prstGeom prst="rect">
            <a:avLst/>
          </a:prstGeom>
          <a:noFill/>
        </p:spPr>
        <p:txBody>
          <a:bodyPr wrap="square" anchor="t" lIns="0" rIns="0" tIns="0" bIns="0">
            <a:spAutoFit/>
          </a:bodyPr>
          <a:lstStyle/>
          <a:p>
            <a:pPr algn="l"/>
            <a:r>
              <a:rPr sz="4800" b="1">
                <a:solidFill>
                  <a:srgbClr val="F2A65A"/>
                </a:solidFill>
                <a:latin typeface="Arial"/>
              </a:rPr>
              <a:t>6.7x</a:t>
            </a:r>
          </a:p>
        </p:txBody>
      </p:sp>
      <p:sp>
        <p:nvSpPr>
          <p:cNvPr id="28" name="TextBox 27"/>
          <p:cNvSpPr txBox="1"/>
          <p:nvPr/>
        </p:nvSpPr>
        <p:spPr>
          <a:xfrm>
            <a:off x="8447836" y="5394960"/>
            <a:ext cx="2875178" cy="365760"/>
          </a:xfrm>
          <a:prstGeom prst="rect">
            <a:avLst/>
          </a:prstGeom>
          <a:noFill/>
        </p:spPr>
        <p:txBody>
          <a:bodyPr wrap="square" anchor="t" lIns="0" rIns="0" tIns="0" bIns="0">
            <a:spAutoFit/>
          </a:bodyPr>
          <a:lstStyle/>
          <a:p>
            <a:pPr algn="l"/>
            <a:r>
              <a:rPr sz="1400" b="0">
                <a:solidFill>
                  <a:srgbClr val="C9D3E3"/>
                </a:solidFill>
                <a:latin typeface="Arial"/>
              </a:rPr>
              <a:t>All closed revenue ÷ ad spend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Advertising drives 41% of revenue; organic adds 35% at no media cost</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6</a:t>
            </a:r>
          </a:p>
        </p:txBody>
      </p:sp>
      <p:graphicFrame>
        <p:nvGraphicFramePr>
          <p:cNvPr id="5" name="Channel table"/>
          <p:cNvGraphicFramePr>
            <a:graphicFrameLocks noGrp="1"/>
          </p:cNvGraphicFramePr>
          <p:nvPr/>
        </p:nvGraphicFramePr>
        <p:xfrm>
          <a:off x="548640" y="1417320"/>
          <a:ext cx="11094415" cy="3803904"/>
        </p:xfrm>
        <a:graphic>
          <a:graphicData uri="http://schemas.openxmlformats.org/drawingml/2006/table">
            <a:tbl>
              <a:tblPr firstRow="1">
                <a:tableStyleId>{5C22544A-7EE6-4342-B048-85BDC9FD1C3A}</a:tableStyleId>
              </a:tblPr>
              <a:tblGrid>
                <a:gridCol w="3017520"/>
                <a:gridCol w="1371600"/>
                <a:gridCol w="1371600"/>
                <a:gridCol w="1371600"/>
                <a:gridCol w="1645920"/>
                <a:gridCol w="1097280"/>
                <a:gridCol w="1218895"/>
              </a:tblGrid>
              <a:tr h="475488">
                <a:tc>
                  <a:txBody>
                    <a:bodyPr wrap="square"/>
                    <a:lstStyle/>
                    <a:p>
                      <a:pPr algn="l"/>
                      <a:r>
                        <a:rPr sz="1600" b="1">
                          <a:solidFill>
                            <a:srgbClr val="FFFFFF"/>
                          </a:solidFill>
                          <a:latin typeface="Arial"/>
                        </a:rPr>
                        <a:t>Channel</a:t>
                      </a:r>
                    </a:p>
                  </a:txBody>
                  <a:tcPr marL="73152" marR="73152" marT="27432" marB="27432" anchor="ctr">
                    <a:solidFill>
                      <a:srgbClr val="14213D"/>
                    </a:solidFill>
                  </a:tcPr>
                </a:tc>
                <a:tc>
                  <a:txBody>
                    <a:bodyPr wrap="square"/>
                    <a:lstStyle/>
                    <a:p>
                      <a:pPr algn="r"/>
                      <a:r>
                        <a:rPr sz="1600" b="1">
                          <a:solidFill>
                            <a:srgbClr val="FFFFFF"/>
                          </a:solidFill>
                          <a:latin typeface="Arial"/>
                        </a:rPr>
                        <a:t>Spend</a:t>
                      </a:r>
                    </a:p>
                  </a:txBody>
                  <a:tcPr marL="73152" marR="73152" marT="27432" marB="27432" anchor="ctr">
                    <a:solidFill>
                      <a:srgbClr val="14213D"/>
                    </a:solidFill>
                  </a:tcPr>
                </a:tc>
                <a:tc>
                  <a:txBody>
                    <a:bodyPr wrap="square"/>
                    <a:lstStyle/>
                    <a:p>
                      <a:pPr algn="r"/>
                      <a:r>
                        <a:rPr sz="1600" b="1">
                          <a:solidFill>
                            <a:srgbClr val="FFFFFF"/>
                          </a:solidFill>
                          <a:latin typeface="Arial"/>
                        </a:rPr>
                        <a:t>Unique leads</a:t>
                      </a:r>
                    </a:p>
                  </a:txBody>
                  <a:tcPr marL="73152" marR="73152" marT="27432" marB="27432" anchor="ctr">
                    <a:solidFill>
                      <a:srgbClr val="14213D"/>
                    </a:solidFill>
                  </a:tcPr>
                </a:tc>
                <a:tc>
                  <a:txBody>
                    <a:bodyPr wrap="square"/>
                    <a:lstStyle/>
                    <a:p>
                      <a:pPr algn="r"/>
                      <a:r>
                        <a:rPr sz="1600" b="1">
                          <a:solidFill>
                            <a:srgbClr val="FFFFFF"/>
                          </a:solidFill>
                          <a:latin typeface="Arial"/>
                        </a:rPr>
                        <a:t>Booked jobs</a:t>
                      </a:r>
                    </a:p>
                  </a:txBody>
                  <a:tcPr marL="73152" marR="73152" marT="27432" marB="27432" anchor="ctr">
                    <a:solidFill>
                      <a:srgbClr val="14213D"/>
                    </a:solidFill>
                  </a:tcPr>
                </a:tc>
                <a:tc>
                  <a:txBody>
                    <a:bodyPr wrap="square"/>
                    <a:lstStyle/>
                    <a:p>
                      <a:pPr algn="r"/>
                      <a:r>
                        <a:rPr sz="1600" b="1">
                          <a:solidFill>
                            <a:srgbClr val="FFFFFF"/>
                          </a:solidFill>
                          <a:latin typeface="Arial"/>
                        </a:rPr>
                        <a:t>Closed revenue</a:t>
                      </a:r>
                    </a:p>
                  </a:txBody>
                  <a:tcPr marL="73152" marR="73152" marT="27432" marB="27432" anchor="ctr">
                    <a:solidFill>
                      <a:srgbClr val="14213D"/>
                    </a:solidFill>
                  </a:tcPr>
                </a:tc>
                <a:tc>
                  <a:txBody>
                    <a:bodyPr wrap="square"/>
                    <a:lstStyle/>
                    <a:p>
                      <a:pPr algn="r"/>
                      <a:r>
                        <a:rPr sz="1600" b="1">
                          <a:solidFill>
                            <a:srgbClr val="FFFFFF"/>
                          </a:solidFill>
                          <a:latin typeface="Arial"/>
                        </a:rPr>
                        <a:t>Share</a:t>
                      </a:r>
                    </a:p>
                  </a:txBody>
                  <a:tcPr marL="73152" marR="73152" marT="27432" marB="27432" anchor="ctr">
                    <a:solidFill>
                      <a:srgbClr val="14213D"/>
                    </a:solidFill>
                  </a:tcPr>
                </a:tc>
                <a:tc>
                  <a:txBody>
                    <a:bodyPr wrap="square"/>
                    <a:lstStyle/>
                    <a:p>
                      <a:pPr algn="r"/>
                      <a:r>
                        <a:rPr sz="1600" b="1">
                          <a:solidFill>
                            <a:srgbClr val="FFFFFF"/>
                          </a:solidFill>
                          <a:latin typeface="Arial"/>
                        </a:rPr>
                        <a:t>ROAS</a:t>
                      </a:r>
                    </a:p>
                  </a:txBody>
                  <a:tcPr marL="73152" marR="73152" marT="27432" marB="27432" anchor="ctr">
                    <a:solidFill>
                      <a:srgbClr val="14213D"/>
                    </a:solidFill>
                  </a:tcPr>
                </a:tc>
              </a:tr>
              <a:tr h="475488">
                <a:tc>
                  <a:txBody>
                    <a:bodyPr wrap="square"/>
                    <a:lstStyle/>
                    <a:p>
                      <a:pPr algn="l"/>
                      <a:r>
                        <a:rPr sz="1600" b="0">
                          <a:solidFill>
                            <a:srgbClr val="14213D"/>
                          </a:solidFill>
                          <a:latin typeface="Arial"/>
                        </a:rPr>
                        <a:t>Advertising</a:t>
                      </a:r>
                    </a:p>
                  </a:txBody>
                  <a:tcPr marL="73152" marR="73152" marT="27432" marB="27432" anchor="ctr">
                    <a:solidFill>
                      <a:srgbClr val="FFFFFF"/>
                    </a:solidFill>
                  </a:tcPr>
                </a:tc>
                <a:tc>
                  <a:txBody>
                    <a:bodyPr wrap="square"/>
                    <a:lstStyle/>
                    <a:p>
                      <a:pPr algn="r"/>
                      <a:r>
                        <a:rPr sz="1600" b="0">
                          <a:solidFill>
                            <a:srgbClr val="14213D"/>
                          </a:solidFill>
                          <a:latin typeface="Arial"/>
                        </a:rPr>
                        <a:t>$159,196</a:t>
                      </a:r>
                    </a:p>
                  </a:txBody>
                  <a:tcPr marL="73152" marR="73152" marT="27432" marB="27432" anchor="ctr">
                    <a:solidFill>
                      <a:srgbClr val="FFFFFF"/>
                    </a:solidFill>
                  </a:tcPr>
                </a:tc>
                <a:tc>
                  <a:txBody>
                    <a:bodyPr wrap="square"/>
                    <a:lstStyle/>
                    <a:p>
                      <a:pPr algn="r"/>
                      <a:r>
                        <a:rPr sz="1600" b="0">
                          <a:solidFill>
                            <a:srgbClr val="14213D"/>
                          </a:solidFill>
                          <a:latin typeface="Arial"/>
                        </a:rPr>
                        <a:t>1,898</a:t>
                      </a:r>
                    </a:p>
                  </a:txBody>
                  <a:tcPr marL="73152" marR="73152" marT="27432" marB="27432" anchor="ctr">
                    <a:solidFill>
                      <a:srgbClr val="FFFFFF"/>
                    </a:solidFill>
                  </a:tcPr>
                </a:tc>
                <a:tc>
                  <a:txBody>
                    <a:bodyPr wrap="square"/>
                    <a:lstStyle/>
                    <a:p>
                      <a:pPr algn="r"/>
                      <a:r>
                        <a:rPr sz="1600" b="0">
                          <a:solidFill>
                            <a:srgbClr val="14213D"/>
                          </a:solidFill>
                          <a:latin typeface="Arial"/>
                        </a:rPr>
                        <a:t>563</a:t>
                      </a:r>
                    </a:p>
                  </a:txBody>
                  <a:tcPr marL="73152" marR="73152" marT="27432" marB="27432" anchor="ctr">
                    <a:solidFill>
                      <a:srgbClr val="FFFFFF"/>
                    </a:solidFill>
                  </a:tcPr>
                </a:tc>
                <a:tc>
                  <a:txBody>
                    <a:bodyPr wrap="square"/>
                    <a:lstStyle/>
                    <a:p>
                      <a:pPr algn="r"/>
                      <a:r>
                        <a:rPr sz="1600" b="0">
                          <a:solidFill>
                            <a:srgbClr val="14213D"/>
                          </a:solidFill>
                          <a:latin typeface="Arial"/>
                        </a:rPr>
                        <a:t>$436,372</a:t>
                      </a:r>
                    </a:p>
                  </a:txBody>
                  <a:tcPr marL="73152" marR="73152" marT="27432" marB="27432" anchor="ctr">
                    <a:solidFill>
                      <a:srgbClr val="FFFFFF"/>
                    </a:solidFill>
                  </a:tcPr>
                </a:tc>
                <a:tc>
                  <a:txBody>
                    <a:bodyPr wrap="square"/>
                    <a:lstStyle/>
                    <a:p>
                      <a:pPr algn="r"/>
                      <a:r>
                        <a:rPr sz="1600" b="0">
                          <a:solidFill>
                            <a:srgbClr val="14213D"/>
                          </a:solidFill>
                          <a:latin typeface="Arial"/>
                        </a:rPr>
                        <a:t>41.1%</a:t>
                      </a:r>
                    </a:p>
                  </a:txBody>
                  <a:tcPr marL="73152" marR="73152" marT="27432" marB="27432" anchor="ctr">
                    <a:solidFill>
                      <a:srgbClr val="FFFFFF"/>
                    </a:solidFill>
                  </a:tcPr>
                </a:tc>
                <a:tc>
                  <a:txBody>
                    <a:bodyPr wrap="square"/>
                    <a:lstStyle/>
                    <a:p>
                      <a:pPr algn="r"/>
                      <a:r>
                        <a:rPr sz="1600" b="0">
                          <a:solidFill>
                            <a:srgbClr val="14213D"/>
                          </a:solidFill>
                          <a:latin typeface="Arial"/>
                        </a:rPr>
                        <a:t>2.74x</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1,288</a:t>
                      </a:r>
                    </a:p>
                  </a:txBody>
                  <a:tcPr marL="73152" marR="73152" marT="27432" marB="27432" anchor="ctr">
                    <a:solidFill>
                      <a:srgbClr val="F7F6F2"/>
                    </a:solidFill>
                  </a:tcPr>
                </a:tc>
                <a:tc>
                  <a:txBody>
                    <a:bodyPr wrap="square"/>
                    <a:lstStyle/>
                    <a:p>
                      <a:pPr algn="r"/>
                      <a:r>
                        <a:rPr sz="1600" b="0">
                          <a:solidFill>
                            <a:srgbClr val="14213D"/>
                          </a:solidFill>
                          <a:latin typeface="Arial"/>
                        </a:rPr>
                        <a:t>247</a:t>
                      </a:r>
                    </a:p>
                  </a:txBody>
                  <a:tcPr marL="73152" marR="73152" marT="27432" marB="27432" anchor="ctr">
                    <a:solidFill>
                      <a:srgbClr val="F7F6F2"/>
                    </a:solidFill>
                  </a:tcPr>
                </a:tc>
                <a:tc>
                  <a:txBody>
                    <a:bodyPr wrap="square"/>
                    <a:lstStyle/>
                    <a:p>
                      <a:pPr algn="r"/>
                      <a:r>
                        <a:rPr sz="1600" b="0">
                          <a:solidFill>
                            <a:srgbClr val="14213D"/>
                          </a:solidFill>
                          <a:latin typeface="Arial"/>
                        </a:rPr>
                        <a:t>$368,030</a:t>
                      </a:r>
                    </a:p>
                  </a:txBody>
                  <a:tcPr marL="73152" marR="73152" marT="27432" marB="27432" anchor="ctr">
                    <a:solidFill>
                      <a:srgbClr val="F7F6F2"/>
                    </a:solidFill>
                  </a:tcPr>
                </a:tc>
                <a:tc>
                  <a:txBody>
                    <a:bodyPr wrap="square"/>
                    <a:lstStyle/>
                    <a:p>
                      <a:pPr algn="r"/>
                      <a:r>
                        <a:rPr sz="1600" b="0">
                          <a:solidFill>
                            <a:srgbClr val="14213D"/>
                          </a:solidFill>
                          <a:latin typeface="Arial"/>
                        </a:rPr>
                        <a:t>34.7%</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Other</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c>
                  <a:txBody>
                    <a:bodyPr wrap="square"/>
                    <a:lstStyle/>
                    <a:p>
                      <a:pPr algn="r"/>
                      <a:r>
                        <a:rPr sz="1600" b="0">
                          <a:solidFill>
                            <a:srgbClr val="14213D"/>
                          </a:solidFill>
                          <a:latin typeface="Arial"/>
                        </a:rPr>
                        <a:t>588</a:t>
                      </a:r>
                    </a:p>
                  </a:txBody>
                  <a:tcPr marL="73152" marR="73152" marT="27432" marB="27432" anchor="ctr">
                    <a:solidFill>
                      <a:srgbClr val="FFFFFF"/>
                    </a:solidFill>
                  </a:tcPr>
                </a:tc>
                <a:tc>
                  <a:txBody>
                    <a:bodyPr wrap="square"/>
                    <a:lstStyle/>
                    <a:p>
                      <a:pPr algn="r"/>
                      <a:r>
                        <a:rPr sz="1600" b="0">
                          <a:solidFill>
                            <a:srgbClr val="14213D"/>
                          </a:solidFill>
                          <a:latin typeface="Arial"/>
                        </a:rPr>
                        <a:t>99</a:t>
                      </a:r>
                    </a:p>
                  </a:txBody>
                  <a:tcPr marL="73152" marR="73152" marT="27432" marB="27432" anchor="ctr">
                    <a:solidFill>
                      <a:srgbClr val="FFFFFF"/>
                    </a:solidFill>
                  </a:tcPr>
                </a:tc>
                <a:tc>
                  <a:txBody>
                    <a:bodyPr wrap="square"/>
                    <a:lstStyle/>
                    <a:p>
                      <a:pPr algn="r"/>
                      <a:r>
                        <a:rPr sz="1600" b="0">
                          <a:solidFill>
                            <a:srgbClr val="14213D"/>
                          </a:solidFill>
                          <a:latin typeface="Arial"/>
                        </a:rPr>
                        <a:t>$133,523</a:t>
                      </a:r>
                    </a:p>
                  </a:txBody>
                  <a:tcPr marL="73152" marR="73152" marT="27432" marB="27432" anchor="ctr">
                    <a:solidFill>
                      <a:srgbClr val="FFFFFF"/>
                    </a:solidFill>
                  </a:tcPr>
                </a:tc>
                <a:tc>
                  <a:txBody>
                    <a:bodyPr wrap="square"/>
                    <a:lstStyle/>
                    <a:p>
                      <a:pPr algn="r"/>
                      <a:r>
                        <a:rPr sz="1600" b="0">
                          <a:solidFill>
                            <a:srgbClr val="14213D"/>
                          </a:solidFill>
                          <a:latin typeface="Arial"/>
                        </a:rPr>
                        <a:t>12.6%</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Direct</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112</a:t>
                      </a:r>
                    </a:p>
                  </a:txBody>
                  <a:tcPr marL="73152" marR="73152" marT="27432" marB="27432" anchor="ctr">
                    <a:solidFill>
                      <a:srgbClr val="F7F6F2"/>
                    </a:solidFill>
                  </a:tcPr>
                </a:tc>
                <a:tc>
                  <a:txBody>
                    <a:bodyPr wrap="square"/>
                    <a:lstStyle/>
                    <a:p>
                      <a:pPr algn="r"/>
                      <a:r>
                        <a:rPr sz="1600" b="0">
                          <a:solidFill>
                            <a:srgbClr val="14213D"/>
                          </a:solidFill>
                          <a:latin typeface="Arial"/>
                        </a:rPr>
                        <a:t>15</a:t>
                      </a:r>
                    </a:p>
                  </a:txBody>
                  <a:tcPr marL="73152" marR="73152" marT="27432" marB="27432" anchor="ctr">
                    <a:solidFill>
                      <a:srgbClr val="F7F6F2"/>
                    </a:solidFill>
                  </a:tcPr>
                </a:tc>
                <a:tc>
                  <a:txBody>
                    <a:bodyPr wrap="square"/>
                    <a:lstStyle/>
                    <a:p>
                      <a:pPr algn="r"/>
                      <a:r>
                        <a:rPr sz="1600" b="0">
                          <a:solidFill>
                            <a:srgbClr val="14213D"/>
                          </a:solidFill>
                          <a:latin typeface="Arial"/>
                        </a:rPr>
                        <a:t>$122,270</a:t>
                      </a:r>
                    </a:p>
                  </a:txBody>
                  <a:tcPr marL="73152" marR="73152" marT="27432" marB="27432" anchor="ctr">
                    <a:solidFill>
                      <a:srgbClr val="F7F6F2"/>
                    </a:solidFill>
                  </a:tcPr>
                </a:tc>
                <a:tc>
                  <a:txBody>
                    <a:bodyPr wrap="square"/>
                    <a:lstStyle/>
                    <a:p>
                      <a:pPr algn="r"/>
                      <a:r>
                        <a:rPr sz="1600" b="0">
                          <a:solidFill>
                            <a:srgbClr val="14213D"/>
                          </a:solidFill>
                          <a:latin typeface="Arial"/>
                        </a:rPr>
                        <a:t>11.5%</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Direct Marketing</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c>
                  <a:txBody>
                    <a:bodyPr wrap="square"/>
                    <a:lstStyle/>
                    <a:p>
                      <a:pPr algn="r"/>
                      <a:r>
                        <a:rPr sz="1600" b="0">
                          <a:solidFill>
                            <a:srgbClr val="14213D"/>
                          </a:solidFill>
                          <a:latin typeface="Arial"/>
                        </a:rPr>
                        <a:t>11</a:t>
                      </a:r>
                    </a:p>
                  </a:txBody>
                  <a:tcPr marL="73152" marR="73152" marT="27432" marB="27432" anchor="ctr">
                    <a:solidFill>
                      <a:srgbClr val="FFFFFF"/>
                    </a:solidFill>
                  </a:tcPr>
                </a:tc>
                <a:tc>
                  <a:txBody>
                    <a:bodyPr wrap="square"/>
                    <a:lstStyle/>
                    <a:p>
                      <a:pPr algn="r"/>
                      <a:r>
                        <a:rPr sz="1600" b="0">
                          <a:solidFill>
                            <a:srgbClr val="14213D"/>
                          </a:solidFill>
                          <a:latin typeface="Arial"/>
                        </a:rPr>
                        <a:t>6</a:t>
                      </a:r>
                    </a:p>
                  </a:txBody>
                  <a:tcPr marL="73152" marR="73152" marT="27432" marB="27432" anchor="ctr">
                    <a:solidFill>
                      <a:srgbClr val="FFFFFF"/>
                    </a:solidFill>
                  </a:tcPr>
                </a:tc>
                <a:tc>
                  <a:txBody>
                    <a:bodyPr wrap="square"/>
                    <a:lstStyle/>
                    <a:p>
                      <a:pPr algn="r"/>
                      <a:r>
                        <a:rPr sz="1600" b="0">
                          <a:solidFill>
                            <a:srgbClr val="14213D"/>
                          </a:solidFill>
                          <a:latin typeface="Arial"/>
                        </a:rPr>
                        <a:t>$1,177</a:t>
                      </a:r>
                    </a:p>
                  </a:txBody>
                  <a:tcPr marL="73152" marR="73152" marT="27432" marB="27432" anchor="ctr">
                    <a:solidFill>
                      <a:srgbClr val="FFFFFF"/>
                    </a:solidFill>
                  </a:tcPr>
                </a:tc>
                <a:tc>
                  <a:txBody>
                    <a:bodyPr wrap="square"/>
                    <a:lstStyle/>
                    <a:p>
                      <a:pPr algn="r"/>
                      <a:r>
                        <a:rPr sz="1600" b="0">
                          <a:solidFill>
                            <a:srgbClr val="14213D"/>
                          </a:solidFill>
                          <a:latin typeface="Arial"/>
                        </a:rPr>
                        <a:t>0.1%</a:t>
                      </a:r>
                    </a:p>
                  </a:txBody>
                  <a:tcPr marL="73152" marR="73152" marT="27432" marB="27432" anchor="ctr">
                    <a:solidFill>
                      <a:srgbClr val="FFFFFF"/>
                    </a:solidFill>
                  </a:tcPr>
                </a:tc>
                <a:tc>
                  <a:txBody>
                    <a:bodyPr wrap="square"/>
                    <a:lstStyle/>
                    <a:p>
                      <a:pPr algn="r"/>
                      <a:r>
                        <a:rPr sz="1600" b="0">
                          <a:solidFill>
                            <a:srgbClr val="14213D"/>
                          </a:solidFill>
                          <a:latin typeface="Arial"/>
                        </a:rPr>
                        <a:t>—</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Artificial Intelligence</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c>
                  <a:txBody>
                    <a:bodyPr wrap="square"/>
                    <a:lstStyle/>
                    <a:p>
                      <a:pPr algn="r"/>
                      <a:r>
                        <a:rPr sz="1600" b="0">
                          <a:solidFill>
                            <a:srgbClr val="14213D"/>
                          </a:solidFill>
                          <a:latin typeface="Arial"/>
                        </a:rPr>
                        <a:t>8</a:t>
                      </a:r>
                    </a:p>
                  </a:txBody>
                  <a:tcPr marL="73152" marR="73152" marT="27432" marB="27432" anchor="ctr">
                    <a:solidFill>
                      <a:srgbClr val="F7F6F2"/>
                    </a:solidFill>
                  </a:tcPr>
                </a:tc>
                <a:tc>
                  <a:txBody>
                    <a:bodyPr wrap="square"/>
                    <a:lstStyle/>
                    <a:p>
                      <a:pPr algn="r"/>
                      <a:r>
                        <a:rPr sz="1600" b="0">
                          <a:solidFill>
                            <a:srgbClr val="14213D"/>
                          </a:solidFill>
                          <a:latin typeface="Arial"/>
                        </a:rPr>
                        <a:t>3</a:t>
                      </a:r>
                    </a:p>
                  </a:txBody>
                  <a:tcPr marL="73152" marR="73152" marT="27432" marB="27432" anchor="ctr">
                    <a:solidFill>
                      <a:srgbClr val="F7F6F2"/>
                    </a:solidFill>
                  </a:tcPr>
                </a:tc>
                <a:tc>
                  <a:txBody>
                    <a:bodyPr wrap="square"/>
                    <a:lstStyle/>
                    <a:p>
                      <a:pPr algn="r"/>
                      <a:r>
                        <a:rPr sz="1600" b="0">
                          <a:solidFill>
                            <a:srgbClr val="14213D"/>
                          </a:solidFill>
                          <a:latin typeface="Arial"/>
                        </a:rPr>
                        <a:t>$0</a:t>
                      </a:r>
                    </a:p>
                  </a:txBody>
                  <a:tcPr marL="73152" marR="73152" marT="27432" marB="27432" anchor="ctr">
                    <a:solidFill>
                      <a:srgbClr val="F7F6F2"/>
                    </a:solidFill>
                  </a:tcPr>
                </a:tc>
                <a:tc>
                  <a:txBody>
                    <a:bodyPr wrap="square"/>
                    <a:lstStyle/>
                    <a:p>
                      <a:pPr algn="r"/>
                      <a:r>
                        <a:rPr sz="1600" b="0">
                          <a:solidFill>
                            <a:srgbClr val="14213D"/>
                          </a:solidFill>
                          <a:latin typeface="Arial"/>
                        </a:rPr>
                        <a:t>0.0%</a:t>
                      </a:r>
                    </a:p>
                  </a:txBody>
                  <a:tcPr marL="73152" marR="73152" marT="27432" marB="27432" anchor="ctr">
                    <a:solidFill>
                      <a:srgbClr val="F7F6F2"/>
                    </a:solidFill>
                  </a:tcPr>
                </a:tc>
                <a:tc>
                  <a:txBody>
                    <a:bodyPr wrap="square"/>
                    <a:lstStyle/>
                    <a:p>
                      <a:pPr algn="r"/>
                      <a:r>
                        <a:rPr sz="1600" b="0">
                          <a:solidFill>
                            <a:srgbClr val="14213D"/>
                          </a:solidFill>
                          <a:latin typeface="Arial"/>
                        </a:rPr>
                        <a:t>—</a:t>
                      </a:r>
                    </a:p>
                  </a:txBody>
                  <a:tcPr marL="73152" marR="73152" marT="27432" marB="27432" anchor="ctr">
                    <a:solidFill>
                      <a:srgbClr val="F7F6F2"/>
                    </a:solidFill>
                  </a:tcPr>
                </a:tc>
              </a:tr>
              <a:tr h="475488">
                <a:tc>
                  <a:txBody>
                    <a:bodyPr wrap="square"/>
                    <a:lstStyle/>
                    <a:p>
                      <a:pPr algn="l"/>
                      <a:r>
                        <a:rPr sz="1600" b="1">
                          <a:solidFill>
                            <a:srgbClr val="14213D"/>
                          </a:solidFill>
                          <a:latin typeface="Arial"/>
                        </a:rPr>
                        <a:t>Total</a:t>
                      </a:r>
                    </a:p>
                  </a:txBody>
                  <a:tcPr marL="73152" marR="73152" marT="27432" marB="27432" anchor="ctr">
                    <a:solidFill>
                      <a:srgbClr val="E8ECF3"/>
                    </a:solidFill>
                  </a:tcPr>
                </a:tc>
                <a:tc>
                  <a:txBody>
                    <a:bodyPr wrap="square"/>
                    <a:lstStyle/>
                    <a:p>
                      <a:pPr algn="r"/>
                      <a:r>
                        <a:rPr sz="1600" b="1">
                          <a:solidFill>
                            <a:srgbClr val="14213D"/>
                          </a:solidFill>
                          <a:latin typeface="Arial"/>
                        </a:rPr>
                        <a:t>$159,196</a:t>
                      </a:r>
                    </a:p>
                  </a:txBody>
                  <a:tcPr marL="73152" marR="73152" marT="27432" marB="27432" anchor="ctr">
                    <a:solidFill>
                      <a:srgbClr val="E8ECF3"/>
                    </a:solidFill>
                  </a:tcPr>
                </a:tc>
                <a:tc>
                  <a:txBody>
                    <a:bodyPr wrap="square"/>
                    <a:lstStyle/>
                    <a:p>
                      <a:pPr algn="r"/>
                      <a:r>
                        <a:rPr sz="1600" b="1">
                          <a:solidFill>
                            <a:srgbClr val="14213D"/>
                          </a:solidFill>
                          <a:latin typeface="Arial"/>
                        </a:rPr>
                        <a:t>3,905</a:t>
                      </a:r>
                    </a:p>
                  </a:txBody>
                  <a:tcPr marL="73152" marR="73152" marT="27432" marB="27432" anchor="ctr">
                    <a:solidFill>
                      <a:srgbClr val="E8ECF3"/>
                    </a:solidFill>
                  </a:tcPr>
                </a:tc>
                <a:tc>
                  <a:txBody>
                    <a:bodyPr wrap="square"/>
                    <a:lstStyle/>
                    <a:p>
                      <a:pPr algn="r"/>
                      <a:r>
                        <a:rPr sz="1600" b="1">
                          <a:solidFill>
                            <a:srgbClr val="14213D"/>
                          </a:solidFill>
                          <a:latin typeface="Arial"/>
                        </a:rPr>
                        <a:t>933</a:t>
                      </a:r>
                    </a:p>
                  </a:txBody>
                  <a:tcPr marL="73152" marR="73152" marT="27432" marB="27432" anchor="ctr">
                    <a:solidFill>
                      <a:srgbClr val="E8ECF3"/>
                    </a:solidFill>
                  </a:tcPr>
                </a:tc>
                <a:tc>
                  <a:txBody>
                    <a:bodyPr wrap="square"/>
                    <a:lstStyle/>
                    <a:p>
                      <a:pPr algn="r"/>
                      <a:r>
                        <a:rPr sz="1600" b="1">
                          <a:solidFill>
                            <a:srgbClr val="14213D"/>
                          </a:solidFill>
                          <a:latin typeface="Arial"/>
                        </a:rPr>
                        <a:t>$1,061,372</a:t>
                      </a:r>
                    </a:p>
                  </a:txBody>
                  <a:tcPr marL="73152" marR="73152" marT="27432" marB="27432" anchor="ctr">
                    <a:solidFill>
                      <a:srgbClr val="E8ECF3"/>
                    </a:solidFill>
                  </a:tcPr>
                </a:tc>
                <a:tc>
                  <a:txBody>
                    <a:bodyPr wrap="square"/>
                    <a:lstStyle/>
                    <a:p>
                      <a:pPr algn="r"/>
                      <a:r>
                        <a:rPr sz="1600" b="1">
                          <a:solidFill>
                            <a:srgbClr val="14213D"/>
                          </a:solidFill>
                          <a:latin typeface="Arial"/>
                        </a:rPr>
                        <a:t>100%</a:t>
                      </a:r>
                    </a:p>
                  </a:txBody>
                  <a:tcPr marL="73152" marR="73152" marT="27432" marB="27432" anchor="ctr">
                    <a:solidFill>
                      <a:srgbClr val="E8ECF3"/>
                    </a:solidFill>
                  </a:tcPr>
                </a:tc>
                <a:tc>
                  <a:txBody>
                    <a:bodyPr wrap="square"/>
                    <a:lstStyle/>
                    <a:p>
                      <a:pPr algn="r"/>
                      <a:r>
                        <a:rPr sz="1600" b="1">
                          <a:solidFill>
                            <a:srgbClr val="14213D"/>
                          </a:solidFill>
                          <a:latin typeface="Arial"/>
                        </a:rPr>
                        <a:t>6.67x</a:t>
                      </a:r>
                    </a:p>
                  </a:txBody>
                  <a:tcPr marL="73152" marR="73152" marT="27432" marB="27432" anchor="ctr">
                    <a:solidFill>
                      <a:srgbClr val="E8ECF3"/>
                    </a:solidFill>
                  </a:tcPr>
                </a:tc>
              </a:tr>
            </a:tbl>
          </a:graphicData>
        </a:graphic>
      </p:graphicFrame>
      <p:sp>
        <p:nvSpPr>
          <p:cNvPr id="6" name="Channel note"/>
          <p:cNvSpPr txBox="1"/>
          <p:nvPr/>
        </p:nvSpPr>
        <p:spPr>
          <a:xfrm>
            <a:off x="548640" y="5440680"/>
            <a:ext cx="11094415" cy="548640"/>
          </a:xfrm>
          <a:prstGeom prst="rect">
            <a:avLst/>
          </a:prstGeom>
          <a:noFill/>
        </p:spPr>
        <p:txBody>
          <a:bodyPr wrap="square" anchor="t" lIns="0" rIns="0" tIns="0" bIns="0">
            <a:spAutoFit/>
          </a:bodyPr>
          <a:lstStyle/>
          <a:p>
            <a:pPr algn="l"/>
            <a:r>
              <a:rPr sz="1400" b="0">
                <a:solidFill>
                  <a:srgbClr val="4A5568"/>
                </a:solidFill>
                <a:latin typeface="Arial"/>
              </a:rPr>
              <a:t>"Other" is mostly website forms, email promos and uncategorized leads. "Direct" is direct web traffic. All ad spend sits in Advertising.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Paid winners: brand search and Local Services Ads</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7</a:t>
            </a:r>
          </a:p>
        </p:txBody>
      </p:sp>
      <p:sp>
        <p:nvSpPr>
          <p:cNvPr id="5" name="Winner Brand Search"/>
          <p:cNvSpPr/>
          <p:nvPr/>
        </p:nvSpPr>
        <p:spPr>
          <a:xfrm>
            <a:off x="548640"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37360"/>
            <a:ext cx="2875178" cy="274320"/>
          </a:xfrm>
          <a:prstGeom prst="rect">
            <a:avLst/>
          </a:prstGeom>
          <a:noFill/>
        </p:spPr>
        <p:txBody>
          <a:bodyPr wrap="square" anchor="t" lIns="0" rIns="0" tIns="0" bIns="0">
            <a:spAutoFit/>
          </a:bodyPr>
          <a:lstStyle/>
          <a:p>
            <a:pPr algn="l"/>
            <a:r>
              <a:rPr sz="1200" b="1">
                <a:solidFill>
                  <a:srgbClr val="1F6676"/>
                </a:solidFill>
                <a:latin typeface="Arial"/>
              </a:rPr>
              <a:t>BRAND SEARCH</a:t>
            </a:r>
          </a:p>
        </p:txBody>
      </p:sp>
      <p:sp>
        <p:nvSpPr>
          <p:cNvPr id="7" name="TextBox 6"/>
          <p:cNvSpPr txBox="1"/>
          <p:nvPr/>
        </p:nvSpPr>
        <p:spPr>
          <a:xfrm>
            <a:off x="868680" y="2103120"/>
            <a:ext cx="2875178" cy="914400"/>
          </a:xfrm>
          <a:prstGeom prst="rect">
            <a:avLst/>
          </a:prstGeom>
          <a:noFill/>
        </p:spPr>
        <p:txBody>
          <a:bodyPr wrap="square" anchor="t" lIns="0" rIns="0" tIns="0" bIns="0">
            <a:spAutoFit/>
          </a:bodyPr>
          <a:lstStyle/>
          <a:p>
            <a:pPr algn="l"/>
            <a:r>
              <a:rPr sz="5400" b="1">
                <a:solidFill>
                  <a:srgbClr val="14213D"/>
                </a:solidFill>
                <a:latin typeface="Arial"/>
              </a:rPr>
              <a:t>13.8x</a:t>
            </a:r>
          </a:p>
        </p:txBody>
      </p:sp>
      <p:sp>
        <p:nvSpPr>
          <p:cNvPr id="8" name="TextBox 7"/>
          <p:cNvSpPr txBox="1"/>
          <p:nvPr/>
        </p:nvSpPr>
        <p:spPr>
          <a:xfrm>
            <a:off x="868680" y="3154680"/>
            <a:ext cx="2875178" cy="731520"/>
          </a:xfrm>
          <a:prstGeom prst="rect">
            <a:avLst/>
          </a:prstGeom>
          <a:noFill/>
        </p:spPr>
        <p:txBody>
          <a:bodyPr wrap="square" anchor="t" lIns="0" rIns="0" tIns="0" bIns="0">
            <a:spAutoFit/>
          </a:bodyPr>
          <a:lstStyle/>
          <a:p>
            <a:pPr algn="l"/>
            <a:r>
              <a:rPr sz="1600" b="1">
                <a:solidFill>
                  <a:srgbClr val="14213D"/>
                </a:solidFill>
                <a:latin typeface="Arial"/>
              </a:rPr>
              <a:t>PPC_Brand_Core (Zip-Code + Myrtle Beach)</a:t>
            </a:r>
          </a:p>
        </p:txBody>
      </p:sp>
      <p:sp>
        <p:nvSpPr>
          <p:cNvPr id="9" name="TextBox 8"/>
          <p:cNvSpPr txBox="1"/>
          <p:nvPr/>
        </p:nvSpPr>
        <p:spPr>
          <a:xfrm>
            <a:off x="868680"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$7,036 spend → $96,752 closed</a:t>
            </a:r>
          </a:p>
          <a:p>
            <a:pPr algn="l">
              <a:spcAft>
                <a:spcPts val="400"/>
              </a:spcAft>
            </a:pPr>
            <a:r>
              <a:rPr sz="1400" b="0">
                <a:solidFill>
                  <a:srgbClr val="4A5568"/>
                </a:solidFill>
                <a:latin typeface="Arial"/>
              </a:rPr>
              <a:t>223 leads · 112 booked jobs</a:t>
            </a:r>
          </a:p>
        </p:txBody>
      </p:sp>
      <p:sp>
        <p:nvSpPr>
          <p:cNvPr id="10" name="Winner Local Services Ads"/>
          <p:cNvSpPr/>
          <p:nvPr/>
        </p:nvSpPr>
        <p:spPr>
          <a:xfrm>
            <a:off x="4338218"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58258" y="1737360"/>
            <a:ext cx="2875178" cy="274320"/>
          </a:xfrm>
          <a:prstGeom prst="rect">
            <a:avLst/>
          </a:prstGeom>
          <a:noFill/>
        </p:spPr>
        <p:txBody>
          <a:bodyPr wrap="square" anchor="t" lIns="0" rIns="0" tIns="0" bIns="0">
            <a:spAutoFit/>
          </a:bodyPr>
          <a:lstStyle/>
          <a:p>
            <a:pPr algn="l"/>
            <a:r>
              <a:rPr sz="1200" b="1">
                <a:solidFill>
                  <a:srgbClr val="1F6676"/>
                </a:solidFill>
                <a:latin typeface="Arial"/>
              </a:rPr>
              <a:t>LOCAL SERVICES ADS</a:t>
            </a:r>
          </a:p>
        </p:txBody>
      </p:sp>
      <p:sp>
        <p:nvSpPr>
          <p:cNvPr id="12" name="TextBox 11"/>
          <p:cNvSpPr txBox="1"/>
          <p:nvPr/>
        </p:nvSpPr>
        <p:spPr>
          <a:xfrm>
            <a:off x="4658258" y="2103120"/>
            <a:ext cx="2875178" cy="914400"/>
          </a:xfrm>
          <a:prstGeom prst="rect">
            <a:avLst/>
          </a:prstGeom>
          <a:noFill/>
        </p:spPr>
        <p:txBody>
          <a:bodyPr wrap="square" anchor="t" lIns="0" rIns="0" tIns="0" bIns="0">
            <a:spAutoFit/>
          </a:bodyPr>
          <a:lstStyle/>
          <a:p>
            <a:pPr algn="l"/>
            <a:r>
              <a:rPr sz="5400" b="1">
                <a:solidFill>
                  <a:srgbClr val="14213D"/>
                </a:solidFill>
                <a:latin typeface="Arial"/>
              </a:rPr>
              <a:t>4.5x</a:t>
            </a:r>
          </a:p>
        </p:txBody>
      </p:sp>
      <p:sp>
        <p:nvSpPr>
          <p:cNvPr id="13" name="TextBox 12"/>
          <p:cNvSpPr txBox="1"/>
          <p:nvPr/>
        </p:nvSpPr>
        <p:spPr>
          <a:xfrm>
            <a:off x="4658258" y="3154680"/>
            <a:ext cx="2875178" cy="731520"/>
          </a:xfrm>
          <a:prstGeom prst="rect">
            <a:avLst/>
          </a:prstGeom>
          <a:noFill/>
        </p:spPr>
        <p:txBody>
          <a:bodyPr wrap="square" anchor="t" lIns="0" rIns="0" tIns="0" bIns="0">
            <a:spAutoFit/>
          </a:bodyPr>
          <a:lstStyle/>
          <a:p>
            <a:pPr algn="l"/>
            <a:r>
              <a:rPr sz="1600" b="1">
                <a:solidFill>
                  <a:srgbClr val="14213D"/>
                </a:solidFill>
                <a:latin typeface="Arial"/>
              </a:rPr>
              <a:t>Coastal Air Plus LSA (HVAC + Plumbing)</a:t>
            </a:r>
          </a:p>
        </p:txBody>
      </p:sp>
      <p:sp>
        <p:nvSpPr>
          <p:cNvPr id="14" name="TextBox 13"/>
          <p:cNvSpPr txBox="1"/>
          <p:nvPr/>
        </p:nvSpPr>
        <p:spPr>
          <a:xfrm>
            <a:off x="4658258"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$33,957 spend → $154,368 closed</a:t>
            </a:r>
          </a:p>
          <a:p>
            <a:pPr algn="l">
              <a:spcAft>
                <a:spcPts val="400"/>
              </a:spcAft>
            </a:pPr>
            <a:r>
              <a:rPr sz="1400" b="0">
                <a:solidFill>
                  <a:srgbClr val="4A5568"/>
                </a:solidFill>
                <a:latin typeface="Arial"/>
              </a:rPr>
              <a:t>503 leads · 193 booked jobs</a:t>
            </a:r>
          </a:p>
          <a:p>
            <a:pPr algn="l">
              <a:spcAft>
                <a:spcPts val="400"/>
              </a:spcAft>
            </a:pPr>
            <a:r>
              <a:rPr sz="1400" b="0">
                <a:solidFill>
                  <a:srgbClr val="4A5568"/>
                </a:solidFill>
                <a:latin typeface="Arial"/>
              </a:rPr>
              <a:t>Plumbing LSA alone: 11.3x</a:t>
            </a:r>
          </a:p>
        </p:txBody>
      </p:sp>
      <p:sp>
        <p:nvSpPr>
          <p:cNvPr id="15" name="Winner Also Strong"/>
          <p:cNvSpPr/>
          <p:nvPr/>
        </p:nvSpPr>
        <p:spPr>
          <a:xfrm>
            <a:off x="8127796" y="1417320"/>
            <a:ext cx="3515258" cy="457200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47836" y="1737360"/>
            <a:ext cx="2875178" cy="274320"/>
          </a:xfrm>
          <a:prstGeom prst="rect">
            <a:avLst/>
          </a:prstGeom>
          <a:noFill/>
        </p:spPr>
        <p:txBody>
          <a:bodyPr wrap="square" anchor="t" lIns="0" rIns="0" tIns="0" bIns="0">
            <a:spAutoFit/>
          </a:bodyPr>
          <a:lstStyle/>
          <a:p>
            <a:pPr algn="l"/>
            <a:r>
              <a:rPr sz="1200" b="1">
                <a:solidFill>
                  <a:srgbClr val="1F6676"/>
                </a:solidFill>
                <a:latin typeface="Arial"/>
              </a:rPr>
              <a:t>ALSO STRONG</a:t>
            </a:r>
          </a:p>
        </p:txBody>
      </p:sp>
      <p:sp>
        <p:nvSpPr>
          <p:cNvPr id="17" name="TextBox 16"/>
          <p:cNvSpPr txBox="1"/>
          <p:nvPr/>
        </p:nvSpPr>
        <p:spPr>
          <a:xfrm>
            <a:off x="8447836" y="2103120"/>
            <a:ext cx="2875178" cy="914400"/>
          </a:xfrm>
          <a:prstGeom prst="rect">
            <a:avLst/>
          </a:prstGeom>
          <a:noFill/>
        </p:spPr>
        <p:txBody>
          <a:bodyPr wrap="square" anchor="t" lIns="0" rIns="0" tIns="0" bIns="0">
            <a:spAutoFit/>
          </a:bodyPr>
          <a:lstStyle/>
          <a:p>
            <a:pPr algn="l"/>
            <a:r>
              <a:rPr sz="5400" b="1">
                <a:solidFill>
                  <a:srgbClr val="14213D"/>
                </a:solidFill>
                <a:latin typeface="Arial"/>
              </a:rPr>
              <a:t>4–9x</a:t>
            </a:r>
          </a:p>
        </p:txBody>
      </p:sp>
      <p:sp>
        <p:nvSpPr>
          <p:cNvPr id="18" name="TextBox 17"/>
          <p:cNvSpPr txBox="1"/>
          <p:nvPr/>
        </p:nvSpPr>
        <p:spPr>
          <a:xfrm>
            <a:off x="8447836" y="3154680"/>
            <a:ext cx="2875178" cy="731520"/>
          </a:xfrm>
          <a:prstGeom prst="rect">
            <a:avLst/>
          </a:prstGeom>
          <a:noFill/>
        </p:spPr>
        <p:txBody>
          <a:bodyPr wrap="square" anchor="t" lIns="0" rIns="0" tIns="0" bIns="0">
            <a:spAutoFit/>
          </a:bodyPr>
          <a:lstStyle/>
          <a:p>
            <a:pPr algn="l"/>
            <a:r>
              <a:rPr sz="1600" b="1">
                <a:solidFill>
                  <a:srgbClr val="14213D"/>
                </a:solidFill>
                <a:latin typeface="Arial"/>
              </a:rPr>
              <a:t>Carolina-Cool Zip-Code and Performance Max</a:t>
            </a:r>
          </a:p>
        </p:txBody>
      </p:sp>
      <p:sp>
        <p:nvSpPr>
          <p:cNvPr id="19" name="TextBox 18"/>
          <p:cNvSpPr txBox="1"/>
          <p:nvPr/>
        </p:nvSpPr>
        <p:spPr>
          <a:xfrm>
            <a:off x="8447836" y="4023360"/>
            <a:ext cx="2875178" cy="1645920"/>
          </a:xfrm>
          <a:prstGeom prst="rect">
            <a:avLst/>
          </a:prstGeom>
          <a:noFill/>
        </p:spPr>
        <p:txBody>
          <a:bodyPr wrap="square" anchor="t" lIns="0" rIns="0" tIns="0" bIns="0">
            <a:spAutoFit/>
          </a:bodyPr>
          <a:lstStyle/>
          <a:p>
            <a:pPr algn="l">
              <a:spcAft>
                <a:spcPts val="400"/>
              </a:spcAft>
            </a:pPr>
            <a:r>
              <a:rPr sz="1400" b="0">
                <a:solidFill>
                  <a:srgbClr val="4A5568"/>
                </a:solidFill>
                <a:latin typeface="Arial"/>
              </a:rPr>
              <a:t>Carolina-Cool Zip-Code: 9.0x</a:t>
            </a:r>
          </a:p>
          <a:p>
            <a:pPr algn="l">
              <a:spcAft>
                <a:spcPts val="400"/>
              </a:spcAft>
            </a:pPr>
            <a:r>
              <a:rPr sz="1400" b="0">
                <a:solidFill>
                  <a:srgbClr val="4A5568"/>
                </a:solidFill>
                <a:latin typeface="Arial"/>
              </a:rPr>
              <a:t>PMax HVAC: 7.3x</a:t>
            </a:r>
          </a:p>
          <a:p>
            <a:pPr algn="l">
              <a:spcAft>
                <a:spcPts val="400"/>
              </a:spcAft>
            </a:pPr>
            <a:r>
              <a:rPr sz="1400" b="0">
                <a:solidFill>
                  <a:srgbClr val="4A5568"/>
                </a:solidFill>
                <a:latin typeface="Arial"/>
              </a:rPr>
              <a:t>PMax Remarketing: 4.2x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Paid laggards: $63K spent for under $41K closed</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8</a:t>
            </a:r>
          </a:p>
        </p:txBody>
      </p:sp>
      <p:graphicFrame>
        <p:nvGraphicFramePr>
          <p:cNvPr id="5" name="Laggard table"/>
          <p:cNvGraphicFramePr>
            <a:graphicFrameLocks noGrp="1"/>
          </p:cNvGraphicFramePr>
          <p:nvPr/>
        </p:nvGraphicFramePr>
        <p:xfrm>
          <a:off x="548640" y="1417320"/>
          <a:ext cx="11094415" cy="4425696"/>
        </p:xfrm>
        <a:graphic>
          <a:graphicData uri="http://schemas.openxmlformats.org/drawingml/2006/table">
            <a:tbl>
              <a:tblPr firstRow="1">
                <a:tableStyleId>{5C22544A-7EE6-4342-B048-85BDC9FD1C3A}</a:tableStyleId>
              </a:tblPr>
              <a:tblGrid>
                <a:gridCol w="4846320"/>
                <a:gridCol w="1280160"/>
                <a:gridCol w="1005840"/>
                <a:gridCol w="1005840"/>
                <a:gridCol w="1371600"/>
                <a:gridCol w="1584655"/>
              </a:tblGrid>
              <a:tr h="402336">
                <a:tc>
                  <a:txBody>
                    <a:bodyPr wrap="square"/>
                    <a:lstStyle/>
                    <a:p>
                      <a:pPr algn="l"/>
                      <a:r>
                        <a:rPr sz="1400" b="1">
                          <a:solidFill>
                            <a:srgbClr val="FFFFFF"/>
                          </a:solidFill>
                          <a:latin typeface="Arial"/>
                        </a:rPr>
                        <a:t>Campaign</a:t>
                      </a:r>
                    </a:p>
                  </a:txBody>
                  <a:tcPr marL="73152" marR="73152" marT="27432" marB="27432" anchor="ctr">
                    <a:solidFill>
                      <a:srgbClr val="14213D"/>
                    </a:solidFill>
                  </a:tcPr>
                </a:tc>
                <a:tc>
                  <a:txBody>
                    <a:bodyPr wrap="square"/>
                    <a:lstStyle/>
                    <a:p>
                      <a:pPr algn="r"/>
                      <a:r>
                        <a:rPr sz="1400" b="1">
                          <a:solidFill>
                            <a:srgbClr val="FFFFFF"/>
                          </a:solidFill>
                          <a:latin typeface="Arial"/>
                        </a:rPr>
                        <a:t>Spend</a:t>
                      </a:r>
                    </a:p>
                  </a:txBody>
                  <a:tcPr marL="73152" marR="73152" marT="27432" marB="27432" anchor="ctr">
                    <a:solidFill>
                      <a:srgbClr val="14213D"/>
                    </a:solidFill>
                  </a:tcPr>
                </a:tc>
                <a:tc>
                  <a:txBody>
                    <a:bodyPr wrap="square"/>
                    <a:lstStyle/>
                    <a:p>
                      <a:pPr algn="r"/>
                      <a:r>
                        <a:rPr sz="1400" b="1">
                          <a:solidFill>
                            <a:srgbClr val="FFFFFF"/>
                          </a:solidFill>
                          <a:latin typeface="Arial"/>
                        </a:rPr>
                        <a:t>Leads</a:t>
                      </a:r>
                    </a:p>
                  </a:txBody>
                  <a:tcPr marL="73152" marR="73152" marT="27432" marB="27432" anchor="ctr">
                    <a:solidFill>
                      <a:srgbClr val="14213D"/>
                    </a:solidFill>
                  </a:tcPr>
                </a:tc>
                <a:tc>
                  <a:txBody>
                    <a:bodyPr wrap="square"/>
                    <a:lstStyle/>
                    <a:p>
                      <a:pPr algn="r"/>
                      <a:r>
                        <a:rPr sz="1400" b="1">
                          <a:solidFill>
                            <a:srgbClr val="FFFFFF"/>
                          </a:solidFill>
                          <a:latin typeface="Arial"/>
                        </a:rPr>
                        <a:t>Booked</a:t>
                      </a:r>
                    </a:p>
                  </a:txBody>
                  <a:tcPr marL="73152" marR="73152" marT="27432" marB="27432" anchor="ctr">
                    <a:solidFill>
                      <a:srgbClr val="14213D"/>
                    </a:solidFill>
                  </a:tcPr>
                </a:tc>
                <a:tc>
                  <a:txBody>
                    <a:bodyPr wrap="square"/>
                    <a:lstStyle/>
                    <a:p>
                      <a:pPr algn="r"/>
                      <a:r>
                        <a:rPr sz="1400" b="1">
                          <a:solidFill>
                            <a:srgbClr val="FFFFFF"/>
                          </a:solidFill>
                          <a:latin typeface="Arial"/>
                        </a:rPr>
                        <a:t>Closed rev.</a:t>
                      </a:r>
                    </a:p>
                  </a:txBody>
                  <a:tcPr marL="73152" marR="73152" marT="27432" marB="27432" anchor="ctr">
                    <a:solidFill>
                      <a:srgbClr val="14213D"/>
                    </a:solidFill>
                  </a:tcPr>
                </a:tc>
                <a:tc>
                  <a:txBody>
                    <a:bodyPr wrap="square"/>
                    <a:lstStyle/>
                    <a:p>
                      <a:pPr algn="r"/>
                      <a:r>
                        <a:rPr sz="1400" b="1">
                          <a:solidFill>
                            <a:srgbClr val="FFFFFF"/>
                          </a:solidFill>
                          <a:latin typeface="Arial"/>
                        </a:rPr>
                        <a:t>ROAS</a:t>
                      </a:r>
                    </a:p>
                  </a:txBody>
                  <a:tcPr marL="73152" marR="73152" marT="27432" marB="27432" anchor="ctr">
                    <a:solidFill>
                      <a:srgbClr val="14213D"/>
                    </a:solidFill>
                  </a:tcPr>
                </a:tc>
              </a:tr>
              <a:tr h="402336">
                <a:tc>
                  <a:txBody>
                    <a:bodyPr wrap="square"/>
                    <a:lstStyle/>
                    <a:p>
                      <a:pPr algn="l"/>
                      <a:r>
                        <a:rPr sz="1400" b="0">
                          <a:solidFill>
                            <a:srgbClr val="14213D"/>
                          </a:solidFill>
                          <a:latin typeface="Arial"/>
                        </a:rPr>
                        <a:t>PPC_NB_Plumbing_Myrtle-Beach</a:t>
                      </a:r>
                    </a:p>
                  </a:txBody>
                  <a:tcPr marL="73152" marR="73152" marT="27432" marB="27432" anchor="ctr">
                    <a:solidFill>
                      <a:srgbClr val="FFFFFF"/>
                    </a:solidFill>
                  </a:tcPr>
                </a:tc>
                <a:tc>
                  <a:txBody>
                    <a:bodyPr wrap="square"/>
                    <a:lstStyle/>
                    <a:p>
                      <a:pPr algn="r"/>
                      <a:r>
                        <a:rPr sz="1400" b="0">
                          <a:solidFill>
                            <a:srgbClr val="14213D"/>
                          </a:solidFill>
                          <a:latin typeface="Arial"/>
                        </a:rPr>
                        <a:t>$17,662</a:t>
                      </a:r>
                    </a:p>
                  </a:txBody>
                  <a:tcPr marL="73152" marR="73152" marT="27432" marB="27432" anchor="ctr">
                    <a:solidFill>
                      <a:srgbClr val="FFFFFF"/>
                    </a:solidFill>
                  </a:tcPr>
                </a:tc>
                <a:tc>
                  <a:txBody>
                    <a:bodyPr wrap="square"/>
                    <a:lstStyle/>
                    <a:p>
                      <a:pPr algn="r"/>
                      <a:r>
                        <a:rPr sz="1400" b="0">
                          <a:solidFill>
                            <a:srgbClr val="14213D"/>
                          </a:solidFill>
                          <a:latin typeface="Arial"/>
                        </a:rPr>
                        <a:t>39</a:t>
                      </a:r>
                    </a:p>
                  </a:txBody>
                  <a:tcPr marL="73152" marR="73152" marT="27432" marB="27432" anchor="ctr">
                    <a:solidFill>
                      <a:srgbClr val="FFFFFF"/>
                    </a:solidFill>
                  </a:tcPr>
                </a:tc>
                <a:tc>
                  <a:txBody>
                    <a:bodyPr wrap="square"/>
                    <a:lstStyle/>
                    <a:p>
                      <a:pPr algn="r"/>
                      <a:r>
                        <a:rPr sz="1400" b="0">
                          <a:solidFill>
                            <a:srgbClr val="14213D"/>
                          </a:solidFill>
                          <a:latin typeface="Arial"/>
                        </a:rPr>
                        <a:t>12</a:t>
                      </a:r>
                    </a:p>
                  </a:txBody>
                  <a:tcPr marL="73152" marR="73152" marT="27432" marB="27432" anchor="ctr">
                    <a:solidFill>
                      <a:srgbClr val="FFFFFF"/>
                    </a:solidFill>
                  </a:tcPr>
                </a:tc>
                <a:tc>
                  <a:txBody>
                    <a:bodyPr wrap="square"/>
                    <a:lstStyle/>
                    <a:p>
                      <a:pPr algn="r"/>
                      <a:r>
                        <a:rPr sz="1400" b="0">
                          <a:solidFill>
                            <a:srgbClr val="14213D"/>
                          </a:solidFill>
                          <a:latin typeface="Arial"/>
                        </a:rPr>
                        <a:t>$4,799</a:t>
                      </a:r>
                    </a:p>
                  </a:txBody>
                  <a:tcPr marL="73152" marR="73152" marT="27432" marB="27432" anchor="ctr">
                    <a:solidFill>
                      <a:srgbClr val="FFFFFF"/>
                    </a:solidFill>
                  </a:tcPr>
                </a:tc>
                <a:tc>
                  <a:txBody>
                    <a:bodyPr wrap="square"/>
                    <a:lstStyle/>
                    <a:p>
                      <a:pPr algn="r"/>
                      <a:r>
                        <a:rPr sz="1400" b="0">
                          <a:solidFill>
                            <a:srgbClr val="14213D"/>
                          </a:solidFill>
                          <a:latin typeface="Arial"/>
                        </a:rPr>
                        <a:t>0.27x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PPC_NB_HVAC_Myrtle-Beach</a:t>
                      </a:r>
                    </a:p>
                  </a:txBody>
                  <a:tcPr marL="73152" marR="73152" marT="27432" marB="27432" anchor="ctr">
                    <a:solidFill>
                      <a:srgbClr val="F7F6F2"/>
                    </a:solidFill>
                  </a:tcPr>
                </a:tc>
                <a:tc>
                  <a:txBody>
                    <a:bodyPr wrap="square"/>
                    <a:lstStyle/>
                    <a:p>
                      <a:pPr algn="r"/>
                      <a:r>
                        <a:rPr sz="1400" b="0">
                          <a:solidFill>
                            <a:srgbClr val="14213D"/>
                          </a:solidFill>
                          <a:latin typeface="Arial"/>
                        </a:rPr>
                        <a:t>$17,184</a:t>
                      </a:r>
                    </a:p>
                  </a:txBody>
                  <a:tcPr marL="73152" marR="73152" marT="27432" marB="27432" anchor="ctr">
                    <a:solidFill>
                      <a:srgbClr val="F7F6F2"/>
                    </a:solidFill>
                  </a:tcPr>
                </a:tc>
                <a:tc>
                  <a:txBody>
                    <a:bodyPr wrap="square"/>
                    <a:lstStyle/>
                    <a:p>
                      <a:pPr algn="r"/>
                      <a:r>
                        <a:rPr sz="1400" b="0">
                          <a:solidFill>
                            <a:srgbClr val="14213D"/>
                          </a:solidFill>
                          <a:latin typeface="Arial"/>
                        </a:rPr>
                        <a:t>97</a:t>
                      </a:r>
                    </a:p>
                  </a:txBody>
                  <a:tcPr marL="73152" marR="73152" marT="27432" marB="27432" anchor="ctr">
                    <a:solidFill>
                      <a:srgbClr val="F7F6F2"/>
                    </a:solidFill>
                  </a:tcPr>
                </a:tc>
                <a:tc>
                  <a:txBody>
                    <a:bodyPr wrap="square"/>
                    <a:lstStyle/>
                    <a:p>
                      <a:pPr algn="r"/>
                      <a:r>
                        <a:rPr sz="1400" b="0">
                          <a:solidFill>
                            <a:srgbClr val="14213D"/>
                          </a:solidFill>
                          <a:latin typeface="Arial"/>
                        </a:rPr>
                        <a:t>27</a:t>
                      </a:r>
                    </a:p>
                  </a:txBody>
                  <a:tcPr marL="73152" marR="73152" marT="27432" marB="27432" anchor="ctr">
                    <a:solidFill>
                      <a:srgbClr val="F7F6F2"/>
                    </a:solidFill>
                  </a:tcPr>
                </a:tc>
                <a:tc>
                  <a:txBody>
                    <a:bodyPr wrap="square"/>
                    <a:lstStyle/>
                    <a:p>
                      <a:pPr algn="r"/>
                      <a:r>
                        <a:rPr sz="1400" b="0">
                          <a:solidFill>
                            <a:srgbClr val="14213D"/>
                          </a:solidFill>
                          <a:latin typeface="Arial"/>
                        </a:rPr>
                        <a:t>$7,727</a:t>
                      </a:r>
                    </a:p>
                  </a:txBody>
                  <a:tcPr marL="73152" marR="73152" marT="27432" marB="27432" anchor="ctr">
                    <a:solidFill>
                      <a:srgbClr val="F7F6F2"/>
                    </a:solidFill>
                  </a:tcPr>
                </a:tc>
                <a:tc>
                  <a:txBody>
                    <a:bodyPr wrap="square"/>
                    <a:lstStyle/>
                    <a:p>
                      <a:pPr algn="r"/>
                      <a:r>
                        <a:rPr sz="1400" b="0">
                          <a:solidFill>
                            <a:srgbClr val="14213D"/>
                          </a:solidFill>
                          <a:latin typeface="Arial"/>
                        </a:rPr>
                        <a:t>0.45x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PPC_NB_Competitor-Carolina-Cool_Myrtle-Beach</a:t>
                      </a:r>
                    </a:p>
                  </a:txBody>
                  <a:tcPr marL="73152" marR="73152" marT="27432" marB="27432" anchor="ctr">
                    <a:solidFill>
                      <a:srgbClr val="FFFFFF"/>
                    </a:solidFill>
                  </a:tcPr>
                </a:tc>
                <a:tc>
                  <a:txBody>
                    <a:bodyPr wrap="square"/>
                    <a:lstStyle/>
                    <a:p>
                      <a:pPr algn="r"/>
                      <a:r>
                        <a:rPr sz="1400" b="0">
                          <a:solidFill>
                            <a:srgbClr val="14213D"/>
                          </a:solidFill>
                          <a:latin typeface="Arial"/>
                        </a:rPr>
                        <a:t>$12,477</a:t>
                      </a:r>
                    </a:p>
                  </a:txBody>
                  <a:tcPr marL="73152" marR="73152" marT="27432" marB="27432" anchor="ctr">
                    <a:solidFill>
                      <a:srgbClr val="FFFFFF"/>
                    </a:solidFill>
                  </a:tcPr>
                </a:tc>
                <a:tc>
                  <a:txBody>
                    <a:bodyPr wrap="square"/>
                    <a:lstStyle/>
                    <a:p>
                      <a:pPr algn="r"/>
                      <a:r>
                        <a:rPr sz="1400" b="0">
                          <a:solidFill>
                            <a:srgbClr val="14213D"/>
                          </a:solidFill>
                          <a:latin typeface="Arial"/>
                        </a:rPr>
                        <a:t>137</a:t>
                      </a:r>
                    </a:p>
                  </a:txBody>
                  <a:tcPr marL="73152" marR="73152" marT="27432" marB="27432" anchor="ctr">
                    <a:solidFill>
                      <a:srgbClr val="FFFFFF"/>
                    </a:solidFill>
                  </a:tcPr>
                </a:tc>
                <a:tc>
                  <a:txBody>
                    <a:bodyPr wrap="square"/>
                    <a:lstStyle/>
                    <a:p>
                      <a:pPr algn="r"/>
                      <a:r>
                        <a:rPr sz="1400" b="0">
                          <a:solidFill>
                            <a:srgbClr val="14213D"/>
                          </a:solidFill>
                          <a:latin typeface="Arial"/>
                        </a:rPr>
                        <a:t>25</a:t>
                      </a:r>
                    </a:p>
                  </a:txBody>
                  <a:tcPr marL="73152" marR="73152" marT="27432" marB="27432" anchor="ctr">
                    <a:solidFill>
                      <a:srgbClr val="FFFFFF"/>
                    </a:solidFill>
                  </a:tcPr>
                </a:tc>
                <a:tc>
                  <a:txBody>
                    <a:bodyPr wrap="square"/>
                    <a:lstStyle/>
                    <a:p>
                      <a:pPr algn="r"/>
                      <a:r>
                        <a:rPr sz="1400" b="0">
                          <a:solidFill>
                            <a:srgbClr val="14213D"/>
                          </a:solidFill>
                          <a:latin typeface="Arial"/>
                        </a:rPr>
                        <a:t>$25,348</a:t>
                      </a:r>
                    </a:p>
                  </a:txBody>
                  <a:tcPr marL="73152" marR="73152" marT="27432" marB="27432" anchor="ctr">
                    <a:solidFill>
                      <a:srgbClr val="FFFFFF"/>
                    </a:solidFill>
                  </a:tcPr>
                </a:tc>
                <a:tc>
                  <a:txBody>
                    <a:bodyPr wrap="square"/>
                    <a:lstStyle/>
                    <a:p>
                      <a:pPr algn="r"/>
                      <a:r>
                        <a:rPr sz="1400" b="0">
                          <a:solidFill>
                            <a:srgbClr val="14213D"/>
                          </a:solidFill>
                          <a:latin typeface="Arial"/>
                        </a:rPr>
                        <a:t>2.03x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PPC_NB_Competitor_Myrtle-Beach</a:t>
                      </a:r>
                    </a:p>
                  </a:txBody>
                  <a:tcPr marL="73152" marR="73152" marT="27432" marB="27432" anchor="ctr">
                    <a:solidFill>
                      <a:srgbClr val="F7F6F2"/>
                    </a:solidFill>
                  </a:tcPr>
                </a:tc>
                <a:tc>
                  <a:txBody>
                    <a:bodyPr wrap="square"/>
                    <a:lstStyle/>
                    <a:p>
                      <a:pPr algn="r"/>
                      <a:r>
                        <a:rPr sz="1400" b="0">
                          <a:solidFill>
                            <a:srgbClr val="14213D"/>
                          </a:solidFill>
                          <a:latin typeface="Arial"/>
                        </a:rPr>
                        <a:t>$6,667</a:t>
                      </a:r>
                    </a:p>
                  </a:txBody>
                  <a:tcPr marL="73152" marR="73152" marT="27432" marB="27432" anchor="ctr">
                    <a:solidFill>
                      <a:srgbClr val="F7F6F2"/>
                    </a:solidFill>
                  </a:tcPr>
                </a:tc>
                <a:tc>
                  <a:txBody>
                    <a:bodyPr wrap="square"/>
                    <a:lstStyle/>
                    <a:p>
                      <a:pPr algn="r"/>
                      <a:r>
                        <a:rPr sz="1400" b="0">
                          <a:solidFill>
                            <a:srgbClr val="14213D"/>
                          </a:solidFill>
                          <a:latin typeface="Arial"/>
                        </a:rPr>
                        <a:t>48</a:t>
                      </a:r>
                    </a:p>
                  </a:txBody>
                  <a:tcPr marL="73152" marR="73152" marT="27432" marB="27432" anchor="ctr">
                    <a:solidFill>
                      <a:srgbClr val="F7F6F2"/>
                    </a:solidFill>
                  </a:tcPr>
                </a:tc>
                <a:tc>
                  <a:txBody>
                    <a:bodyPr wrap="square"/>
                    <a:lstStyle/>
                    <a:p>
                      <a:pPr algn="r"/>
                      <a:r>
                        <a:rPr sz="1400" b="0">
                          <a:solidFill>
                            <a:srgbClr val="14213D"/>
                          </a:solidFill>
                          <a:latin typeface="Arial"/>
                        </a:rPr>
                        <a:t>13</a:t>
                      </a:r>
                    </a:p>
                  </a:txBody>
                  <a:tcPr marL="73152" marR="73152" marT="27432" marB="27432" anchor="ctr">
                    <a:solidFill>
                      <a:srgbClr val="F7F6F2"/>
                    </a:solidFill>
                  </a:tcPr>
                </a:tc>
                <a:tc>
                  <a:txBody>
                    <a:bodyPr wrap="square"/>
                    <a:lstStyle/>
                    <a:p>
                      <a:pPr algn="r"/>
                      <a:r>
                        <a:rPr sz="1400" b="0">
                          <a:solidFill>
                            <a:srgbClr val="14213D"/>
                          </a:solidFill>
                          <a:latin typeface="Arial"/>
                        </a:rPr>
                        <a:t>$2,732</a:t>
                      </a:r>
                    </a:p>
                  </a:txBody>
                  <a:tcPr marL="73152" marR="73152" marT="27432" marB="27432" anchor="ctr">
                    <a:solidFill>
                      <a:srgbClr val="F7F6F2"/>
                    </a:solidFill>
                  </a:tcPr>
                </a:tc>
                <a:tc>
                  <a:txBody>
                    <a:bodyPr wrap="square"/>
                    <a:lstStyle/>
                    <a:p>
                      <a:pPr algn="r"/>
                      <a:r>
                        <a:rPr sz="1400" b="0">
                          <a:solidFill>
                            <a:srgbClr val="14213D"/>
                          </a:solidFill>
                          <a:latin typeface="Arial"/>
                        </a:rPr>
                        <a:t>0.41x</a:t>
                      </a:r>
                    </a:p>
                  </a:txBody>
                  <a:tcPr marL="73152" marR="73152" marT="27432" marB="27432" anchor="ctr">
                    <a:solidFill>
                      <a:srgbClr val="F7F6F2"/>
                    </a:solidFill>
                  </a:tcPr>
                </a:tc>
              </a:tr>
              <a:tr h="402336">
                <a:tc>
                  <a:txBody>
                    <a:bodyPr wrap="square"/>
                    <a:lstStyle/>
                    <a:p>
                      <a:pPr algn="l"/>
                      <a:r>
                        <a:rPr sz="1400" b="1">
                          <a:solidFill>
                            <a:srgbClr val="14213D"/>
                          </a:solidFill>
                          <a:latin typeface="Arial"/>
                        </a:rPr>
                        <a:t>Myrtle Beach non-brand PPC, total</a:t>
                      </a:r>
                    </a:p>
                  </a:txBody>
                  <a:tcPr marL="73152" marR="73152" marT="27432" marB="27432" anchor="ctr">
                    <a:solidFill>
                      <a:srgbClr val="FBE7D6"/>
                    </a:solidFill>
                  </a:tcPr>
                </a:tc>
                <a:tc>
                  <a:txBody>
                    <a:bodyPr wrap="square"/>
                    <a:lstStyle/>
                    <a:p>
                      <a:pPr algn="r"/>
                      <a:r>
                        <a:rPr sz="1400" b="1">
                          <a:solidFill>
                            <a:srgbClr val="14213D"/>
                          </a:solidFill>
                          <a:latin typeface="Arial"/>
                        </a:rPr>
                        <a:t>$53,989</a:t>
                      </a:r>
                    </a:p>
                  </a:txBody>
                  <a:tcPr marL="73152" marR="73152" marT="27432" marB="27432" anchor="ctr">
                    <a:solidFill>
                      <a:srgbClr val="FBE7D6"/>
                    </a:solidFill>
                  </a:tcPr>
                </a:tc>
                <a:tc>
                  <a:txBody>
                    <a:bodyPr wrap="square"/>
                    <a:lstStyle/>
                    <a:p>
                      <a:pPr algn="r"/>
                      <a:r>
                        <a:rPr sz="1400" b="1">
                          <a:solidFill>
                            <a:srgbClr val="14213D"/>
                          </a:solidFill>
                          <a:latin typeface="Arial"/>
                        </a:rPr>
                        <a:t>321</a:t>
                      </a:r>
                    </a:p>
                  </a:txBody>
                  <a:tcPr marL="73152" marR="73152" marT="27432" marB="27432" anchor="ctr">
                    <a:solidFill>
                      <a:srgbClr val="FBE7D6"/>
                    </a:solidFill>
                  </a:tcPr>
                </a:tc>
                <a:tc>
                  <a:txBody>
                    <a:bodyPr wrap="square"/>
                    <a:lstStyle/>
                    <a:p>
                      <a:pPr algn="r"/>
                      <a:r>
                        <a:rPr sz="1400" b="1">
                          <a:solidFill>
                            <a:srgbClr val="14213D"/>
                          </a:solidFill>
                          <a:latin typeface="Arial"/>
                        </a:rPr>
                        <a:t>77</a:t>
                      </a:r>
                    </a:p>
                  </a:txBody>
                  <a:tcPr marL="73152" marR="73152" marT="27432" marB="27432" anchor="ctr">
                    <a:solidFill>
                      <a:srgbClr val="FBE7D6"/>
                    </a:solidFill>
                  </a:tcPr>
                </a:tc>
                <a:tc>
                  <a:txBody>
                    <a:bodyPr wrap="square"/>
                    <a:lstStyle/>
                    <a:p>
                      <a:pPr algn="r"/>
                      <a:r>
                        <a:rPr sz="1400" b="1">
                          <a:solidFill>
                            <a:srgbClr val="14213D"/>
                          </a:solidFill>
                          <a:latin typeface="Arial"/>
                        </a:rPr>
                        <a:t>$40,606</a:t>
                      </a:r>
                    </a:p>
                  </a:txBody>
                  <a:tcPr marL="73152" marR="73152" marT="27432" marB="27432" anchor="ctr">
                    <a:solidFill>
                      <a:srgbClr val="FBE7D6"/>
                    </a:solidFill>
                  </a:tcPr>
                </a:tc>
                <a:tc>
                  <a:txBody>
                    <a:bodyPr wrap="square"/>
                    <a:lstStyle/>
                    <a:p>
                      <a:pPr algn="r"/>
                      <a:r>
                        <a:rPr sz="1400" b="1">
                          <a:solidFill>
                            <a:srgbClr val="14213D"/>
                          </a:solidFill>
                          <a:latin typeface="Arial"/>
                        </a:rPr>
                        <a:t>0.75x</a:t>
                      </a:r>
                    </a:p>
                  </a:txBody>
                  <a:tcPr marL="73152" marR="73152" marT="27432" marB="27432" anchor="ctr">
                    <a:solidFill>
                      <a:srgbClr val="FBE7D6"/>
                    </a:solidFill>
                  </a:tcPr>
                </a:tc>
              </a:tr>
              <a:tr h="402336">
                <a:tc>
                  <a:txBody>
                    <a:bodyPr wrap="square"/>
                    <a:lstStyle/>
                    <a:p>
                      <a:pPr algn="l"/>
                      <a:r>
                        <a:rPr sz="1400" b="0">
                          <a:solidFill>
                            <a:srgbClr val="14213D"/>
                          </a:solidFill>
                          <a:latin typeface="Arial"/>
                        </a:rPr>
                        <a:t>August 2026 Special | $100 Off HVAC Repair</a:t>
                      </a:r>
                    </a:p>
                  </a:txBody>
                  <a:tcPr marL="73152" marR="73152" marT="27432" marB="27432" anchor="ctr">
                    <a:solidFill>
                      <a:srgbClr val="F7F6F2"/>
                    </a:solidFill>
                  </a:tcPr>
                </a:tc>
                <a:tc>
                  <a:txBody>
                    <a:bodyPr wrap="square"/>
                    <a:lstStyle/>
                    <a:p>
                      <a:pPr algn="r"/>
                      <a:r>
                        <a:rPr sz="1400" b="0">
                          <a:solidFill>
                            <a:srgbClr val="14213D"/>
                          </a:solidFill>
                          <a:latin typeface="Arial"/>
                        </a:rPr>
                        <a:t>$3,871</a:t>
                      </a:r>
                    </a:p>
                  </a:txBody>
                  <a:tcPr marL="73152" marR="73152" marT="27432" marB="27432" anchor="ctr">
                    <a:solidFill>
                      <a:srgbClr val="F7F6F2"/>
                    </a:solidFill>
                  </a:tcPr>
                </a:tc>
                <a:tc>
                  <a:txBody>
                    <a:bodyPr wrap="square"/>
                    <a:lstStyle/>
                    <a:p>
                      <a:pPr algn="r"/>
                      <a:r>
                        <a:rPr sz="1400" b="0">
                          <a:solidFill>
                            <a:srgbClr val="14213D"/>
                          </a:solidFill>
                          <a:latin typeface="Arial"/>
                        </a:rPr>
                        <a:t>19</a:t>
                      </a:r>
                    </a:p>
                  </a:txBody>
                  <a:tcPr marL="73152" marR="73152" marT="27432" marB="27432" anchor="ctr">
                    <a:solidFill>
                      <a:srgbClr val="F7F6F2"/>
                    </a:solidFill>
                  </a:tcPr>
                </a:tc>
                <a:tc>
                  <a:txBody>
                    <a:bodyPr wrap="square"/>
                    <a:lstStyle/>
                    <a:p>
                      <a:pPr algn="r"/>
                      <a:r>
                        <a:rPr sz="1400" b="0">
                          <a:solidFill>
                            <a:srgbClr val="14213D"/>
                          </a:solidFill>
                          <a:latin typeface="Arial"/>
                        </a:rPr>
                        <a:t>2</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0.00x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July – Sept 2026 Special | $99 New System</a:t>
                      </a:r>
                    </a:p>
                  </a:txBody>
                  <a:tcPr marL="73152" marR="73152" marT="27432" marB="27432" anchor="ctr">
                    <a:solidFill>
                      <a:srgbClr val="FFFFFF"/>
                    </a:solidFill>
                  </a:tcPr>
                </a:tc>
                <a:tc>
                  <a:txBody>
                    <a:bodyPr wrap="square"/>
                    <a:lstStyle/>
                    <a:p>
                      <a:pPr algn="r"/>
                      <a:r>
                        <a:rPr sz="1400" b="0">
                          <a:solidFill>
                            <a:srgbClr val="14213D"/>
                          </a:solidFill>
                          <a:latin typeface="Arial"/>
                        </a:rPr>
                        <a:t>$2,481</a:t>
                      </a:r>
                    </a:p>
                  </a:txBody>
                  <a:tcPr marL="73152" marR="73152" marT="27432" marB="27432" anchor="ctr">
                    <a:solidFill>
                      <a:srgbClr val="FFFFFF"/>
                    </a:solidFill>
                  </a:tcPr>
                </a:tc>
                <a:tc>
                  <a:txBody>
                    <a:bodyPr wrap="square"/>
                    <a:lstStyle/>
                    <a:p>
                      <a:pPr algn="r"/>
                      <a:r>
                        <a:rPr sz="1400" b="0">
                          <a:solidFill>
                            <a:srgbClr val="14213D"/>
                          </a:solidFill>
                          <a:latin typeface="Arial"/>
                        </a:rPr>
                        <a:t>8</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0.00x</a:t>
                      </a:r>
                    </a:p>
                  </a:txBody>
                  <a:tcPr marL="73152" marR="73152" marT="27432" marB="27432" anchor="ctr">
                    <a:solidFill>
                      <a:srgbClr val="FFFFFF"/>
                    </a:solidFill>
                  </a:tcPr>
                </a:tc>
              </a:tr>
              <a:tr h="402336">
                <a:tc>
                  <a:txBody>
                    <a:bodyPr wrap="square"/>
                    <a:lstStyle/>
                    <a:p>
                      <a:pPr algn="l"/>
                      <a:r>
                        <a:rPr sz="1400" b="0">
                          <a:solidFill>
                            <a:srgbClr val="14213D"/>
                          </a:solidFill>
                          <a:latin typeface="Arial"/>
                        </a:rPr>
                        <a:t>Leads Campaign June Offers</a:t>
                      </a:r>
                    </a:p>
                  </a:txBody>
                  <a:tcPr marL="73152" marR="73152" marT="27432" marB="27432" anchor="ctr">
                    <a:solidFill>
                      <a:srgbClr val="F7F6F2"/>
                    </a:solidFill>
                  </a:tcPr>
                </a:tc>
                <a:tc>
                  <a:txBody>
                    <a:bodyPr wrap="square"/>
                    <a:lstStyle/>
                    <a:p>
                      <a:pPr algn="r"/>
                      <a:r>
                        <a:rPr sz="1400" b="0">
                          <a:solidFill>
                            <a:srgbClr val="14213D"/>
                          </a:solidFill>
                          <a:latin typeface="Arial"/>
                        </a:rPr>
                        <a:t>$2,082</a:t>
                      </a:r>
                    </a:p>
                  </a:txBody>
                  <a:tcPr marL="73152" marR="73152" marT="27432" marB="27432" anchor="ctr">
                    <a:solidFill>
                      <a:srgbClr val="F7F6F2"/>
                    </a:solidFill>
                  </a:tcPr>
                </a:tc>
                <a:tc>
                  <a:txBody>
                    <a:bodyPr wrap="square"/>
                    <a:lstStyle/>
                    <a:p>
                      <a:pPr algn="r"/>
                      <a:r>
                        <a:rPr sz="1400" b="0">
                          <a:solidFill>
                            <a:srgbClr val="14213D"/>
                          </a:solidFill>
                          <a:latin typeface="Arial"/>
                        </a:rPr>
                        <a:t>5</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a:t>
                      </a:r>
                    </a:p>
                  </a:txBody>
                  <a:tcPr marL="73152" marR="73152" marT="27432" marB="27432" anchor="ctr">
                    <a:solidFill>
                      <a:srgbClr val="F7F6F2"/>
                    </a:solidFill>
                  </a:tcPr>
                </a:tc>
                <a:tc>
                  <a:txBody>
                    <a:bodyPr wrap="square"/>
                    <a:lstStyle/>
                    <a:p>
                      <a:pPr algn="r"/>
                      <a:r>
                        <a:rPr sz="1400" b="0">
                          <a:solidFill>
                            <a:srgbClr val="14213D"/>
                          </a:solidFill>
                          <a:latin typeface="Arial"/>
                        </a:rPr>
                        <a:t>0.00x</a:t>
                      </a:r>
                    </a:p>
                  </a:txBody>
                  <a:tcPr marL="73152" marR="73152" marT="27432" marB="27432" anchor="ctr">
                    <a:solidFill>
                      <a:srgbClr val="F7F6F2"/>
                    </a:solidFill>
                  </a:tcPr>
                </a:tc>
              </a:tr>
              <a:tr h="402336">
                <a:tc>
                  <a:txBody>
                    <a:bodyPr wrap="square"/>
                    <a:lstStyle/>
                    <a:p>
                      <a:pPr algn="l"/>
                      <a:r>
                        <a:rPr sz="1400" b="0">
                          <a:solidFill>
                            <a:srgbClr val="14213D"/>
                          </a:solidFill>
                          <a:latin typeface="Arial"/>
                        </a:rPr>
                        <a:t>PDM – Sept Plumbing Offer</a:t>
                      </a:r>
                    </a:p>
                  </a:txBody>
                  <a:tcPr marL="73152" marR="73152" marT="27432" marB="27432" anchor="ctr">
                    <a:solidFill>
                      <a:srgbClr val="FFFFFF"/>
                    </a:solidFill>
                  </a:tcPr>
                </a:tc>
                <a:tc>
                  <a:txBody>
                    <a:bodyPr wrap="square"/>
                    <a:lstStyle/>
                    <a:p>
                      <a:pPr algn="r"/>
                      <a:r>
                        <a:rPr sz="1400" b="0">
                          <a:solidFill>
                            <a:srgbClr val="14213D"/>
                          </a:solidFill>
                          <a:latin typeface="Arial"/>
                        </a:rPr>
                        <a:t>$828</a:t>
                      </a:r>
                    </a:p>
                  </a:txBody>
                  <a:tcPr marL="73152" marR="73152" marT="27432" marB="27432" anchor="ctr">
                    <a:solidFill>
                      <a:srgbClr val="FFFFFF"/>
                    </a:solidFill>
                  </a:tcPr>
                </a:tc>
                <a:tc>
                  <a:txBody>
                    <a:bodyPr wrap="square"/>
                    <a:lstStyle/>
                    <a:p>
                      <a:pPr algn="r"/>
                      <a:r>
                        <a:rPr sz="1400" b="0">
                          <a:solidFill>
                            <a:srgbClr val="14213D"/>
                          </a:solidFill>
                          <a:latin typeface="Arial"/>
                        </a:rPr>
                        <a:t>5</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a:t>
                      </a:r>
                    </a:p>
                  </a:txBody>
                  <a:tcPr marL="73152" marR="73152" marT="27432" marB="27432" anchor="ctr">
                    <a:solidFill>
                      <a:srgbClr val="FFFFFF"/>
                    </a:solidFill>
                  </a:tcPr>
                </a:tc>
                <a:tc>
                  <a:txBody>
                    <a:bodyPr wrap="square"/>
                    <a:lstStyle/>
                    <a:p>
                      <a:pPr algn="r"/>
                      <a:r>
                        <a:rPr sz="1400" b="0">
                          <a:solidFill>
                            <a:srgbClr val="14213D"/>
                          </a:solidFill>
                          <a:latin typeface="Arial"/>
                        </a:rPr>
                        <a:t>0.00x</a:t>
                      </a:r>
                    </a:p>
                  </a:txBody>
                  <a:tcPr marL="73152" marR="73152" marT="27432" marB="27432" anchor="ctr">
                    <a:solidFill>
                      <a:srgbClr val="FFFFFF"/>
                    </a:solidFill>
                  </a:tcPr>
                </a:tc>
              </a:tr>
              <a:tr h="402336">
                <a:tc>
                  <a:txBody>
                    <a:bodyPr wrap="square"/>
                    <a:lstStyle/>
                    <a:p>
                      <a:pPr algn="l"/>
                      <a:r>
                        <a:rPr sz="1400" b="1">
                          <a:solidFill>
                            <a:srgbClr val="14213D"/>
                          </a:solidFill>
                          <a:latin typeface="Arial"/>
                        </a:rPr>
                        <a:t>Offer campaigns with no closed revenue, total</a:t>
                      </a:r>
                    </a:p>
                  </a:txBody>
                  <a:tcPr marL="73152" marR="73152" marT="27432" marB="27432" anchor="ctr">
                    <a:solidFill>
                      <a:srgbClr val="FBE7D6"/>
                    </a:solidFill>
                  </a:tcPr>
                </a:tc>
                <a:tc>
                  <a:txBody>
                    <a:bodyPr wrap="square"/>
                    <a:lstStyle/>
                    <a:p>
                      <a:pPr algn="r"/>
                      <a:r>
                        <a:rPr sz="1400" b="1">
                          <a:solidFill>
                            <a:srgbClr val="14213D"/>
                          </a:solidFill>
                          <a:latin typeface="Arial"/>
                        </a:rPr>
                        <a:t>$9,262</a:t>
                      </a:r>
                    </a:p>
                  </a:txBody>
                  <a:tcPr marL="73152" marR="73152" marT="27432" marB="27432" anchor="ctr">
                    <a:solidFill>
                      <a:srgbClr val="FBE7D6"/>
                    </a:solidFill>
                  </a:tcPr>
                </a:tc>
                <a:tc>
                  <a:txBody>
                    <a:bodyPr wrap="square"/>
                    <a:lstStyle/>
                    <a:p>
                      <a:pPr algn="r"/>
                      <a:r>
                        <a:rPr sz="1400" b="1">
                          <a:solidFill>
                            <a:srgbClr val="14213D"/>
                          </a:solidFill>
                          <a:latin typeface="Arial"/>
                        </a:rPr>
                        <a:t>37</a:t>
                      </a:r>
                    </a:p>
                  </a:txBody>
                  <a:tcPr marL="73152" marR="73152" marT="27432" marB="27432" anchor="ctr">
                    <a:solidFill>
                      <a:srgbClr val="FBE7D6"/>
                    </a:solidFill>
                  </a:tcPr>
                </a:tc>
                <a:tc>
                  <a:txBody>
                    <a:bodyPr wrap="square"/>
                    <a:lstStyle/>
                    <a:p>
                      <a:pPr algn="r"/>
                      <a:r>
                        <a:rPr sz="1400" b="1">
                          <a:solidFill>
                            <a:srgbClr val="14213D"/>
                          </a:solidFill>
                          <a:latin typeface="Arial"/>
                        </a:rPr>
                        <a:t>2</a:t>
                      </a:r>
                    </a:p>
                  </a:txBody>
                  <a:tcPr marL="73152" marR="73152" marT="27432" marB="27432" anchor="ctr">
                    <a:solidFill>
                      <a:srgbClr val="FBE7D6"/>
                    </a:solidFill>
                  </a:tcPr>
                </a:tc>
                <a:tc>
                  <a:txBody>
                    <a:bodyPr wrap="square"/>
                    <a:lstStyle/>
                    <a:p>
                      <a:pPr algn="r"/>
                      <a:r>
                        <a:rPr sz="1400" b="1">
                          <a:solidFill>
                            <a:srgbClr val="14213D"/>
                          </a:solidFill>
                          <a:latin typeface="Arial"/>
                        </a:rPr>
                        <a:t>$0</a:t>
                      </a:r>
                    </a:p>
                  </a:txBody>
                  <a:tcPr marL="73152" marR="73152" marT="27432" marB="27432" anchor="ctr">
                    <a:solidFill>
                      <a:srgbClr val="FBE7D6"/>
                    </a:solidFill>
                  </a:tcPr>
                </a:tc>
                <a:tc>
                  <a:txBody>
                    <a:bodyPr wrap="square"/>
                    <a:lstStyle/>
                    <a:p>
                      <a:pPr algn="r"/>
                      <a:r>
                        <a:rPr sz="1400" b="1">
                          <a:solidFill>
                            <a:srgbClr val="14213D"/>
                          </a:solidFill>
                          <a:latin typeface="Arial"/>
                        </a:rPr>
                        <a:t>0.00x</a:t>
                      </a:r>
                    </a:p>
                  </a:txBody>
                  <a:tcPr marL="73152" marR="73152" marT="27432" marB="27432" anchor="ctr">
                    <a:solidFill>
                      <a:srgbClr val="FBE7D6"/>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Unpaid sources: Charleston GBP leads the volume but books the least</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9</a:t>
            </a:r>
          </a:p>
        </p:txBody>
      </p:sp>
      <p:graphicFrame>
        <p:nvGraphicFramePr>
          <p:cNvPr id="5" name="Unpaid table"/>
          <p:cNvGraphicFramePr>
            <a:graphicFrameLocks noGrp="1"/>
          </p:cNvGraphicFramePr>
          <p:nvPr/>
        </p:nvGraphicFramePr>
        <p:xfrm>
          <a:off x="548640" y="1417320"/>
          <a:ext cx="11094415" cy="3328416"/>
        </p:xfrm>
        <a:graphic>
          <a:graphicData uri="http://schemas.openxmlformats.org/drawingml/2006/table">
            <a:tbl>
              <a:tblPr firstRow="1">
                <a:tableStyleId>{5C22544A-7EE6-4342-B048-85BDC9FD1C3A}</a:tableStyleId>
              </a:tblPr>
              <a:tblGrid>
                <a:gridCol w="3657600"/>
                <a:gridCol w="1645920"/>
                <a:gridCol w="1188720"/>
                <a:gridCol w="1188720"/>
                <a:gridCol w="1737360"/>
                <a:gridCol w="1676095"/>
              </a:tblGrid>
              <a:tr h="475488">
                <a:tc>
                  <a:txBody>
                    <a:bodyPr wrap="square"/>
                    <a:lstStyle/>
                    <a:p>
                      <a:pPr algn="l"/>
                      <a:r>
                        <a:rPr sz="1600" b="1">
                          <a:solidFill>
                            <a:srgbClr val="FFFFFF"/>
                          </a:solidFill>
                          <a:latin typeface="Arial"/>
                        </a:rPr>
                        <a:t>Source</a:t>
                      </a:r>
                    </a:p>
                  </a:txBody>
                  <a:tcPr marL="73152" marR="73152" marT="27432" marB="27432" anchor="ctr">
                    <a:solidFill>
                      <a:srgbClr val="14213D"/>
                    </a:solidFill>
                  </a:tcPr>
                </a:tc>
                <a:tc>
                  <a:txBody>
                    <a:bodyPr wrap="square"/>
                    <a:lstStyle/>
                    <a:p>
                      <a:pPr algn="l"/>
                      <a:r>
                        <a:rPr sz="1600" b="1">
                          <a:solidFill>
                            <a:srgbClr val="FFFFFF"/>
                          </a:solidFill>
                          <a:latin typeface="Arial"/>
                        </a:rPr>
                        <a:t>Channel</a:t>
                      </a:r>
                    </a:p>
                  </a:txBody>
                  <a:tcPr marL="73152" marR="73152" marT="27432" marB="27432" anchor="ctr">
                    <a:solidFill>
                      <a:srgbClr val="14213D"/>
                    </a:solidFill>
                  </a:tcPr>
                </a:tc>
                <a:tc>
                  <a:txBody>
                    <a:bodyPr wrap="square"/>
                    <a:lstStyle/>
                    <a:p>
                      <a:pPr algn="r"/>
                      <a:r>
                        <a:rPr sz="1600" b="1">
                          <a:solidFill>
                            <a:srgbClr val="FFFFFF"/>
                          </a:solidFill>
                          <a:latin typeface="Arial"/>
                        </a:rPr>
                        <a:t>Leads</a:t>
                      </a:r>
                    </a:p>
                  </a:txBody>
                  <a:tcPr marL="73152" marR="73152" marT="27432" marB="27432" anchor="ctr">
                    <a:solidFill>
                      <a:srgbClr val="14213D"/>
                    </a:solidFill>
                  </a:tcPr>
                </a:tc>
                <a:tc>
                  <a:txBody>
                    <a:bodyPr wrap="square"/>
                    <a:lstStyle/>
                    <a:p>
                      <a:pPr algn="r"/>
                      <a:r>
                        <a:rPr sz="1600" b="1">
                          <a:solidFill>
                            <a:srgbClr val="FFFFFF"/>
                          </a:solidFill>
                          <a:latin typeface="Arial"/>
                        </a:rPr>
                        <a:t>Booked</a:t>
                      </a:r>
                    </a:p>
                  </a:txBody>
                  <a:tcPr marL="73152" marR="73152" marT="27432" marB="27432" anchor="ctr">
                    <a:solidFill>
                      <a:srgbClr val="14213D"/>
                    </a:solidFill>
                  </a:tcPr>
                </a:tc>
                <a:tc>
                  <a:txBody>
                    <a:bodyPr wrap="square"/>
                    <a:lstStyle/>
                    <a:p>
                      <a:pPr algn="r"/>
                      <a:r>
                        <a:rPr sz="1600" b="1">
                          <a:solidFill>
                            <a:srgbClr val="FFFFFF"/>
                          </a:solidFill>
                          <a:latin typeface="Arial"/>
                        </a:rPr>
                        <a:t>Booked per lead</a:t>
                      </a:r>
                    </a:p>
                  </a:txBody>
                  <a:tcPr marL="73152" marR="73152" marT="27432" marB="27432" anchor="ctr">
                    <a:solidFill>
                      <a:srgbClr val="14213D"/>
                    </a:solidFill>
                  </a:tcPr>
                </a:tc>
                <a:tc>
                  <a:txBody>
                    <a:bodyPr wrap="square"/>
                    <a:lstStyle/>
                    <a:p>
                      <a:pPr algn="r"/>
                      <a:r>
                        <a:rPr sz="1600" b="1">
                          <a:solidFill>
                            <a:srgbClr val="FFFFFF"/>
                          </a:solidFill>
                          <a:latin typeface="Arial"/>
                        </a:rPr>
                        <a:t>Closed rev.</a:t>
                      </a:r>
                    </a:p>
                  </a:txBody>
                  <a:tcPr marL="73152" marR="73152" marT="27432" marB="27432" anchor="ctr">
                    <a:solidFill>
                      <a:srgbClr val="14213D"/>
                    </a:solidFill>
                  </a:tcPr>
                </a:tc>
              </a:tr>
              <a:tr h="475488">
                <a:tc>
                  <a:txBody>
                    <a:bodyPr wrap="square"/>
                    <a:lstStyle/>
                    <a:p>
                      <a:pPr algn="l"/>
                      <a:r>
                        <a:rPr sz="1600" b="0">
                          <a:solidFill>
                            <a:srgbClr val="14213D"/>
                          </a:solidFill>
                          <a:latin typeface="Arial"/>
                        </a:rPr>
                        <a:t>Charleston GBP | Search</a:t>
                      </a:r>
                    </a:p>
                  </a:txBody>
                  <a:tcPr marL="73152" marR="73152" marT="27432" marB="27432" anchor="ctr">
                    <a:solidFill>
                      <a:srgbClr val="FFFFFF"/>
                    </a:solidFill>
                  </a:tcPr>
                </a:tc>
                <a:tc>
                  <a:txBody>
                    <a:bodyPr wrap="square"/>
                    <a:lstStyle/>
                    <a:p>
                      <a:pPr algn="l"/>
                      <a:r>
                        <a:rPr sz="1600" b="0">
                          <a:solidFill>
                            <a:srgbClr val="14213D"/>
                          </a:solidFill>
                          <a:latin typeface="Arial"/>
                        </a:rPr>
                        <a:t>Organic</a:t>
                      </a:r>
                    </a:p>
                  </a:txBody>
                  <a:tcPr marL="73152" marR="73152" marT="27432" marB="27432" anchor="ctr">
                    <a:solidFill>
                      <a:srgbClr val="FFFFFF"/>
                    </a:solidFill>
                  </a:tcPr>
                </a:tc>
                <a:tc>
                  <a:txBody>
                    <a:bodyPr wrap="square"/>
                    <a:lstStyle/>
                    <a:p>
                      <a:pPr algn="r"/>
                      <a:r>
                        <a:rPr sz="1600" b="0">
                          <a:solidFill>
                            <a:srgbClr val="14213D"/>
                          </a:solidFill>
                          <a:latin typeface="Arial"/>
                        </a:rPr>
                        <a:t>707</a:t>
                      </a:r>
                    </a:p>
                  </a:txBody>
                  <a:tcPr marL="73152" marR="73152" marT="27432" marB="27432" anchor="ctr">
                    <a:solidFill>
                      <a:srgbClr val="FFFFFF"/>
                    </a:solidFill>
                  </a:tcPr>
                </a:tc>
                <a:tc>
                  <a:txBody>
                    <a:bodyPr wrap="square"/>
                    <a:lstStyle/>
                    <a:p>
                      <a:pPr algn="r"/>
                      <a:r>
                        <a:rPr sz="1600" b="0">
                          <a:solidFill>
                            <a:srgbClr val="14213D"/>
                          </a:solidFill>
                          <a:latin typeface="Arial"/>
                        </a:rPr>
                        <a:t>74</a:t>
                      </a:r>
                    </a:p>
                  </a:txBody>
                  <a:tcPr marL="73152" marR="73152" marT="27432" marB="27432" anchor="ctr">
                    <a:solidFill>
                      <a:srgbClr val="FFFFFF"/>
                    </a:solidFill>
                  </a:tcPr>
                </a:tc>
                <a:tc>
                  <a:txBody>
                    <a:bodyPr wrap="square"/>
                    <a:lstStyle/>
                    <a:p>
                      <a:pPr algn="r"/>
                      <a:r>
                        <a:rPr sz="1600" b="0">
                          <a:solidFill>
                            <a:srgbClr val="14213D"/>
                          </a:solidFill>
                          <a:latin typeface="Arial"/>
                        </a:rPr>
                        <a:t>10%</a:t>
                      </a:r>
                    </a:p>
                  </a:txBody>
                  <a:tcPr marL="73152" marR="73152" marT="27432" marB="27432" anchor="ctr">
                    <a:solidFill>
                      <a:srgbClr val="FFFFFF"/>
                    </a:solidFill>
                  </a:tcPr>
                </a:tc>
                <a:tc>
                  <a:txBody>
                    <a:bodyPr wrap="square"/>
                    <a:lstStyle/>
                    <a:p>
                      <a:pPr algn="r"/>
                      <a:r>
                        <a:rPr sz="1600" b="0">
                          <a:solidFill>
                            <a:srgbClr val="14213D"/>
                          </a:solidFill>
                          <a:latin typeface="Arial"/>
                        </a:rPr>
                        <a:t>$132,486</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Direct Web Traffic</a:t>
                      </a:r>
                    </a:p>
                  </a:txBody>
                  <a:tcPr marL="73152" marR="73152" marT="27432" marB="27432" anchor="ctr">
                    <a:solidFill>
                      <a:srgbClr val="F7F6F2"/>
                    </a:solidFill>
                  </a:tcPr>
                </a:tc>
                <a:tc>
                  <a:txBody>
                    <a:bodyPr wrap="square"/>
                    <a:lstStyle/>
                    <a:p>
                      <a:pPr algn="l"/>
                      <a:r>
                        <a:rPr sz="1600" b="0">
                          <a:solidFill>
                            <a:srgbClr val="14213D"/>
                          </a:solidFill>
                          <a:latin typeface="Arial"/>
                        </a:rPr>
                        <a:t>Direct</a:t>
                      </a:r>
                    </a:p>
                  </a:txBody>
                  <a:tcPr marL="73152" marR="73152" marT="27432" marB="27432" anchor="ctr">
                    <a:solidFill>
                      <a:srgbClr val="F7F6F2"/>
                    </a:solidFill>
                  </a:tcPr>
                </a:tc>
                <a:tc>
                  <a:txBody>
                    <a:bodyPr wrap="square"/>
                    <a:lstStyle/>
                    <a:p>
                      <a:pPr algn="r"/>
                      <a:r>
                        <a:rPr sz="1600" b="0">
                          <a:solidFill>
                            <a:srgbClr val="14213D"/>
                          </a:solidFill>
                          <a:latin typeface="Arial"/>
                        </a:rPr>
                        <a:t>112</a:t>
                      </a:r>
                    </a:p>
                  </a:txBody>
                  <a:tcPr marL="73152" marR="73152" marT="27432" marB="27432" anchor="ctr">
                    <a:solidFill>
                      <a:srgbClr val="F7F6F2"/>
                    </a:solidFill>
                  </a:tcPr>
                </a:tc>
                <a:tc>
                  <a:txBody>
                    <a:bodyPr wrap="square"/>
                    <a:lstStyle/>
                    <a:p>
                      <a:pPr algn="r"/>
                      <a:r>
                        <a:rPr sz="1600" b="0">
                          <a:solidFill>
                            <a:srgbClr val="14213D"/>
                          </a:solidFill>
                          <a:latin typeface="Arial"/>
                        </a:rPr>
                        <a:t>15</a:t>
                      </a:r>
                    </a:p>
                  </a:txBody>
                  <a:tcPr marL="73152" marR="73152" marT="27432" marB="27432" anchor="ctr">
                    <a:solidFill>
                      <a:srgbClr val="F7F6F2"/>
                    </a:solidFill>
                  </a:tcPr>
                </a:tc>
                <a:tc>
                  <a:txBody>
                    <a:bodyPr wrap="square"/>
                    <a:lstStyle/>
                    <a:p>
                      <a:pPr algn="r"/>
                      <a:r>
                        <a:rPr sz="1600" b="0">
                          <a:solidFill>
                            <a:srgbClr val="14213D"/>
                          </a:solidFill>
                          <a:latin typeface="Arial"/>
                        </a:rPr>
                        <a:t>13%</a:t>
                      </a:r>
                    </a:p>
                  </a:txBody>
                  <a:tcPr marL="73152" marR="73152" marT="27432" marB="27432" anchor="ctr">
                    <a:solidFill>
                      <a:srgbClr val="F7F6F2"/>
                    </a:solidFill>
                  </a:tcPr>
                </a:tc>
                <a:tc>
                  <a:txBody>
                    <a:bodyPr wrap="square"/>
                    <a:lstStyle/>
                    <a:p>
                      <a:pPr algn="r"/>
                      <a:r>
                        <a:rPr sz="1600" b="0">
                          <a:solidFill>
                            <a:srgbClr val="14213D"/>
                          </a:solidFill>
                          <a:latin typeface="Arial"/>
                        </a:rPr>
                        <a:t>$122,270</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Website</a:t>
                      </a:r>
                    </a:p>
                  </a:txBody>
                  <a:tcPr marL="73152" marR="73152" marT="27432" marB="27432" anchor="ctr">
                    <a:solidFill>
                      <a:srgbClr val="FFFFFF"/>
                    </a:solidFill>
                  </a:tcPr>
                </a:tc>
                <a:tc>
                  <a:txBody>
                    <a:bodyPr wrap="square"/>
                    <a:lstStyle/>
                    <a:p>
                      <a:pPr algn="l"/>
                      <a:r>
                        <a:rPr sz="1600" b="0">
                          <a:solidFill>
                            <a:srgbClr val="14213D"/>
                          </a:solidFill>
                          <a:latin typeface="Arial"/>
                        </a:rPr>
                        <a:t>Other</a:t>
                      </a:r>
                    </a:p>
                  </a:txBody>
                  <a:tcPr marL="73152" marR="73152" marT="27432" marB="27432" anchor="ctr">
                    <a:solidFill>
                      <a:srgbClr val="FFFFFF"/>
                    </a:solidFill>
                  </a:tcPr>
                </a:tc>
                <a:tc>
                  <a:txBody>
                    <a:bodyPr wrap="square"/>
                    <a:lstStyle/>
                    <a:p>
                      <a:pPr algn="r"/>
                      <a:r>
                        <a:rPr sz="1600" b="0">
                          <a:solidFill>
                            <a:srgbClr val="14213D"/>
                          </a:solidFill>
                          <a:latin typeface="Arial"/>
                        </a:rPr>
                        <a:t>183</a:t>
                      </a:r>
                    </a:p>
                  </a:txBody>
                  <a:tcPr marL="73152" marR="73152" marT="27432" marB="27432" anchor="ctr">
                    <a:solidFill>
                      <a:srgbClr val="FFFFFF"/>
                    </a:solidFill>
                  </a:tcPr>
                </a:tc>
                <a:tc>
                  <a:txBody>
                    <a:bodyPr wrap="square"/>
                    <a:lstStyle/>
                    <a:p>
                      <a:pPr algn="r"/>
                      <a:r>
                        <a:rPr sz="1600" b="0">
                          <a:solidFill>
                            <a:srgbClr val="14213D"/>
                          </a:solidFill>
                          <a:latin typeface="Arial"/>
                        </a:rPr>
                        <a:t>67</a:t>
                      </a:r>
                    </a:p>
                  </a:txBody>
                  <a:tcPr marL="73152" marR="73152" marT="27432" marB="27432" anchor="ctr">
                    <a:solidFill>
                      <a:srgbClr val="FFFFFF"/>
                    </a:solidFill>
                  </a:tcPr>
                </a:tc>
                <a:tc>
                  <a:txBody>
                    <a:bodyPr wrap="square"/>
                    <a:lstStyle/>
                    <a:p>
                      <a:pPr algn="r"/>
                      <a:r>
                        <a:rPr sz="1600" b="0">
                          <a:solidFill>
                            <a:srgbClr val="14213D"/>
                          </a:solidFill>
                          <a:latin typeface="Arial"/>
                        </a:rPr>
                        <a:t>37%</a:t>
                      </a:r>
                    </a:p>
                  </a:txBody>
                  <a:tcPr marL="73152" marR="73152" marT="27432" marB="27432" anchor="ctr">
                    <a:solidFill>
                      <a:srgbClr val="FFFFFF"/>
                    </a:solidFill>
                  </a:tcPr>
                </a:tc>
                <a:tc>
                  <a:txBody>
                    <a:bodyPr wrap="square"/>
                    <a:lstStyle/>
                    <a:p>
                      <a:pPr algn="r"/>
                      <a:r>
                        <a:rPr sz="1600" b="0">
                          <a:solidFill>
                            <a:srgbClr val="14213D"/>
                          </a:solidFill>
                          <a:latin typeface="Arial"/>
                        </a:rPr>
                        <a:t>$105,282</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Myrtle Beach GBP | Search</a:t>
                      </a:r>
                    </a:p>
                  </a:txBody>
                  <a:tcPr marL="73152" marR="73152" marT="27432" marB="27432" anchor="ctr">
                    <a:solidFill>
                      <a:srgbClr val="F7F6F2"/>
                    </a:solidFill>
                  </a:tcPr>
                </a:tc>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297</a:t>
                      </a:r>
                    </a:p>
                  </a:txBody>
                  <a:tcPr marL="73152" marR="73152" marT="27432" marB="27432" anchor="ctr">
                    <a:solidFill>
                      <a:srgbClr val="F7F6F2"/>
                    </a:solidFill>
                  </a:tcPr>
                </a:tc>
                <a:tc>
                  <a:txBody>
                    <a:bodyPr wrap="square"/>
                    <a:lstStyle/>
                    <a:p>
                      <a:pPr algn="r"/>
                      <a:r>
                        <a:rPr sz="1600" b="0">
                          <a:solidFill>
                            <a:srgbClr val="14213D"/>
                          </a:solidFill>
                          <a:latin typeface="Arial"/>
                        </a:rPr>
                        <a:t>71</a:t>
                      </a:r>
                    </a:p>
                  </a:txBody>
                  <a:tcPr marL="73152" marR="73152" marT="27432" marB="27432" anchor="ctr">
                    <a:solidFill>
                      <a:srgbClr val="F7F6F2"/>
                    </a:solidFill>
                  </a:tcPr>
                </a:tc>
                <a:tc>
                  <a:txBody>
                    <a:bodyPr wrap="square"/>
                    <a:lstStyle/>
                    <a:p>
                      <a:pPr algn="r"/>
                      <a:r>
                        <a:rPr sz="1600" b="0">
                          <a:solidFill>
                            <a:srgbClr val="14213D"/>
                          </a:solidFill>
                          <a:latin typeface="Arial"/>
                        </a:rPr>
                        <a:t>24%</a:t>
                      </a:r>
                    </a:p>
                  </a:txBody>
                  <a:tcPr marL="73152" marR="73152" marT="27432" marB="27432" anchor="ctr">
                    <a:solidFill>
                      <a:srgbClr val="F7F6F2"/>
                    </a:solidFill>
                  </a:tcPr>
                </a:tc>
                <a:tc>
                  <a:txBody>
                    <a:bodyPr wrap="square"/>
                    <a:lstStyle/>
                    <a:p>
                      <a:pPr algn="r"/>
                      <a:r>
                        <a:rPr sz="1600" b="0">
                          <a:solidFill>
                            <a:srgbClr val="14213D"/>
                          </a:solidFill>
                          <a:latin typeface="Arial"/>
                        </a:rPr>
                        <a:t>$90,343</a:t>
                      </a:r>
                    </a:p>
                  </a:txBody>
                  <a:tcPr marL="73152" marR="73152" marT="27432" marB="27432" anchor="ctr">
                    <a:solidFill>
                      <a:srgbClr val="F7F6F2"/>
                    </a:solidFill>
                  </a:tcPr>
                </a:tc>
              </a:tr>
              <a:tr h="475488">
                <a:tc>
                  <a:txBody>
                    <a:bodyPr wrap="square"/>
                    <a:lstStyle/>
                    <a:p>
                      <a:pPr algn="l"/>
                      <a:r>
                        <a:rPr sz="1600" b="0">
                          <a:solidFill>
                            <a:srgbClr val="14213D"/>
                          </a:solidFill>
                          <a:latin typeface="Arial"/>
                        </a:rPr>
                        <a:t>Google Organic</a:t>
                      </a:r>
                    </a:p>
                  </a:txBody>
                  <a:tcPr marL="73152" marR="73152" marT="27432" marB="27432" anchor="ctr">
                    <a:solidFill>
                      <a:srgbClr val="FFFFFF"/>
                    </a:solidFill>
                  </a:tcPr>
                </a:tc>
                <a:tc>
                  <a:txBody>
                    <a:bodyPr wrap="square"/>
                    <a:lstStyle/>
                    <a:p>
                      <a:pPr algn="l"/>
                      <a:r>
                        <a:rPr sz="1600" b="0">
                          <a:solidFill>
                            <a:srgbClr val="14213D"/>
                          </a:solidFill>
                          <a:latin typeface="Arial"/>
                        </a:rPr>
                        <a:t>Organic</a:t>
                      </a:r>
                    </a:p>
                  </a:txBody>
                  <a:tcPr marL="73152" marR="73152" marT="27432" marB="27432" anchor="ctr">
                    <a:solidFill>
                      <a:srgbClr val="FFFFFF"/>
                    </a:solidFill>
                  </a:tcPr>
                </a:tc>
                <a:tc>
                  <a:txBody>
                    <a:bodyPr wrap="square"/>
                    <a:lstStyle/>
                    <a:p>
                      <a:pPr algn="r"/>
                      <a:r>
                        <a:rPr sz="1600" b="0">
                          <a:solidFill>
                            <a:srgbClr val="14213D"/>
                          </a:solidFill>
                          <a:latin typeface="Arial"/>
                        </a:rPr>
                        <a:t>113</a:t>
                      </a:r>
                    </a:p>
                  </a:txBody>
                  <a:tcPr marL="73152" marR="73152" marT="27432" marB="27432" anchor="ctr">
                    <a:solidFill>
                      <a:srgbClr val="FFFFFF"/>
                    </a:solidFill>
                  </a:tcPr>
                </a:tc>
                <a:tc>
                  <a:txBody>
                    <a:bodyPr wrap="square"/>
                    <a:lstStyle/>
                    <a:p>
                      <a:pPr algn="r"/>
                      <a:r>
                        <a:rPr sz="1600" b="0">
                          <a:solidFill>
                            <a:srgbClr val="14213D"/>
                          </a:solidFill>
                          <a:latin typeface="Arial"/>
                        </a:rPr>
                        <a:t>42</a:t>
                      </a:r>
                    </a:p>
                  </a:txBody>
                  <a:tcPr marL="73152" marR="73152" marT="27432" marB="27432" anchor="ctr">
                    <a:solidFill>
                      <a:srgbClr val="FFFFFF"/>
                    </a:solidFill>
                  </a:tcPr>
                </a:tc>
                <a:tc>
                  <a:txBody>
                    <a:bodyPr wrap="square"/>
                    <a:lstStyle/>
                    <a:p>
                      <a:pPr algn="r"/>
                      <a:r>
                        <a:rPr sz="1600" b="0">
                          <a:solidFill>
                            <a:srgbClr val="14213D"/>
                          </a:solidFill>
                          <a:latin typeface="Arial"/>
                        </a:rPr>
                        <a:t>37%</a:t>
                      </a:r>
                    </a:p>
                  </a:txBody>
                  <a:tcPr marL="73152" marR="73152" marT="27432" marB="27432" anchor="ctr">
                    <a:solidFill>
                      <a:srgbClr val="FFFFFF"/>
                    </a:solidFill>
                  </a:tcPr>
                </a:tc>
                <a:tc>
                  <a:txBody>
                    <a:bodyPr wrap="square"/>
                    <a:lstStyle/>
                    <a:p>
                      <a:pPr algn="r"/>
                      <a:r>
                        <a:rPr sz="1600" b="0">
                          <a:solidFill>
                            <a:srgbClr val="14213D"/>
                          </a:solidFill>
                          <a:latin typeface="Arial"/>
                        </a:rPr>
                        <a:t>$71,096</a:t>
                      </a:r>
                    </a:p>
                  </a:txBody>
                  <a:tcPr marL="73152" marR="73152" marT="27432" marB="27432" anchor="ctr">
                    <a:solidFill>
                      <a:srgbClr val="FFFFFF"/>
                    </a:solidFill>
                  </a:tcPr>
                </a:tc>
              </a:tr>
              <a:tr h="475488">
                <a:tc>
                  <a:txBody>
                    <a:bodyPr wrap="square"/>
                    <a:lstStyle/>
                    <a:p>
                      <a:pPr algn="l"/>
                      <a:r>
                        <a:rPr sz="1600" b="0">
                          <a:solidFill>
                            <a:srgbClr val="14213D"/>
                          </a:solidFill>
                          <a:latin typeface="Arial"/>
                        </a:rPr>
                        <a:t>(no campaign)</a:t>
                      </a:r>
                    </a:p>
                  </a:txBody>
                  <a:tcPr marL="73152" marR="73152" marT="27432" marB="27432" anchor="ctr">
                    <a:solidFill>
                      <a:srgbClr val="F7F6F2"/>
                    </a:solidFill>
                  </a:tcPr>
                </a:tc>
                <a:tc>
                  <a:txBody>
                    <a:bodyPr wrap="square"/>
                    <a:lstStyle/>
                    <a:p>
                      <a:pPr algn="l"/>
                      <a:r>
                        <a:rPr sz="1600" b="0">
                          <a:solidFill>
                            <a:srgbClr val="14213D"/>
                          </a:solidFill>
                          <a:latin typeface="Arial"/>
                        </a:rPr>
                        <a:t>Organic</a:t>
                      </a:r>
                    </a:p>
                  </a:txBody>
                  <a:tcPr marL="73152" marR="73152" marT="27432" marB="27432" anchor="ctr">
                    <a:solidFill>
                      <a:srgbClr val="F7F6F2"/>
                    </a:solidFill>
                  </a:tcPr>
                </a:tc>
                <a:tc>
                  <a:txBody>
                    <a:bodyPr wrap="square"/>
                    <a:lstStyle/>
                    <a:p>
                      <a:pPr algn="r"/>
                      <a:r>
                        <a:rPr sz="1600" b="0">
                          <a:solidFill>
                            <a:srgbClr val="14213D"/>
                          </a:solidFill>
                          <a:latin typeface="Arial"/>
                        </a:rPr>
                        <a:t>59</a:t>
                      </a:r>
                    </a:p>
                  </a:txBody>
                  <a:tcPr marL="73152" marR="73152" marT="27432" marB="27432" anchor="ctr">
                    <a:solidFill>
                      <a:srgbClr val="F7F6F2"/>
                    </a:solidFill>
                  </a:tcPr>
                </a:tc>
                <a:tc>
                  <a:txBody>
                    <a:bodyPr wrap="square"/>
                    <a:lstStyle/>
                    <a:p>
                      <a:pPr algn="r"/>
                      <a:r>
                        <a:rPr sz="1600" b="0">
                          <a:solidFill>
                            <a:srgbClr val="14213D"/>
                          </a:solidFill>
                          <a:latin typeface="Arial"/>
                        </a:rPr>
                        <a:t>30</a:t>
                      </a:r>
                    </a:p>
                  </a:txBody>
                  <a:tcPr marL="73152" marR="73152" marT="27432" marB="27432" anchor="ctr">
                    <a:solidFill>
                      <a:srgbClr val="F7F6F2"/>
                    </a:solidFill>
                  </a:tcPr>
                </a:tc>
                <a:tc>
                  <a:txBody>
                    <a:bodyPr wrap="square"/>
                    <a:lstStyle/>
                    <a:p>
                      <a:pPr algn="r"/>
                      <a:r>
                        <a:rPr sz="1600" b="0">
                          <a:solidFill>
                            <a:srgbClr val="14213D"/>
                          </a:solidFill>
                          <a:latin typeface="Arial"/>
                        </a:rPr>
                        <a:t>51%</a:t>
                      </a:r>
                    </a:p>
                  </a:txBody>
                  <a:tcPr marL="73152" marR="73152" marT="27432" marB="27432" anchor="ctr">
                    <a:solidFill>
                      <a:srgbClr val="F7F6F2"/>
                    </a:solidFill>
                  </a:tcPr>
                </a:tc>
                <a:tc>
                  <a:txBody>
                    <a:bodyPr wrap="square"/>
                    <a:lstStyle/>
                    <a:p>
                      <a:pPr algn="r"/>
                      <a:r>
                        <a:rPr sz="1600" b="0">
                          <a:solidFill>
                            <a:srgbClr val="14213D"/>
                          </a:solidFill>
                          <a:latin typeface="Arial"/>
                        </a:rPr>
                        <a:t>$54,291</a:t>
                      </a:r>
                    </a:p>
                  </a:txBody>
                  <a:tcPr marL="73152" marR="73152" marT="27432" marB="27432" anchor="ctr">
                    <a:solidFill>
                      <a:srgbClr val="F7F6F2"/>
                    </a:solidFill>
                  </a:tcPr>
                </a:tc>
              </a:tr>
            </a:tbl>
          </a:graphicData>
        </a:graphic>
      </p:graphicFrame>
      <p:sp>
        <p:nvSpPr>
          <p:cNvPr id="6" name="GBP note"/>
          <p:cNvSpPr txBox="1"/>
          <p:nvPr/>
        </p:nvSpPr>
        <p:spPr>
          <a:xfrm>
            <a:off x="548640" y="4937760"/>
            <a:ext cx="11094415" cy="640080"/>
          </a:xfrm>
          <a:prstGeom prst="rect">
            <a:avLst/>
          </a:prstGeom>
          <a:noFill/>
        </p:spPr>
        <p:txBody>
          <a:bodyPr wrap="square" anchor="t" lIns="0" rIns="0" tIns="0" bIns="0">
            <a:spAutoFit/>
          </a:bodyPr>
          <a:lstStyle/>
          <a:p>
            <a:pPr algn="l"/>
            <a:r>
              <a:rPr sz="1500" b="0">
                <a:solidFill>
                  <a:srgbClr val="4A5568"/>
                </a:solidFill>
                <a:latin typeface="Arial"/>
              </a:rPr>
              <a:t>Charleston GBP brings in 2.4x the leads of Myrtle Beach GBP but about the same number of booked jobs. Worth checking how those leads are handled.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1–13</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10</a:t>
            </a:r>
          </a:p>
        </p:txBody>
      </p:sp>
      <p:graphicFrame>
        <p:nvGraphicFramePr>
          <p:cNvPr id="5" name="Ranking 1-13"/>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l"/>
                      <a:r>
                        <a:rPr sz="1200" b="0">
                          <a:solidFill>
                            <a:srgbClr val="14213D"/>
                          </a:solidFill>
                          <a:latin typeface="Arial"/>
                        </a:rPr>
                        <a:t>Charleston GBP | Search</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707</a:t>
                      </a:r>
                    </a:p>
                  </a:txBody>
                  <a:tcPr marL="73152" marR="73152" marT="27432" marB="27432" anchor="ctr">
                    <a:solidFill>
                      <a:srgbClr val="FFFFFF"/>
                    </a:solidFill>
                  </a:tcPr>
                </a:tc>
                <a:tc>
                  <a:txBody>
                    <a:bodyPr wrap="square"/>
                    <a:lstStyle/>
                    <a:p>
                      <a:pPr algn="r"/>
                      <a:r>
                        <a:rPr sz="1200" b="0">
                          <a:solidFill>
                            <a:srgbClr val="14213D"/>
                          </a:solidFill>
                          <a:latin typeface="Arial"/>
                        </a:rPr>
                        <a:t>74</a:t>
                      </a:r>
                    </a:p>
                  </a:txBody>
                  <a:tcPr marL="73152" marR="73152" marT="27432" marB="27432" anchor="ctr">
                    <a:solidFill>
                      <a:srgbClr val="FFFFFF"/>
                    </a:solidFill>
                  </a:tcPr>
                </a:tc>
                <a:tc>
                  <a:txBody>
                    <a:bodyPr wrap="square"/>
                    <a:lstStyle/>
                    <a:p>
                      <a:pPr algn="r"/>
                      <a:r>
                        <a:rPr sz="1200" b="0">
                          <a:solidFill>
                            <a:srgbClr val="14213D"/>
                          </a:solidFill>
                          <a:latin typeface="Arial"/>
                        </a:rPr>
                        <a:t>$132,486</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l"/>
                      <a:r>
                        <a:rPr sz="1200" b="0">
                          <a:solidFill>
                            <a:srgbClr val="14213D"/>
                          </a:solidFill>
                          <a:latin typeface="Arial"/>
                        </a:rPr>
                        <a:t>Direct Web Traffic</a:t>
                      </a:r>
                    </a:p>
                  </a:txBody>
                  <a:tcPr marL="73152" marR="73152" marT="27432" marB="27432" anchor="ctr">
                    <a:solidFill>
                      <a:srgbClr val="F7F6F2"/>
                    </a:solidFill>
                  </a:tcPr>
                </a:tc>
                <a:tc>
                  <a:txBody>
                    <a:bodyPr wrap="square"/>
                    <a:lstStyle/>
                    <a:p>
                      <a:pPr algn="l"/>
                      <a:r>
                        <a:rPr sz="1200" b="0">
                          <a:solidFill>
                            <a:srgbClr val="14213D"/>
                          </a:solidFill>
                          <a:latin typeface="Arial"/>
                        </a:rPr>
                        <a:t>Direct</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112</a:t>
                      </a:r>
                    </a:p>
                  </a:txBody>
                  <a:tcPr marL="73152" marR="73152" marT="27432" marB="27432" anchor="ctr">
                    <a:solidFill>
                      <a:srgbClr val="F7F6F2"/>
                    </a:solidFill>
                  </a:tcPr>
                </a:tc>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r"/>
                      <a:r>
                        <a:rPr sz="1200" b="0">
                          <a:solidFill>
                            <a:srgbClr val="14213D"/>
                          </a:solidFill>
                          <a:latin typeface="Arial"/>
                        </a:rPr>
                        <a:t>$122,270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l"/>
                      <a:r>
                        <a:rPr sz="1200" b="0">
                          <a:solidFill>
                            <a:srgbClr val="14213D"/>
                          </a:solidFill>
                          <a:latin typeface="Arial"/>
                        </a:rPr>
                        <a:t>Website</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183</a:t>
                      </a:r>
                    </a:p>
                  </a:txBody>
                  <a:tcPr marL="73152" marR="73152" marT="27432" marB="27432" anchor="ctr">
                    <a:solidFill>
                      <a:srgbClr val="FFFFFF"/>
                    </a:solidFill>
                  </a:tcPr>
                </a:tc>
                <a:tc>
                  <a:txBody>
                    <a:bodyPr wrap="square"/>
                    <a:lstStyle/>
                    <a:p>
                      <a:pPr algn="r"/>
                      <a:r>
                        <a:rPr sz="1200" b="0">
                          <a:solidFill>
                            <a:srgbClr val="14213D"/>
                          </a:solidFill>
                          <a:latin typeface="Arial"/>
                        </a:rPr>
                        <a:t>67</a:t>
                      </a:r>
                    </a:p>
                  </a:txBody>
                  <a:tcPr marL="73152" marR="73152" marT="27432" marB="27432" anchor="ctr">
                    <a:solidFill>
                      <a:srgbClr val="FFFFFF"/>
                    </a:solidFill>
                  </a:tcPr>
                </a:tc>
                <a:tc>
                  <a:txBody>
                    <a:bodyPr wrap="square"/>
                    <a:lstStyle/>
                    <a:p>
                      <a:pPr algn="r"/>
                      <a:r>
                        <a:rPr sz="1200" b="0">
                          <a:solidFill>
                            <a:srgbClr val="14213D"/>
                          </a:solidFill>
                          <a:latin typeface="Arial"/>
                        </a:rPr>
                        <a:t>$105,282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l"/>
                      <a:r>
                        <a:rPr sz="1200" b="0">
                          <a:solidFill>
                            <a:srgbClr val="14213D"/>
                          </a:solidFill>
                          <a:latin typeface="Arial"/>
                        </a:rPr>
                        <a:t>Myrtle Beach GBP | Search</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297</a:t>
                      </a:r>
                    </a:p>
                  </a:txBody>
                  <a:tcPr marL="73152" marR="73152" marT="27432" marB="27432" anchor="ctr">
                    <a:solidFill>
                      <a:srgbClr val="F7F6F2"/>
                    </a:solidFill>
                  </a:tcPr>
                </a:tc>
                <a:tc>
                  <a:txBody>
                    <a:bodyPr wrap="square"/>
                    <a:lstStyle/>
                    <a:p>
                      <a:pPr algn="r"/>
                      <a:r>
                        <a:rPr sz="1200" b="0">
                          <a:solidFill>
                            <a:srgbClr val="14213D"/>
                          </a:solidFill>
                          <a:latin typeface="Arial"/>
                        </a:rPr>
                        <a:t>71</a:t>
                      </a:r>
                    </a:p>
                  </a:txBody>
                  <a:tcPr marL="73152" marR="73152" marT="27432" marB="27432" anchor="ctr">
                    <a:solidFill>
                      <a:srgbClr val="F7F6F2"/>
                    </a:solidFill>
                  </a:tcPr>
                </a:tc>
                <a:tc>
                  <a:txBody>
                    <a:bodyPr wrap="square"/>
                    <a:lstStyle/>
                    <a:p>
                      <a:pPr algn="r"/>
                      <a:r>
                        <a:rPr sz="1200" b="0">
                          <a:solidFill>
                            <a:srgbClr val="14213D"/>
                          </a:solidFill>
                          <a:latin typeface="Arial"/>
                        </a:rPr>
                        <a:t>$90,343</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l"/>
                      <a:r>
                        <a:rPr sz="1200" b="0">
                          <a:solidFill>
                            <a:srgbClr val="14213D"/>
                          </a:solidFill>
                          <a:latin typeface="Arial"/>
                        </a:rPr>
                        <a:t>(LSA) Coastal Air Plus (HVAC)</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$28,093</a:t>
                      </a:r>
                    </a:p>
                  </a:txBody>
                  <a:tcPr marL="73152" marR="73152" marT="27432" marB="27432" anchor="ctr">
                    <a:solidFill>
                      <a:srgbClr val="FFFFFF"/>
                    </a:solidFill>
                  </a:tcPr>
                </a:tc>
                <a:tc>
                  <a:txBody>
                    <a:bodyPr wrap="square"/>
                    <a:lstStyle/>
                    <a:p>
                      <a:pPr algn="r"/>
                      <a:r>
                        <a:rPr sz="1200" b="0">
                          <a:solidFill>
                            <a:srgbClr val="14213D"/>
                          </a:solidFill>
                          <a:latin typeface="Arial"/>
                        </a:rPr>
                        <a:t>372</a:t>
                      </a:r>
                    </a:p>
                  </a:txBody>
                  <a:tcPr marL="73152" marR="73152" marT="27432" marB="27432" anchor="ctr">
                    <a:solidFill>
                      <a:srgbClr val="FFFFFF"/>
                    </a:solidFill>
                  </a:tcPr>
                </a:tc>
                <a:tc>
                  <a:txBody>
                    <a:bodyPr wrap="square"/>
                    <a:lstStyle/>
                    <a:p>
                      <a:pPr algn="r"/>
                      <a:r>
                        <a:rPr sz="1200" b="0">
                          <a:solidFill>
                            <a:srgbClr val="14213D"/>
                          </a:solidFill>
                          <a:latin typeface="Arial"/>
                        </a:rPr>
                        <a:t>138</a:t>
                      </a:r>
                    </a:p>
                  </a:txBody>
                  <a:tcPr marL="73152" marR="73152" marT="27432" marB="27432" anchor="ctr">
                    <a:solidFill>
                      <a:srgbClr val="FFFFFF"/>
                    </a:solidFill>
                  </a:tcPr>
                </a:tc>
                <a:tc>
                  <a:txBody>
                    <a:bodyPr wrap="square"/>
                    <a:lstStyle/>
                    <a:p>
                      <a:pPr algn="r"/>
                      <a:r>
                        <a:rPr sz="1200" b="0">
                          <a:solidFill>
                            <a:srgbClr val="14213D"/>
                          </a:solidFill>
                          <a:latin typeface="Arial"/>
                        </a:rPr>
                        <a:t>$88,245</a:t>
                      </a:r>
                    </a:p>
                  </a:txBody>
                  <a:tcPr marL="73152" marR="73152" marT="27432" marB="27432" anchor="ctr">
                    <a:solidFill>
                      <a:srgbClr val="FFFFFF"/>
                    </a:solidFill>
                  </a:tcPr>
                </a:tc>
                <a:tc>
                  <a:txBody>
                    <a:bodyPr wrap="square"/>
                    <a:lstStyle/>
                    <a:p>
                      <a:pPr algn="r"/>
                      <a:r>
                        <a:rPr sz="1200" b="0">
                          <a:solidFill>
                            <a:srgbClr val="14213D"/>
                          </a:solidFill>
                          <a:latin typeface="Arial"/>
                        </a:rPr>
                        <a:t>3.14x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l"/>
                      <a:r>
                        <a:rPr sz="1200" b="0">
                          <a:solidFill>
                            <a:srgbClr val="14213D"/>
                          </a:solidFill>
                          <a:latin typeface="Arial"/>
                        </a:rPr>
                        <a:t>Google Organic</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113</a:t>
                      </a:r>
                    </a:p>
                  </a:txBody>
                  <a:tcPr marL="73152" marR="73152" marT="27432" marB="27432" anchor="ctr">
                    <a:solidFill>
                      <a:srgbClr val="F7F6F2"/>
                    </a:solidFill>
                  </a:tcPr>
                </a:tc>
                <a:tc>
                  <a:txBody>
                    <a:bodyPr wrap="square"/>
                    <a:lstStyle/>
                    <a:p>
                      <a:pPr algn="r"/>
                      <a:r>
                        <a:rPr sz="1200" b="0">
                          <a:solidFill>
                            <a:srgbClr val="14213D"/>
                          </a:solidFill>
                          <a:latin typeface="Arial"/>
                        </a:rPr>
                        <a:t>42</a:t>
                      </a:r>
                    </a:p>
                  </a:txBody>
                  <a:tcPr marL="73152" marR="73152" marT="27432" marB="27432" anchor="ctr">
                    <a:solidFill>
                      <a:srgbClr val="F7F6F2"/>
                    </a:solidFill>
                  </a:tcPr>
                </a:tc>
                <a:tc>
                  <a:txBody>
                    <a:bodyPr wrap="square"/>
                    <a:lstStyle/>
                    <a:p>
                      <a:pPr algn="r"/>
                      <a:r>
                        <a:rPr sz="1200" b="0">
                          <a:solidFill>
                            <a:srgbClr val="14213D"/>
                          </a:solidFill>
                          <a:latin typeface="Arial"/>
                        </a:rPr>
                        <a:t>$71,096</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l"/>
                      <a:r>
                        <a:rPr sz="1200" b="0">
                          <a:solidFill>
                            <a:srgbClr val="14213D"/>
                          </a:solidFill>
                          <a:latin typeface="Arial"/>
                        </a:rPr>
                        <a:t>(LSA) Coastal Air Plus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$5,864</a:t>
                      </a:r>
                    </a:p>
                  </a:txBody>
                  <a:tcPr marL="73152" marR="73152" marT="27432" marB="27432" anchor="ctr">
                    <a:solidFill>
                      <a:srgbClr val="FFFFFF"/>
                    </a:solidFill>
                  </a:tcPr>
                </a:tc>
                <a:tc>
                  <a:txBody>
                    <a:bodyPr wrap="square"/>
                    <a:lstStyle/>
                    <a:p>
                      <a:pPr algn="r"/>
                      <a:r>
                        <a:rPr sz="1200" b="0">
                          <a:solidFill>
                            <a:srgbClr val="14213D"/>
                          </a:solidFill>
                          <a:latin typeface="Arial"/>
                        </a:rPr>
                        <a:t>131</a:t>
                      </a:r>
                    </a:p>
                  </a:txBody>
                  <a:tcPr marL="73152" marR="73152" marT="27432" marB="27432" anchor="ctr">
                    <a:solidFill>
                      <a:srgbClr val="FFFFFF"/>
                    </a:solidFill>
                  </a:tcPr>
                </a:tc>
                <a:tc>
                  <a:txBody>
                    <a:bodyPr wrap="square"/>
                    <a:lstStyle/>
                    <a:p>
                      <a:pPr algn="r"/>
                      <a:r>
                        <a:rPr sz="1200" b="0">
                          <a:solidFill>
                            <a:srgbClr val="14213D"/>
                          </a:solidFill>
                          <a:latin typeface="Arial"/>
                        </a:rPr>
                        <a:t>55</a:t>
                      </a:r>
                    </a:p>
                  </a:txBody>
                  <a:tcPr marL="73152" marR="73152" marT="27432" marB="27432" anchor="ctr">
                    <a:solidFill>
                      <a:srgbClr val="FFFFFF"/>
                    </a:solidFill>
                  </a:tcPr>
                </a:tc>
                <a:tc>
                  <a:txBody>
                    <a:bodyPr wrap="square"/>
                    <a:lstStyle/>
                    <a:p>
                      <a:pPr algn="r"/>
                      <a:r>
                        <a:rPr sz="1200" b="0">
                          <a:solidFill>
                            <a:srgbClr val="14213D"/>
                          </a:solidFill>
                          <a:latin typeface="Arial"/>
                        </a:rPr>
                        <a:t>$66,123</a:t>
                      </a:r>
                    </a:p>
                  </a:txBody>
                  <a:tcPr marL="73152" marR="73152" marT="27432" marB="27432" anchor="ctr">
                    <a:solidFill>
                      <a:srgbClr val="FFFFFF"/>
                    </a:solidFill>
                  </a:tcPr>
                </a:tc>
                <a:tc>
                  <a:txBody>
                    <a:bodyPr wrap="square"/>
                    <a:lstStyle/>
                    <a:p>
                      <a:pPr algn="r"/>
                      <a:r>
                        <a:rPr sz="1200" b="0">
                          <a:solidFill>
                            <a:srgbClr val="14213D"/>
                          </a:solidFill>
                          <a:latin typeface="Arial"/>
                        </a:rPr>
                        <a:t>11.28x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8</a:t>
                      </a:r>
                    </a:p>
                  </a:txBody>
                  <a:tcPr marL="73152" marR="73152" marT="27432" marB="27432" anchor="ctr">
                    <a:solidFill>
                      <a:srgbClr val="F7F6F2"/>
                    </a:solidFill>
                  </a:tcPr>
                </a:tc>
                <a:tc>
                  <a:txBody>
                    <a:bodyPr wrap="square"/>
                    <a:lstStyle/>
                    <a:p>
                      <a:pPr algn="l"/>
                      <a:r>
                        <a:rPr sz="1200" b="0">
                          <a:solidFill>
                            <a:srgbClr val="14213D"/>
                          </a:solidFill>
                          <a:latin typeface="Arial"/>
                        </a:rPr>
                        <a:t>PPC_Brand_Core_Zip-Code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$3,090</a:t>
                      </a:r>
                    </a:p>
                  </a:txBody>
                  <a:tcPr marL="73152" marR="73152" marT="27432" marB="27432" anchor="ctr">
                    <a:solidFill>
                      <a:srgbClr val="F7F6F2"/>
                    </a:solidFill>
                  </a:tcPr>
                </a:tc>
                <a:tc>
                  <a:txBody>
                    <a:bodyPr wrap="square"/>
                    <a:lstStyle/>
                    <a:p>
                      <a:pPr algn="r"/>
                      <a:r>
                        <a:rPr sz="1200" b="0">
                          <a:solidFill>
                            <a:srgbClr val="14213D"/>
                          </a:solidFill>
                          <a:latin typeface="Arial"/>
                        </a:rPr>
                        <a:t>150</a:t>
                      </a:r>
                    </a:p>
                  </a:txBody>
                  <a:tcPr marL="73152" marR="73152" marT="27432" marB="27432" anchor="ctr">
                    <a:solidFill>
                      <a:srgbClr val="F7F6F2"/>
                    </a:solidFill>
                  </a:tcPr>
                </a:tc>
                <a:tc>
                  <a:txBody>
                    <a:bodyPr wrap="square"/>
                    <a:lstStyle/>
                    <a:p>
                      <a:pPr algn="r"/>
                      <a:r>
                        <a:rPr sz="1200" b="0">
                          <a:solidFill>
                            <a:srgbClr val="14213D"/>
                          </a:solidFill>
                          <a:latin typeface="Arial"/>
                        </a:rPr>
                        <a:t>64</a:t>
                      </a:r>
                    </a:p>
                  </a:txBody>
                  <a:tcPr marL="73152" marR="73152" marT="27432" marB="27432" anchor="ctr">
                    <a:solidFill>
                      <a:srgbClr val="F7F6F2"/>
                    </a:solidFill>
                  </a:tcPr>
                </a:tc>
                <a:tc>
                  <a:txBody>
                    <a:bodyPr wrap="square"/>
                    <a:lstStyle/>
                    <a:p>
                      <a:pPr algn="r"/>
                      <a:r>
                        <a:rPr sz="1200" b="0">
                          <a:solidFill>
                            <a:srgbClr val="14213D"/>
                          </a:solidFill>
                          <a:latin typeface="Arial"/>
                        </a:rPr>
                        <a:t>$54,783</a:t>
                      </a:r>
                    </a:p>
                  </a:txBody>
                  <a:tcPr marL="73152" marR="73152" marT="27432" marB="27432" anchor="ctr">
                    <a:solidFill>
                      <a:srgbClr val="F7F6F2"/>
                    </a:solidFill>
                  </a:tcPr>
                </a:tc>
                <a:tc>
                  <a:txBody>
                    <a:bodyPr wrap="square"/>
                    <a:lstStyle/>
                    <a:p>
                      <a:pPr algn="r"/>
                      <a:r>
                        <a:rPr sz="1200" b="0">
                          <a:solidFill>
                            <a:srgbClr val="14213D"/>
                          </a:solidFill>
                          <a:latin typeface="Arial"/>
                        </a:rPr>
                        <a:t>17.73x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59</a:t>
                      </a:r>
                    </a:p>
                  </a:txBody>
                  <a:tcPr marL="73152" marR="73152" marT="27432" marB="27432" anchor="ctr">
                    <a:solidFill>
                      <a:srgbClr val="FFFFFF"/>
                    </a:solidFill>
                  </a:tcPr>
                </a:tc>
                <a:tc>
                  <a:txBody>
                    <a:bodyPr wrap="square"/>
                    <a:lstStyle/>
                    <a:p>
                      <a:pPr algn="r"/>
                      <a:r>
                        <a:rPr sz="1200" b="0">
                          <a:solidFill>
                            <a:srgbClr val="14213D"/>
                          </a:solidFill>
                          <a:latin typeface="Arial"/>
                        </a:rPr>
                        <a:t>30</a:t>
                      </a:r>
                    </a:p>
                  </a:txBody>
                  <a:tcPr marL="73152" marR="73152" marT="27432" marB="27432" anchor="ctr">
                    <a:solidFill>
                      <a:srgbClr val="FFFFFF"/>
                    </a:solidFill>
                  </a:tcPr>
                </a:tc>
                <a:tc>
                  <a:txBody>
                    <a:bodyPr wrap="square"/>
                    <a:lstStyle/>
                    <a:p>
                      <a:pPr algn="r"/>
                      <a:r>
                        <a:rPr sz="1200" b="0">
                          <a:solidFill>
                            <a:srgbClr val="14213D"/>
                          </a:solidFill>
                          <a:latin typeface="Arial"/>
                        </a:rPr>
                        <a:t>$54,291</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l"/>
                      <a:r>
                        <a:rPr sz="1200" b="0">
                          <a:solidFill>
                            <a:srgbClr val="14213D"/>
                          </a:solidFill>
                          <a:latin typeface="Arial"/>
                        </a:rPr>
                        <a:t>PPC_Brand_Core_Myrtle-Beach</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$3,946</a:t>
                      </a:r>
                    </a:p>
                  </a:txBody>
                  <a:tcPr marL="73152" marR="73152" marT="27432" marB="27432" anchor="ctr">
                    <a:solidFill>
                      <a:srgbClr val="F7F6F2"/>
                    </a:solidFill>
                  </a:tcPr>
                </a:tc>
                <a:tc>
                  <a:txBody>
                    <a:bodyPr wrap="square"/>
                    <a:lstStyle/>
                    <a:p>
                      <a:pPr algn="r"/>
                      <a:r>
                        <a:rPr sz="1200" b="0">
                          <a:solidFill>
                            <a:srgbClr val="14213D"/>
                          </a:solidFill>
                          <a:latin typeface="Arial"/>
                        </a:rPr>
                        <a:t>73</a:t>
                      </a:r>
                    </a:p>
                  </a:txBody>
                  <a:tcPr marL="73152" marR="73152" marT="27432" marB="27432" anchor="ctr">
                    <a:solidFill>
                      <a:srgbClr val="F7F6F2"/>
                    </a:solidFill>
                  </a:tcPr>
                </a:tc>
                <a:tc>
                  <a:txBody>
                    <a:bodyPr wrap="square"/>
                    <a:lstStyle/>
                    <a:p>
                      <a:pPr algn="r"/>
                      <a:r>
                        <a:rPr sz="1200" b="0">
                          <a:solidFill>
                            <a:srgbClr val="14213D"/>
                          </a:solidFill>
                          <a:latin typeface="Arial"/>
                        </a:rPr>
                        <a:t>48</a:t>
                      </a:r>
                    </a:p>
                  </a:txBody>
                  <a:tcPr marL="73152" marR="73152" marT="27432" marB="27432" anchor="ctr">
                    <a:solidFill>
                      <a:srgbClr val="F7F6F2"/>
                    </a:solidFill>
                  </a:tcPr>
                </a:tc>
                <a:tc>
                  <a:txBody>
                    <a:bodyPr wrap="square"/>
                    <a:lstStyle/>
                    <a:p>
                      <a:pPr algn="r"/>
                      <a:r>
                        <a:rPr sz="1200" b="0">
                          <a:solidFill>
                            <a:srgbClr val="14213D"/>
                          </a:solidFill>
                          <a:latin typeface="Arial"/>
                        </a:rPr>
                        <a:t>$41,969</a:t>
                      </a:r>
                    </a:p>
                  </a:txBody>
                  <a:tcPr marL="73152" marR="73152" marT="27432" marB="27432" anchor="ctr">
                    <a:solidFill>
                      <a:srgbClr val="F7F6F2"/>
                    </a:solidFill>
                  </a:tcPr>
                </a:tc>
                <a:tc>
                  <a:txBody>
                    <a:bodyPr wrap="square"/>
                    <a:lstStyle/>
                    <a:p>
                      <a:pPr algn="r"/>
                      <a:r>
                        <a:rPr sz="1200" b="0">
                          <a:solidFill>
                            <a:srgbClr val="14213D"/>
                          </a:solidFill>
                          <a:latin typeface="Arial"/>
                        </a:rPr>
                        <a:t>10.64x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11</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PPC_NB_Competitor-Carolina-Cool_Zip-Code</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$4,323</a:t>
                      </a:r>
                    </a:p>
                  </a:txBody>
                  <a:tcPr marL="73152" marR="73152" marT="27432" marB="27432" anchor="ctr">
                    <a:solidFill>
                      <a:srgbClr val="FFFFFF"/>
                    </a:solidFill>
                  </a:tcPr>
                </a:tc>
                <a:tc>
                  <a:txBody>
                    <a:bodyPr wrap="square"/>
                    <a:lstStyle/>
                    <a:p>
                      <a:pPr algn="r"/>
                      <a:r>
                        <a:rPr sz="1200" b="0">
                          <a:solidFill>
                            <a:srgbClr val="14213D"/>
                          </a:solidFill>
                          <a:latin typeface="Arial"/>
                        </a:rPr>
                        <a:t>79</a:t>
                      </a:r>
                    </a:p>
                  </a:txBody>
                  <a:tcPr marL="73152" marR="73152" marT="27432" marB="27432" anchor="ctr">
                    <a:solidFill>
                      <a:srgbClr val="FFFFFF"/>
                    </a:solidFill>
                  </a:tcPr>
                </a:tc>
                <a:tc>
                  <a:txBody>
                    <a:bodyPr wrap="square"/>
                    <a:lstStyle/>
                    <a:p>
                      <a:pPr algn="r"/>
                      <a:r>
                        <a:rPr sz="1200" b="0">
                          <a:solidFill>
                            <a:srgbClr val="14213D"/>
                          </a:solidFill>
                          <a:latin typeface="Arial"/>
                        </a:rPr>
                        <a:t>18</a:t>
                      </a:r>
                    </a:p>
                  </a:txBody>
                  <a:tcPr marL="73152" marR="73152" marT="27432" marB="27432" anchor="ctr">
                    <a:solidFill>
                      <a:srgbClr val="FFFFFF"/>
                    </a:solidFill>
                  </a:tcPr>
                </a:tc>
                <a:tc>
                  <a:txBody>
                    <a:bodyPr wrap="square"/>
                    <a:lstStyle/>
                    <a:p>
                      <a:pPr algn="r"/>
                      <a:r>
                        <a:rPr sz="1200" b="0">
                          <a:solidFill>
                            <a:srgbClr val="14213D"/>
                          </a:solidFill>
                          <a:latin typeface="Arial"/>
                        </a:rPr>
                        <a:t>$39,035</a:t>
                      </a:r>
                    </a:p>
                  </a:txBody>
                  <a:tcPr marL="73152" marR="73152" marT="27432" marB="27432" anchor="ctr">
                    <a:solidFill>
                      <a:srgbClr val="FFFFFF"/>
                    </a:solidFill>
                  </a:tcPr>
                </a:tc>
                <a:tc>
                  <a:txBody>
                    <a:bodyPr wrap="square"/>
                    <a:lstStyle/>
                    <a:p>
                      <a:pPr algn="r"/>
                      <a:r>
                        <a:rPr sz="1200" b="0">
                          <a:solidFill>
                            <a:srgbClr val="14213D"/>
                          </a:solidFill>
                          <a:latin typeface="Arial"/>
                        </a:rPr>
                        <a:t>9.03x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12</a:t>
                      </a:r>
                    </a:p>
                  </a:txBody>
                  <a:tcPr marL="73152" marR="73152" marT="27432" marB="27432" anchor="ctr">
                    <a:solidFill>
                      <a:srgbClr val="F7F6F2"/>
                    </a:solidFill>
                  </a:tcPr>
                </a:tc>
                <a:tc>
                  <a:txBody>
                    <a:bodyPr wrap="square"/>
                    <a:lstStyle/>
                    <a:p>
                      <a:pPr algn="l"/>
                      <a:r>
                        <a:rPr sz="1200" b="0">
                          <a:solidFill>
                            <a:srgbClr val="14213D"/>
                          </a:solidFill>
                          <a:latin typeface="Arial"/>
                        </a:rPr>
                        <a:t>Performance Max - Remarketing</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$7,825</a:t>
                      </a:r>
                    </a:p>
                  </a:txBody>
                  <a:tcPr marL="73152" marR="73152" marT="27432" marB="27432" anchor="ctr">
                    <a:solidFill>
                      <a:srgbClr val="F7F6F2"/>
                    </a:solidFill>
                  </a:tcPr>
                </a:tc>
                <a:tc>
                  <a:txBody>
                    <a:bodyPr wrap="square"/>
                    <a:lstStyle/>
                    <a:p>
                      <a:pPr algn="r"/>
                      <a:r>
                        <a:rPr sz="1200" b="0">
                          <a:solidFill>
                            <a:srgbClr val="14213D"/>
                          </a:solidFill>
                          <a:latin typeface="Arial"/>
                        </a:rPr>
                        <a:t>143</a:t>
                      </a:r>
                    </a:p>
                  </a:txBody>
                  <a:tcPr marL="73152" marR="73152" marT="27432" marB="27432" anchor="ctr">
                    <a:solidFill>
                      <a:srgbClr val="F7F6F2"/>
                    </a:solidFill>
                  </a:tcPr>
                </a:tc>
                <a:tc>
                  <a:txBody>
                    <a:bodyPr wrap="square"/>
                    <a:lstStyle/>
                    <a:p>
                      <a:pPr algn="r"/>
                      <a:r>
                        <a:rPr sz="1200" b="0">
                          <a:solidFill>
                            <a:srgbClr val="14213D"/>
                          </a:solidFill>
                          <a:latin typeface="Arial"/>
                        </a:rPr>
                        <a:t>42</a:t>
                      </a:r>
                    </a:p>
                  </a:txBody>
                  <a:tcPr marL="73152" marR="73152" marT="27432" marB="27432" anchor="ctr">
                    <a:solidFill>
                      <a:srgbClr val="F7F6F2"/>
                    </a:solidFill>
                  </a:tcPr>
                </a:tc>
                <a:tc>
                  <a:txBody>
                    <a:bodyPr wrap="square"/>
                    <a:lstStyle/>
                    <a:p>
                      <a:pPr algn="r"/>
                      <a:r>
                        <a:rPr sz="1200" b="0">
                          <a:solidFill>
                            <a:srgbClr val="14213D"/>
                          </a:solidFill>
                          <a:latin typeface="Arial"/>
                        </a:rPr>
                        <a:t>$32,610</a:t>
                      </a:r>
                    </a:p>
                  </a:txBody>
                  <a:tcPr marL="73152" marR="73152" marT="27432" marB="27432" anchor="ctr">
                    <a:solidFill>
                      <a:srgbClr val="F7F6F2"/>
                    </a:solidFill>
                  </a:tcPr>
                </a:tc>
                <a:tc>
                  <a:txBody>
                    <a:bodyPr wrap="square"/>
                    <a:lstStyle/>
                    <a:p>
                      <a:pPr algn="r"/>
                      <a:r>
                        <a:rPr sz="1200" b="0">
                          <a:solidFill>
                            <a:srgbClr val="14213D"/>
                          </a:solidFill>
                          <a:latin typeface="Arial"/>
                        </a:rPr>
                        <a:t>4.17x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PPC_NB_Competitor-Carolina-Cool_Myrtle-Beach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$12,477</a:t>
                      </a:r>
                    </a:p>
                  </a:txBody>
                  <a:tcPr marL="73152" marR="73152" marT="27432" marB="27432" anchor="ctr">
                    <a:solidFill>
                      <a:srgbClr val="FFFFFF"/>
                    </a:solidFill>
                  </a:tcPr>
                </a:tc>
                <a:tc>
                  <a:txBody>
                    <a:bodyPr wrap="square"/>
                    <a:lstStyle/>
                    <a:p>
                      <a:pPr algn="r"/>
                      <a:r>
                        <a:rPr sz="1200" b="0">
                          <a:solidFill>
                            <a:srgbClr val="14213D"/>
                          </a:solidFill>
                          <a:latin typeface="Arial"/>
                        </a:rPr>
                        <a:t>137</a:t>
                      </a:r>
                    </a:p>
                  </a:txBody>
                  <a:tcPr marL="73152" marR="73152" marT="27432" marB="27432" anchor="ctr">
                    <a:solidFill>
                      <a:srgbClr val="FFFFFF"/>
                    </a:solidFill>
                  </a:tcPr>
                </a:tc>
                <a:tc>
                  <a:txBody>
                    <a:bodyPr wrap="square"/>
                    <a:lstStyle/>
                    <a:p>
                      <a:pPr algn="r"/>
                      <a:r>
                        <a:rPr sz="1200" b="0">
                          <a:solidFill>
                            <a:srgbClr val="14213D"/>
                          </a:solidFill>
                          <a:latin typeface="Arial"/>
                        </a:rPr>
                        <a:t>25</a:t>
                      </a:r>
                    </a:p>
                  </a:txBody>
                  <a:tcPr marL="73152" marR="73152" marT="27432" marB="27432" anchor="ctr">
                    <a:solidFill>
                      <a:srgbClr val="FFFFFF"/>
                    </a:solidFill>
                  </a:tcPr>
                </a:tc>
                <a:tc>
                  <a:txBody>
                    <a:bodyPr wrap="square"/>
                    <a:lstStyle/>
                    <a:p>
                      <a:pPr algn="r"/>
                      <a:r>
                        <a:rPr sz="1200" b="0">
                          <a:solidFill>
                            <a:srgbClr val="14213D"/>
                          </a:solidFill>
                          <a:latin typeface="Arial"/>
                        </a:rPr>
                        <a:t>$25,348</a:t>
                      </a:r>
                    </a:p>
                  </a:txBody>
                  <a:tcPr marL="73152" marR="73152" marT="27432" marB="27432" anchor="ctr">
                    <a:solidFill>
                      <a:srgbClr val="FFFFFF"/>
                    </a:solidFill>
                  </a:tcPr>
                </a:tc>
                <a:tc>
                  <a:txBody>
                    <a:bodyPr wrap="square"/>
                    <a:lstStyle/>
                    <a:p>
                      <a:pPr algn="r"/>
                      <a:r>
                        <a:rPr sz="1200" b="0">
                          <a:solidFill>
                            <a:srgbClr val="14213D"/>
                          </a:solidFill>
                          <a:latin typeface="Arial"/>
                        </a:rPr>
                        <a:t>2.03x</a:t>
                      </a:r>
                    </a:p>
                  </a:txBody>
                  <a:tcPr marL="73152" marR="73152" marT="27432" marB="27432"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14–26</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11</a:t>
            </a:r>
          </a:p>
        </p:txBody>
      </p:sp>
      <p:graphicFrame>
        <p:nvGraphicFramePr>
          <p:cNvPr id="5" name="Ranking 14-26"/>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14</a:t>
                      </a:r>
                    </a:p>
                  </a:txBody>
                  <a:tcPr marL="73152" marR="73152" marT="27432" marB="27432" anchor="ctr">
                    <a:solidFill>
                      <a:srgbClr val="FFFFFF"/>
                    </a:solidFill>
                  </a:tcPr>
                </a:tc>
                <a:tc>
                  <a:txBody>
                    <a:bodyPr wrap="square"/>
                    <a:lstStyle/>
                    <a:p>
                      <a:pPr algn="l"/>
                      <a:r>
                        <a:rPr sz="1200" b="0">
                          <a:solidFill>
                            <a:srgbClr val="14213D"/>
                          </a:solidFill>
                          <a:latin typeface="Arial"/>
                        </a:rPr>
                        <a:t>Uncategorized</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107</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$18,031</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l"/>
                      <a:r>
                        <a:rPr sz="1200" b="0">
                          <a:solidFill>
                            <a:srgbClr val="14213D"/>
                          </a:solidFill>
                          <a:latin typeface="Arial"/>
                        </a:rPr>
                        <a:t>Performance Max -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$1,842</a:t>
                      </a:r>
                    </a:p>
                  </a:txBody>
                  <a:tcPr marL="73152" marR="73152" marT="27432" marB="27432" anchor="ctr">
                    <a:solidFill>
                      <a:srgbClr val="F7F6F2"/>
                    </a:solidFill>
                  </a:tcPr>
                </a:tc>
                <a:tc>
                  <a:txBody>
                    <a:bodyPr wrap="square"/>
                    <a:lstStyle/>
                    <a:p>
                      <a:pPr algn="r"/>
                      <a:r>
                        <a:rPr sz="1200" b="0">
                          <a:solidFill>
                            <a:srgbClr val="14213D"/>
                          </a:solidFill>
                          <a:latin typeface="Arial"/>
                        </a:rPr>
                        <a:t>46</a:t>
                      </a:r>
                    </a:p>
                  </a:txBody>
                  <a:tcPr marL="73152" marR="73152" marT="27432" marB="27432" anchor="ctr">
                    <a:solidFill>
                      <a:srgbClr val="F7F6F2"/>
                    </a:solidFill>
                  </a:tcPr>
                </a:tc>
                <a:tc>
                  <a:txBody>
                    <a:bodyPr wrap="square"/>
                    <a:lstStyle/>
                    <a:p>
                      <a:pPr algn="r"/>
                      <a:r>
                        <a:rPr sz="1200" b="0">
                          <a:solidFill>
                            <a:srgbClr val="14213D"/>
                          </a:solidFill>
                          <a:latin typeface="Arial"/>
                        </a:rPr>
                        <a:t>7</a:t>
                      </a:r>
                    </a:p>
                  </a:txBody>
                  <a:tcPr marL="73152" marR="73152" marT="27432" marB="27432" anchor="ctr">
                    <a:solidFill>
                      <a:srgbClr val="F7F6F2"/>
                    </a:solidFill>
                  </a:tcPr>
                </a:tc>
                <a:tc>
                  <a:txBody>
                    <a:bodyPr wrap="square"/>
                    <a:lstStyle/>
                    <a:p>
                      <a:pPr algn="r"/>
                      <a:r>
                        <a:rPr sz="1200" b="0">
                          <a:solidFill>
                            <a:srgbClr val="14213D"/>
                          </a:solidFill>
                          <a:latin typeface="Arial"/>
                        </a:rPr>
                        <a:t>$13,393</a:t>
                      </a:r>
                    </a:p>
                  </a:txBody>
                  <a:tcPr marL="73152" marR="73152" marT="27432" marB="27432" anchor="ctr">
                    <a:solidFill>
                      <a:srgbClr val="F7F6F2"/>
                    </a:solidFill>
                  </a:tcPr>
                </a:tc>
                <a:tc>
                  <a:txBody>
                    <a:bodyPr wrap="square"/>
                    <a:lstStyle/>
                    <a:p>
                      <a:pPr algn="r"/>
                      <a:r>
                        <a:rPr sz="1200" b="0">
                          <a:solidFill>
                            <a:srgbClr val="14213D"/>
                          </a:solidFill>
                          <a:latin typeface="Arial"/>
                        </a:rPr>
                        <a:t>7.27x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16</a:t>
                      </a:r>
                    </a:p>
                  </a:txBody>
                  <a:tcPr marL="73152" marR="73152" marT="27432" marB="27432" anchor="ctr">
                    <a:solidFill>
                      <a:srgbClr val="FFFFFF"/>
                    </a:solidFill>
                  </a:tcPr>
                </a:tc>
                <a:tc>
                  <a:txBody>
                    <a:bodyPr wrap="square"/>
                    <a:lstStyle/>
                    <a:p>
                      <a:pPr algn="l"/>
                      <a:r>
                        <a:rPr sz="1200" b="0">
                          <a:solidFill>
                            <a:srgbClr val="14213D"/>
                          </a:solidFill>
                          <a:latin typeface="Arial"/>
                        </a:rPr>
                        <a:t>Direct Web Traffic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28</a:t>
                      </a:r>
                    </a:p>
                  </a:txBody>
                  <a:tcPr marL="73152" marR="73152" marT="27432" marB="27432" anchor="ctr">
                    <a:solidFill>
                      <a:srgbClr val="FFFFFF"/>
                    </a:solidFill>
                  </a:tcPr>
                </a:tc>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r"/>
                      <a:r>
                        <a:rPr sz="1200" b="0">
                          <a:solidFill>
                            <a:srgbClr val="14213D"/>
                          </a:solidFill>
                          <a:latin typeface="Arial"/>
                        </a:rPr>
                        <a:t>$12,299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17</a:t>
                      </a:r>
                    </a:p>
                  </a:txBody>
                  <a:tcPr marL="73152" marR="73152" marT="27432" marB="27432" anchor="ctr">
                    <a:solidFill>
                      <a:srgbClr val="F7F6F2"/>
                    </a:solidFill>
                  </a:tcPr>
                </a:tc>
                <a:tc>
                  <a:txBody>
                    <a:bodyPr wrap="square"/>
                    <a:lstStyle/>
                    <a:p>
                      <a:pPr algn="l"/>
                      <a:r>
                        <a:rPr sz="1200" b="0">
                          <a:solidFill>
                            <a:srgbClr val="14213D"/>
                          </a:solidFill>
                          <a:latin typeface="Arial"/>
                        </a:rPr>
                        <a:t>PPC_NB_HVAC_Zip-Code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$8,981</a:t>
                      </a:r>
                    </a:p>
                  </a:txBody>
                  <a:tcPr marL="73152" marR="73152" marT="27432" marB="27432" anchor="ctr">
                    <a:solidFill>
                      <a:srgbClr val="F7F6F2"/>
                    </a:solidFill>
                  </a:tcPr>
                </a:tc>
                <a:tc>
                  <a:txBody>
                    <a:bodyPr wrap="square"/>
                    <a:lstStyle/>
                    <a:p>
                      <a:pPr algn="r"/>
                      <a:r>
                        <a:rPr sz="1200" b="0">
                          <a:solidFill>
                            <a:srgbClr val="14213D"/>
                          </a:solidFill>
                          <a:latin typeface="Arial"/>
                        </a:rPr>
                        <a:t>65</a:t>
                      </a:r>
                    </a:p>
                  </a:txBody>
                  <a:tcPr marL="73152" marR="73152" marT="27432" marB="27432" anchor="ctr">
                    <a:solidFill>
                      <a:srgbClr val="F7F6F2"/>
                    </a:solidFill>
                  </a:tcPr>
                </a:tc>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r"/>
                      <a:r>
                        <a:rPr sz="1200" b="0">
                          <a:solidFill>
                            <a:srgbClr val="14213D"/>
                          </a:solidFill>
                          <a:latin typeface="Arial"/>
                        </a:rPr>
                        <a:t>$9,980</a:t>
                      </a:r>
                    </a:p>
                  </a:txBody>
                  <a:tcPr marL="73152" marR="73152" marT="27432" marB="27432" anchor="ctr">
                    <a:solidFill>
                      <a:srgbClr val="F7F6F2"/>
                    </a:solidFill>
                  </a:tcPr>
                </a:tc>
                <a:tc>
                  <a:txBody>
                    <a:bodyPr wrap="square"/>
                    <a:lstStyle/>
                    <a:p>
                      <a:pPr algn="r"/>
                      <a:r>
                        <a:rPr sz="1200" b="0">
                          <a:solidFill>
                            <a:srgbClr val="14213D"/>
                          </a:solidFill>
                          <a:latin typeface="Arial"/>
                        </a:rPr>
                        <a:t>1.11x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18</a:t>
                      </a:r>
                    </a:p>
                  </a:txBody>
                  <a:tcPr marL="73152" marR="73152" marT="27432" marB="27432" anchor="ctr">
                    <a:solidFill>
                      <a:srgbClr val="FFFFFF"/>
                    </a:solidFill>
                  </a:tcPr>
                </a:tc>
                <a:tc>
                  <a:txBody>
                    <a:bodyPr wrap="square"/>
                    <a:lstStyle/>
                    <a:p>
                      <a:pPr algn="l"/>
                      <a:r>
                        <a:rPr sz="1200" b="0">
                          <a:solidFill>
                            <a:srgbClr val="14213D"/>
                          </a:solidFill>
                          <a:latin typeface="Arial"/>
                        </a:rPr>
                        <a:t>July 2026 Special | $99 New System</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$4,705</a:t>
                      </a:r>
                    </a:p>
                  </a:txBody>
                  <a:tcPr marL="73152" marR="73152" marT="27432" marB="27432" anchor="ctr">
                    <a:solidFill>
                      <a:srgbClr val="FFFFFF"/>
                    </a:solidFill>
                  </a:tcPr>
                </a:tc>
                <a:tc>
                  <a:txBody>
                    <a:bodyPr wrap="square"/>
                    <a:lstStyle/>
                    <a:p>
                      <a:pPr algn="r"/>
                      <a:r>
                        <a:rPr sz="1200" b="0">
                          <a:solidFill>
                            <a:srgbClr val="14213D"/>
                          </a:solidFill>
                          <a:latin typeface="Arial"/>
                        </a:rPr>
                        <a:t>21</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$9,870</a:t>
                      </a:r>
                    </a:p>
                  </a:txBody>
                  <a:tcPr marL="73152" marR="73152" marT="27432" marB="27432" anchor="ctr">
                    <a:solidFill>
                      <a:srgbClr val="FFFFFF"/>
                    </a:solidFill>
                  </a:tcPr>
                </a:tc>
                <a:tc>
                  <a:txBody>
                    <a:bodyPr wrap="square"/>
                    <a:lstStyle/>
                    <a:p>
                      <a:pPr algn="r"/>
                      <a:r>
                        <a:rPr sz="1200" b="0">
                          <a:solidFill>
                            <a:srgbClr val="14213D"/>
                          </a:solidFill>
                          <a:latin typeface="Arial"/>
                        </a:rPr>
                        <a:t>2.10x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l"/>
                      <a:r>
                        <a:rPr sz="1200" b="0">
                          <a:solidFill>
                            <a:srgbClr val="14213D"/>
                          </a:solidFill>
                          <a:latin typeface="Arial"/>
                        </a:rPr>
                        <a:t>(LSA) Coastal Refrigeration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$9,262</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20</a:t>
                      </a:r>
                    </a:p>
                  </a:txBody>
                  <a:tcPr marL="73152" marR="73152" marT="27432" marB="27432" anchor="ctr">
                    <a:solidFill>
                      <a:srgbClr val="FFFFFF"/>
                    </a:solidFill>
                  </a:tcPr>
                </a:tc>
                <a:tc>
                  <a:txBody>
                    <a:bodyPr wrap="square"/>
                    <a:lstStyle/>
                    <a:p>
                      <a:pPr algn="l"/>
                      <a:r>
                        <a:rPr sz="1200" b="0">
                          <a:solidFill>
                            <a:srgbClr val="14213D"/>
                          </a:solidFill>
                          <a:latin typeface="Arial"/>
                        </a:rPr>
                        <a:t>PPC_NB_HVAC_Myrtle-Beach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$17,184</a:t>
                      </a:r>
                    </a:p>
                  </a:txBody>
                  <a:tcPr marL="73152" marR="73152" marT="27432" marB="27432" anchor="ctr">
                    <a:solidFill>
                      <a:srgbClr val="FFFFFF"/>
                    </a:solidFill>
                  </a:tcPr>
                </a:tc>
                <a:tc>
                  <a:txBody>
                    <a:bodyPr wrap="square"/>
                    <a:lstStyle/>
                    <a:p>
                      <a:pPr algn="r"/>
                      <a:r>
                        <a:rPr sz="1200" b="0">
                          <a:solidFill>
                            <a:srgbClr val="14213D"/>
                          </a:solidFill>
                          <a:latin typeface="Arial"/>
                        </a:rPr>
                        <a:t>97</a:t>
                      </a:r>
                    </a:p>
                  </a:txBody>
                  <a:tcPr marL="73152" marR="73152" marT="27432" marB="27432" anchor="ctr">
                    <a:solidFill>
                      <a:srgbClr val="FFFFFF"/>
                    </a:solidFill>
                  </a:tcPr>
                </a:tc>
                <a:tc>
                  <a:txBody>
                    <a:bodyPr wrap="square"/>
                    <a:lstStyle/>
                    <a:p>
                      <a:pPr algn="r"/>
                      <a:r>
                        <a:rPr sz="1200" b="0">
                          <a:solidFill>
                            <a:srgbClr val="14213D"/>
                          </a:solidFill>
                          <a:latin typeface="Arial"/>
                        </a:rPr>
                        <a:t>27</a:t>
                      </a:r>
                    </a:p>
                  </a:txBody>
                  <a:tcPr marL="73152" marR="73152" marT="27432" marB="27432" anchor="ctr">
                    <a:solidFill>
                      <a:srgbClr val="FFFFFF"/>
                    </a:solidFill>
                  </a:tcPr>
                </a:tc>
                <a:tc>
                  <a:txBody>
                    <a:bodyPr wrap="square"/>
                    <a:lstStyle/>
                    <a:p>
                      <a:pPr algn="r"/>
                      <a:r>
                        <a:rPr sz="1200" b="0">
                          <a:solidFill>
                            <a:srgbClr val="14213D"/>
                          </a:solidFill>
                          <a:latin typeface="Arial"/>
                        </a:rPr>
                        <a:t>$7,727</a:t>
                      </a:r>
                    </a:p>
                  </a:txBody>
                  <a:tcPr marL="73152" marR="73152" marT="27432" marB="27432" anchor="ctr">
                    <a:solidFill>
                      <a:srgbClr val="FFFFFF"/>
                    </a:solidFill>
                  </a:tcPr>
                </a:tc>
                <a:tc>
                  <a:txBody>
                    <a:bodyPr wrap="square"/>
                    <a:lstStyle/>
                    <a:p>
                      <a:pPr algn="r"/>
                      <a:r>
                        <a:rPr sz="1200" b="0">
                          <a:solidFill>
                            <a:srgbClr val="14213D"/>
                          </a:solidFill>
                          <a:latin typeface="Arial"/>
                        </a:rPr>
                        <a:t>0.45x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21</a:t>
                      </a:r>
                    </a:p>
                  </a:txBody>
                  <a:tcPr marL="73152" marR="73152" marT="27432" marB="27432" anchor="ctr">
                    <a:solidFill>
                      <a:srgbClr val="F7F6F2"/>
                    </a:solidFill>
                  </a:tcPr>
                </a:tc>
                <a:tc>
                  <a:txBody>
                    <a:bodyPr wrap="square"/>
                    <a:lstStyle/>
                    <a:p>
                      <a:pPr algn="l"/>
                      <a:r>
                        <a:rPr sz="1200" b="0">
                          <a:solidFill>
                            <a:srgbClr val="14213D"/>
                          </a:solidFill>
                          <a:latin typeface="Arial"/>
                        </a:rPr>
                        <a:t>PPC_NB_Plumbing_Zip-Code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$7,281</a:t>
                      </a:r>
                    </a:p>
                  </a:txBody>
                  <a:tcPr marL="73152" marR="73152" marT="27432" marB="27432" anchor="ctr">
                    <a:solidFill>
                      <a:srgbClr val="F7F6F2"/>
                    </a:solidFill>
                  </a:tcPr>
                </a:tc>
                <a:tc>
                  <a:txBody>
                    <a:bodyPr wrap="square"/>
                    <a:lstStyle/>
                    <a:p>
                      <a:pPr algn="r"/>
                      <a:r>
                        <a:rPr sz="1200" b="0">
                          <a:solidFill>
                            <a:srgbClr val="14213D"/>
                          </a:solidFill>
                          <a:latin typeface="Arial"/>
                        </a:rPr>
                        <a:t>40</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$6,648</a:t>
                      </a:r>
                    </a:p>
                  </a:txBody>
                  <a:tcPr marL="73152" marR="73152" marT="27432" marB="27432" anchor="ctr">
                    <a:solidFill>
                      <a:srgbClr val="F7F6F2"/>
                    </a:solidFill>
                  </a:tcPr>
                </a:tc>
                <a:tc>
                  <a:txBody>
                    <a:bodyPr wrap="square"/>
                    <a:lstStyle/>
                    <a:p>
                      <a:pPr algn="r"/>
                      <a:r>
                        <a:rPr sz="1200" b="0">
                          <a:solidFill>
                            <a:srgbClr val="14213D"/>
                          </a:solidFill>
                          <a:latin typeface="Arial"/>
                        </a:rPr>
                        <a:t>0.91x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22</a:t>
                      </a:r>
                    </a:p>
                  </a:txBody>
                  <a:tcPr marL="73152" marR="73152" marT="27432" marB="27432" anchor="ctr">
                    <a:solidFill>
                      <a:srgbClr val="FFFFFF"/>
                    </a:solidFill>
                  </a:tcPr>
                </a:tc>
                <a:tc>
                  <a:txBody>
                    <a:bodyPr wrap="square"/>
                    <a:lstStyle/>
                    <a:p>
                      <a:pPr algn="l"/>
                      <a:r>
                        <a:rPr sz="1200" b="0">
                          <a:solidFill>
                            <a:srgbClr val="14213D"/>
                          </a:solidFill>
                          <a:latin typeface="Arial"/>
                        </a:rPr>
                        <a:t>Honey Do List Plumbing Campaign</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35</a:t>
                      </a:r>
                    </a:p>
                  </a:txBody>
                  <a:tcPr marL="73152" marR="73152" marT="27432" marB="27432" anchor="ctr">
                    <a:solidFill>
                      <a:srgbClr val="FFFFFF"/>
                    </a:solidFill>
                  </a:tcPr>
                </a:tc>
                <a:tc>
                  <a:txBody>
                    <a:bodyPr wrap="square"/>
                    <a:lstStyle/>
                    <a:p>
                      <a:pPr algn="r"/>
                      <a:r>
                        <a:rPr sz="1200" b="0">
                          <a:solidFill>
                            <a:srgbClr val="14213D"/>
                          </a:solidFill>
                          <a:latin typeface="Arial"/>
                        </a:rPr>
                        <a:t>16</a:t>
                      </a:r>
                    </a:p>
                  </a:txBody>
                  <a:tcPr marL="73152" marR="73152" marT="27432" marB="27432" anchor="ctr">
                    <a:solidFill>
                      <a:srgbClr val="FFFFFF"/>
                    </a:solidFill>
                  </a:tcPr>
                </a:tc>
                <a:tc>
                  <a:txBody>
                    <a:bodyPr wrap="square"/>
                    <a:lstStyle/>
                    <a:p>
                      <a:pPr algn="r"/>
                      <a:r>
                        <a:rPr sz="1200" b="0">
                          <a:solidFill>
                            <a:srgbClr val="14213D"/>
                          </a:solidFill>
                          <a:latin typeface="Arial"/>
                        </a:rPr>
                        <a:t>$5,292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23</a:t>
                      </a:r>
                    </a:p>
                  </a:txBody>
                  <a:tcPr marL="73152" marR="73152" marT="27432" marB="27432" anchor="ctr">
                    <a:solidFill>
                      <a:srgbClr val="F7F6F2"/>
                    </a:solidFill>
                  </a:tcPr>
                </a:tc>
                <a:tc>
                  <a:txBody>
                    <a:bodyPr wrap="square"/>
                    <a:lstStyle/>
                    <a:p>
                      <a:pPr algn="l"/>
                      <a:r>
                        <a:rPr sz="1200" b="0">
                          <a:solidFill>
                            <a:srgbClr val="14213D"/>
                          </a:solidFill>
                          <a:latin typeface="Arial"/>
                        </a:rPr>
                        <a:t>PPC_NB_Competitor_Zip-Code</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$9,866</a:t>
                      </a:r>
                    </a:p>
                  </a:txBody>
                  <a:tcPr marL="73152" marR="73152" marT="27432" marB="27432" anchor="ctr">
                    <a:solidFill>
                      <a:srgbClr val="F7F6F2"/>
                    </a:solidFill>
                  </a:tcPr>
                </a:tc>
                <a:tc>
                  <a:txBody>
                    <a:bodyPr wrap="square"/>
                    <a:lstStyle/>
                    <a:p>
                      <a:pPr algn="r"/>
                      <a:r>
                        <a:rPr sz="1200" b="0">
                          <a:solidFill>
                            <a:srgbClr val="14213D"/>
                          </a:solidFill>
                          <a:latin typeface="Arial"/>
                        </a:rPr>
                        <a:t>149</a:t>
                      </a:r>
                    </a:p>
                  </a:txBody>
                  <a:tcPr marL="73152" marR="73152" marT="27432" marB="27432" anchor="ctr">
                    <a:solidFill>
                      <a:srgbClr val="F7F6F2"/>
                    </a:solidFill>
                  </a:tcPr>
                </a:tc>
                <a:tc>
                  <a:txBody>
                    <a:bodyPr wrap="square"/>
                    <a:lstStyle/>
                    <a:p>
                      <a:pPr algn="r"/>
                      <a:r>
                        <a:rPr sz="1200" b="0">
                          <a:solidFill>
                            <a:srgbClr val="14213D"/>
                          </a:solidFill>
                          <a:latin typeface="Arial"/>
                        </a:rPr>
                        <a:t>19</a:t>
                      </a:r>
                    </a:p>
                  </a:txBody>
                  <a:tcPr marL="73152" marR="73152" marT="27432" marB="27432" anchor="ctr">
                    <a:solidFill>
                      <a:srgbClr val="F7F6F2"/>
                    </a:solidFill>
                  </a:tcPr>
                </a:tc>
                <a:tc>
                  <a:txBody>
                    <a:bodyPr wrap="square"/>
                    <a:lstStyle/>
                    <a:p>
                      <a:pPr algn="r"/>
                      <a:r>
                        <a:rPr sz="1200" b="0">
                          <a:solidFill>
                            <a:srgbClr val="14213D"/>
                          </a:solidFill>
                          <a:latin typeface="Arial"/>
                        </a:rPr>
                        <a:t>$5,129</a:t>
                      </a:r>
                    </a:p>
                  </a:txBody>
                  <a:tcPr marL="73152" marR="73152" marT="27432" marB="27432" anchor="ctr">
                    <a:solidFill>
                      <a:srgbClr val="F7F6F2"/>
                    </a:solidFill>
                  </a:tcPr>
                </a:tc>
                <a:tc>
                  <a:txBody>
                    <a:bodyPr wrap="square"/>
                    <a:lstStyle/>
                    <a:p>
                      <a:pPr algn="r"/>
                      <a:r>
                        <a:rPr sz="1200" b="0">
                          <a:solidFill>
                            <a:srgbClr val="14213D"/>
                          </a:solidFill>
                          <a:latin typeface="Arial"/>
                        </a:rPr>
                        <a:t>0.52x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24</a:t>
                      </a:r>
                    </a:p>
                  </a:txBody>
                  <a:tcPr marL="73152" marR="73152" marT="27432" marB="27432" anchor="ctr">
                    <a:solidFill>
                      <a:srgbClr val="FFFFFF"/>
                    </a:solidFill>
                  </a:tcPr>
                </a:tc>
                <a:tc>
                  <a:txBody>
                    <a:bodyPr wrap="square"/>
                    <a:lstStyle/>
                    <a:p>
                      <a:pPr algn="l"/>
                      <a:r>
                        <a:rPr sz="1200" b="0">
                          <a:solidFill>
                            <a:srgbClr val="14213D"/>
                          </a:solidFill>
                          <a:latin typeface="Arial"/>
                        </a:rPr>
                        <a:t>(LSA) Coastal Refrigeration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$380</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r"/>
                      <a:r>
                        <a:rPr sz="1200" b="0">
                          <a:solidFill>
                            <a:srgbClr val="14213D"/>
                          </a:solidFill>
                          <a:latin typeface="Arial"/>
                        </a:rPr>
                        <a:t>$4,812</a:t>
                      </a:r>
                    </a:p>
                  </a:txBody>
                  <a:tcPr marL="73152" marR="73152" marT="27432" marB="27432" anchor="ctr">
                    <a:solidFill>
                      <a:srgbClr val="FFFFFF"/>
                    </a:solidFill>
                  </a:tcPr>
                </a:tc>
                <a:tc>
                  <a:txBody>
                    <a:bodyPr wrap="square"/>
                    <a:lstStyle/>
                    <a:p>
                      <a:pPr algn="r"/>
                      <a:r>
                        <a:rPr sz="1200" b="0">
                          <a:solidFill>
                            <a:srgbClr val="14213D"/>
                          </a:solidFill>
                          <a:latin typeface="Arial"/>
                        </a:rPr>
                        <a:t>12.65x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25</a:t>
                      </a:r>
                    </a:p>
                  </a:txBody>
                  <a:tcPr marL="73152" marR="73152" marT="27432" marB="27432" anchor="ctr">
                    <a:solidFill>
                      <a:srgbClr val="F7F6F2"/>
                    </a:solidFill>
                  </a:tcPr>
                </a:tc>
                <a:tc>
                  <a:txBody>
                    <a:bodyPr wrap="square"/>
                    <a:lstStyle/>
                    <a:p>
                      <a:pPr algn="l"/>
                      <a:r>
                        <a:rPr sz="1200" b="0">
                          <a:solidFill>
                            <a:srgbClr val="14213D"/>
                          </a:solidFill>
                          <a:latin typeface="Arial"/>
                        </a:rPr>
                        <a:t>PPC_NB_Plumbing_Myrtle-Beach</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$17,662</a:t>
                      </a:r>
                    </a:p>
                  </a:txBody>
                  <a:tcPr marL="73152" marR="73152" marT="27432" marB="27432" anchor="ctr">
                    <a:solidFill>
                      <a:srgbClr val="F7F6F2"/>
                    </a:solidFill>
                  </a:tcPr>
                </a:tc>
                <a:tc>
                  <a:txBody>
                    <a:bodyPr wrap="square"/>
                    <a:lstStyle/>
                    <a:p>
                      <a:pPr algn="r"/>
                      <a:r>
                        <a:rPr sz="1200" b="0">
                          <a:solidFill>
                            <a:srgbClr val="14213D"/>
                          </a:solidFill>
                          <a:latin typeface="Arial"/>
                        </a:rPr>
                        <a:t>39</a:t>
                      </a:r>
                    </a:p>
                  </a:txBody>
                  <a:tcPr marL="73152" marR="73152" marT="27432" marB="27432" anchor="ctr">
                    <a:solidFill>
                      <a:srgbClr val="F7F6F2"/>
                    </a:solidFill>
                  </a:tcPr>
                </a:tc>
                <a:tc>
                  <a:txBody>
                    <a:bodyPr wrap="square"/>
                    <a:lstStyle/>
                    <a:p>
                      <a:pPr algn="r"/>
                      <a:r>
                        <a:rPr sz="1200" b="0">
                          <a:solidFill>
                            <a:srgbClr val="14213D"/>
                          </a:solidFill>
                          <a:latin typeface="Arial"/>
                        </a:rPr>
                        <a:t>12</a:t>
                      </a:r>
                    </a:p>
                  </a:txBody>
                  <a:tcPr marL="73152" marR="73152" marT="27432" marB="27432" anchor="ctr">
                    <a:solidFill>
                      <a:srgbClr val="F7F6F2"/>
                    </a:solidFill>
                  </a:tcPr>
                </a:tc>
                <a:tc>
                  <a:txBody>
                    <a:bodyPr wrap="square"/>
                    <a:lstStyle/>
                    <a:p>
                      <a:pPr algn="r"/>
                      <a:r>
                        <a:rPr sz="1200" b="0">
                          <a:solidFill>
                            <a:srgbClr val="14213D"/>
                          </a:solidFill>
                          <a:latin typeface="Arial"/>
                        </a:rPr>
                        <a:t>$4,799</a:t>
                      </a:r>
                    </a:p>
                  </a:txBody>
                  <a:tcPr marL="73152" marR="73152" marT="27432" marB="27432" anchor="ctr">
                    <a:solidFill>
                      <a:srgbClr val="F7F6F2"/>
                    </a:solidFill>
                  </a:tcPr>
                </a:tc>
                <a:tc>
                  <a:txBody>
                    <a:bodyPr wrap="square"/>
                    <a:lstStyle/>
                    <a:p>
                      <a:pPr algn="r"/>
                      <a:r>
                        <a:rPr sz="1200" b="0">
                          <a:solidFill>
                            <a:srgbClr val="14213D"/>
                          </a:solidFill>
                          <a:latin typeface="Arial"/>
                        </a:rPr>
                        <a:t>0.27x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26</a:t>
                      </a:r>
                    </a:p>
                  </a:txBody>
                  <a:tcPr marL="73152" marR="73152" marT="27432" marB="27432" anchor="ctr">
                    <a:solidFill>
                      <a:srgbClr val="FFFFFF"/>
                    </a:solidFill>
                  </a:tcPr>
                </a:tc>
                <a:tc>
                  <a:txBody>
                    <a:bodyPr wrap="square"/>
                    <a:lstStyle/>
                    <a:p>
                      <a:pPr algn="l"/>
                      <a:r>
                        <a:rPr sz="1200" b="0">
                          <a:solidFill>
                            <a:srgbClr val="14213D"/>
                          </a:solidFill>
                          <a:latin typeface="Arial"/>
                        </a:rPr>
                        <a:t>Website</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$3,945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27–39</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12</a:t>
            </a:r>
          </a:p>
        </p:txBody>
      </p:sp>
      <p:graphicFrame>
        <p:nvGraphicFramePr>
          <p:cNvPr id="5" name="Ranking 27-39"/>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27</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60</a:t>
                      </a:r>
                    </a:p>
                  </a:txBody>
                  <a:tcPr marL="73152" marR="73152" marT="27432" marB="27432" anchor="ctr">
                    <a:solidFill>
                      <a:srgbClr val="FFFFFF"/>
                    </a:solidFill>
                  </a:tcPr>
                </a:tc>
                <a:tc>
                  <a:txBody>
                    <a:bodyPr wrap="square"/>
                    <a:lstStyle/>
                    <a:p>
                      <a:pPr algn="r"/>
                      <a:r>
                        <a:rPr sz="1200" b="0">
                          <a:solidFill>
                            <a:srgbClr val="14213D"/>
                          </a:solidFill>
                          <a:latin typeface="Arial"/>
                        </a:rPr>
                        <a:t>9</a:t>
                      </a:r>
                    </a:p>
                  </a:txBody>
                  <a:tcPr marL="73152" marR="73152" marT="27432" marB="27432" anchor="ctr">
                    <a:solidFill>
                      <a:srgbClr val="FFFFFF"/>
                    </a:solidFill>
                  </a:tcPr>
                </a:tc>
                <a:tc>
                  <a:txBody>
                    <a:bodyPr wrap="square"/>
                    <a:lstStyle/>
                    <a:p>
                      <a:pPr algn="r"/>
                      <a:r>
                        <a:rPr sz="1200" b="0">
                          <a:solidFill>
                            <a:srgbClr val="14213D"/>
                          </a:solidFill>
                          <a:latin typeface="Arial"/>
                        </a:rPr>
                        <a:t>$3,385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28</a:t>
                      </a:r>
                    </a:p>
                  </a:txBody>
                  <a:tcPr marL="73152" marR="73152" marT="27432" marB="27432" anchor="ctr">
                    <a:solidFill>
                      <a:srgbClr val="F7F6F2"/>
                    </a:solidFill>
                  </a:tcPr>
                </a:tc>
                <a:tc>
                  <a:txBody>
                    <a:bodyPr wrap="square"/>
                    <a:lstStyle/>
                    <a:p>
                      <a:pPr algn="l"/>
                      <a:r>
                        <a:rPr sz="1200" b="0">
                          <a:solidFill>
                            <a:srgbClr val="14213D"/>
                          </a:solidFill>
                          <a:latin typeface="Arial"/>
                        </a:rPr>
                        <a:t>PPC HVAC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174</a:t>
                      </a:r>
                    </a:p>
                  </a:txBody>
                  <a:tcPr marL="73152" marR="73152" marT="27432" marB="27432" anchor="ctr">
                    <a:solidFill>
                      <a:srgbClr val="F7F6F2"/>
                    </a:solidFill>
                  </a:tcPr>
                </a:tc>
                <a:tc>
                  <a:txBody>
                    <a:bodyPr wrap="square"/>
                    <a:lstStyle/>
                    <a:p>
                      <a:pPr algn="r"/>
                      <a:r>
                        <a:rPr sz="1200" b="0">
                          <a:solidFill>
                            <a:srgbClr val="14213D"/>
                          </a:solidFill>
                          <a:latin typeface="Arial"/>
                        </a:rPr>
                        <a:t>7</a:t>
                      </a:r>
                    </a:p>
                  </a:txBody>
                  <a:tcPr marL="73152" marR="73152" marT="27432" marB="27432" anchor="ctr">
                    <a:solidFill>
                      <a:srgbClr val="F7F6F2"/>
                    </a:solidFill>
                  </a:tcPr>
                </a:tc>
                <a:tc>
                  <a:txBody>
                    <a:bodyPr wrap="square"/>
                    <a:lstStyle/>
                    <a:p>
                      <a:pPr algn="r"/>
                      <a:r>
                        <a:rPr sz="1200" b="0">
                          <a:solidFill>
                            <a:srgbClr val="14213D"/>
                          </a:solidFill>
                          <a:latin typeface="Arial"/>
                        </a:rPr>
                        <a:t>$2,909</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29</a:t>
                      </a:r>
                    </a:p>
                  </a:txBody>
                  <a:tcPr marL="73152" marR="73152" marT="27432" marB="27432" anchor="ctr">
                    <a:solidFill>
                      <a:srgbClr val="FFFFFF"/>
                    </a:solidFill>
                  </a:tcPr>
                </a:tc>
                <a:tc>
                  <a:txBody>
                    <a:bodyPr wrap="square"/>
                    <a:lstStyle/>
                    <a:p>
                      <a:pPr algn="l"/>
                      <a:r>
                        <a:rPr sz="1200" b="0">
                          <a:solidFill>
                            <a:srgbClr val="14213D"/>
                          </a:solidFill>
                          <a:latin typeface="Arial"/>
                        </a:rPr>
                        <a:t>PPC_NB_Competitor_Myrtle-Beach</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$6,667</a:t>
                      </a:r>
                    </a:p>
                  </a:txBody>
                  <a:tcPr marL="73152" marR="73152" marT="27432" marB="27432" anchor="ctr">
                    <a:solidFill>
                      <a:srgbClr val="FFFFFF"/>
                    </a:solidFill>
                  </a:tcPr>
                </a:tc>
                <a:tc>
                  <a:txBody>
                    <a:bodyPr wrap="square"/>
                    <a:lstStyle/>
                    <a:p>
                      <a:pPr algn="r"/>
                      <a:r>
                        <a:rPr sz="1200" b="0">
                          <a:solidFill>
                            <a:srgbClr val="14213D"/>
                          </a:solidFill>
                          <a:latin typeface="Arial"/>
                        </a:rPr>
                        <a:t>48</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$2,732</a:t>
                      </a:r>
                    </a:p>
                  </a:txBody>
                  <a:tcPr marL="73152" marR="73152" marT="27432" marB="27432" anchor="ctr">
                    <a:solidFill>
                      <a:srgbClr val="FFFFFF"/>
                    </a:solidFill>
                  </a:tcPr>
                </a:tc>
                <a:tc>
                  <a:txBody>
                    <a:bodyPr wrap="square"/>
                    <a:lstStyle/>
                    <a:p>
                      <a:pPr algn="r"/>
                      <a:r>
                        <a:rPr sz="1200" b="0">
                          <a:solidFill>
                            <a:srgbClr val="14213D"/>
                          </a:solidFill>
                          <a:latin typeface="Arial"/>
                        </a:rPr>
                        <a:t>0.41x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30</a:t>
                      </a:r>
                    </a:p>
                  </a:txBody>
                  <a:tcPr marL="73152" marR="73152" marT="27432" marB="27432" anchor="ctr">
                    <a:solidFill>
                      <a:srgbClr val="F7F6F2"/>
                    </a:solidFill>
                  </a:tcPr>
                </a:tc>
                <a:tc>
                  <a:txBody>
                    <a:bodyPr wrap="square"/>
                    <a:lstStyle/>
                    <a:p>
                      <a:pPr algn="l"/>
                      <a:r>
                        <a:rPr sz="1200" b="0">
                          <a:solidFill>
                            <a:srgbClr val="14213D"/>
                          </a:solidFill>
                          <a:latin typeface="Arial"/>
                        </a:rPr>
                        <a:t>[Va] [Search] | Brand | mCPC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$2,367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31</a:t>
                      </a:r>
                    </a:p>
                  </a:txBody>
                  <a:tcPr marL="73152" marR="73152" marT="27432" marB="27432" anchor="ctr">
                    <a:solidFill>
                      <a:srgbClr val="FFFFFF"/>
                    </a:solidFill>
                  </a:tcPr>
                </a:tc>
                <a:tc>
                  <a:txBody>
                    <a:bodyPr wrap="square"/>
                    <a:lstStyle/>
                    <a:p>
                      <a:pPr algn="l"/>
                      <a:r>
                        <a:rPr sz="1200" b="0">
                          <a:solidFill>
                            <a:srgbClr val="14213D"/>
                          </a:solidFill>
                          <a:latin typeface="Arial"/>
                        </a:rPr>
                        <a:t>Bing Organic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26</a:t>
                      </a:r>
                    </a:p>
                  </a:txBody>
                  <a:tcPr marL="73152" marR="73152" marT="27432" marB="27432" anchor="ctr">
                    <a:solidFill>
                      <a:srgbClr val="FFFFFF"/>
                    </a:solidFill>
                  </a:tcPr>
                </a:tc>
                <a:tc>
                  <a:txBody>
                    <a:bodyPr wrap="square"/>
                    <a:lstStyle/>
                    <a:p>
                      <a:pPr algn="r"/>
                      <a:r>
                        <a:rPr sz="1200" b="0">
                          <a:solidFill>
                            <a:srgbClr val="14213D"/>
                          </a:solidFill>
                          <a:latin typeface="Arial"/>
                        </a:rPr>
                        <a:t>7</a:t>
                      </a:r>
                    </a:p>
                  </a:txBody>
                  <a:tcPr marL="73152" marR="73152" marT="27432" marB="27432" anchor="ctr">
                    <a:solidFill>
                      <a:srgbClr val="FFFFFF"/>
                    </a:solidFill>
                  </a:tcPr>
                </a:tc>
                <a:tc>
                  <a:txBody>
                    <a:bodyPr wrap="square"/>
                    <a:lstStyle/>
                    <a:p>
                      <a:pPr algn="r"/>
                      <a:r>
                        <a:rPr sz="1200" b="0">
                          <a:solidFill>
                            <a:srgbClr val="14213D"/>
                          </a:solidFill>
                          <a:latin typeface="Arial"/>
                        </a:rPr>
                        <a:t>$2,352</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32</a:t>
                      </a:r>
                    </a:p>
                  </a:txBody>
                  <a:tcPr marL="73152" marR="73152" marT="27432" marB="27432" anchor="ctr">
                    <a:solidFill>
                      <a:srgbClr val="F7F6F2"/>
                    </a:solidFill>
                  </a:tcPr>
                </a:tc>
                <a:tc>
                  <a:txBody>
                    <a:bodyPr wrap="square"/>
                    <a:lstStyle/>
                    <a:p>
                      <a:pPr algn="l"/>
                      <a:r>
                        <a:rPr sz="1200" b="0">
                          <a:solidFill>
                            <a:srgbClr val="14213D"/>
                          </a:solidFill>
                          <a:latin typeface="Arial"/>
                        </a:rPr>
                        <a:t>Facebooks Ads</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31</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$2,237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33</a:t>
                      </a:r>
                    </a:p>
                  </a:txBody>
                  <a:tcPr marL="73152" marR="73152" marT="27432" marB="27432" anchor="ctr">
                    <a:solidFill>
                      <a:srgbClr val="FFFFFF"/>
                    </a:solidFill>
                  </a:tcPr>
                </a:tc>
                <a:tc>
                  <a:txBody>
                    <a:bodyPr wrap="square"/>
                    <a:lstStyle/>
                    <a:p>
                      <a:pPr algn="l"/>
                      <a:r>
                        <a:rPr sz="1200" b="0">
                          <a:solidFill>
                            <a:srgbClr val="14213D"/>
                          </a:solidFill>
                          <a:latin typeface="Arial"/>
                        </a:rPr>
                        <a:t>[V] [PMAX] | HVAC - Cooling | tCPA $50 &gt; $45</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$1,799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34</a:t>
                      </a:r>
                    </a:p>
                  </a:txBody>
                  <a:tcPr marL="73152" marR="73152" marT="27432" marB="27432" anchor="ctr">
                    <a:solidFill>
                      <a:srgbClr val="F7F6F2"/>
                    </a:solidFill>
                  </a:tcPr>
                </a:tc>
                <a:tc>
                  <a:txBody>
                    <a:bodyPr wrap="square"/>
                    <a:lstStyle/>
                    <a:p>
                      <a:pPr algn="l"/>
                      <a:r>
                        <a:rPr sz="1200" b="0">
                          <a:solidFill>
                            <a:srgbClr val="14213D"/>
                          </a:solidFill>
                          <a:latin typeface="Arial"/>
                        </a:rPr>
                        <a:t>[V] [Search] | Brand | mCPC</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$1,474</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35</a:t>
                      </a:r>
                    </a:p>
                  </a:txBody>
                  <a:tcPr marL="73152" marR="73152" marT="27432" marB="27432" anchor="ctr">
                    <a:solidFill>
                      <a:srgbClr val="FFFFFF"/>
                    </a:solidFill>
                  </a:tcPr>
                </a:tc>
                <a:tc>
                  <a:txBody>
                    <a:bodyPr wrap="square"/>
                    <a:lstStyle/>
                    <a:p>
                      <a:pPr algn="l"/>
                      <a:r>
                        <a:rPr sz="1200" b="0">
                          <a:solidFill>
                            <a:srgbClr val="14213D"/>
                          </a:solidFill>
                          <a:latin typeface="Arial"/>
                        </a:rPr>
                        <a:t>PPC Plumbing</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19</a:t>
                      </a:r>
                    </a:p>
                  </a:txBody>
                  <a:tcPr marL="73152" marR="73152" marT="27432" marB="27432" anchor="ctr">
                    <a:solidFill>
                      <a:srgbClr val="FFFFFF"/>
                    </a:solidFill>
                  </a:tcPr>
                </a:tc>
                <a:tc>
                  <a:txBody>
                    <a:bodyPr wrap="square"/>
                    <a:lstStyle/>
                    <a:p>
                      <a:pPr algn="r"/>
                      <a:r>
                        <a:rPr sz="1200" b="0">
                          <a:solidFill>
                            <a:srgbClr val="14213D"/>
                          </a:solidFill>
                          <a:latin typeface="Arial"/>
                        </a:rPr>
                        <a:t>8</a:t>
                      </a:r>
                    </a:p>
                  </a:txBody>
                  <a:tcPr marL="73152" marR="73152" marT="27432" marB="27432" anchor="ctr">
                    <a:solidFill>
                      <a:srgbClr val="FFFFFF"/>
                    </a:solidFill>
                  </a:tcPr>
                </a:tc>
                <a:tc>
                  <a:txBody>
                    <a:bodyPr wrap="square"/>
                    <a:lstStyle/>
                    <a:p>
                      <a:pPr algn="r"/>
                      <a:r>
                        <a:rPr sz="1200" b="0">
                          <a:solidFill>
                            <a:srgbClr val="14213D"/>
                          </a:solidFill>
                          <a:latin typeface="Arial"/>
                        </a:rPr>
                        <a:t>$1,349</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36</a:t>
                      </a:r>
                    </a:p>
                  </a:txBody>
                  <a:tcPr marL="73152" marR="73152" marT="27432" marB="27432" anchor="ctr">
                    <a:solidFill>
                      <a:srgbClr val="F7F6F2"/>
                    </a:solidFill>
                  </a:tcPr>
                </a:tc>
                <a:tc>
                  <a:txBody>
                    <a:bodyPr wrap="square"/>
                    <a:lstStyle/>
                    <a:p>
                      <a:pPr algn="l"/>
                      <a:r>
                        <a:rPr sz="1200" b="0">
                          <a:solidFill>
                            <a:srgbClr val="14213D"/>
                          </a:solidFill>
                          <a:latin typeface="Arial"/>
                        </a:rPr>
                        <a:t>Direct Mail</a:t>
                      </a:r>
                    </a:p>
                  </a:txBody>
                  <a:tcPr marL="73152" marR="73152" marT="27432" marB="27432" anchor="ctr">
                    <a:solidFill>
                      <a:srgbClr val="F7F6F2"/>
                    </a:solidFill>
                  </a:tcPr>
                </a:tc>
                <a:tc>
                  <a:txBody>
                    <a:bodyPr wrap="square"/>
                    <a:lstStyle/>
                    <a:p>
                      <a:pPr algn="l"/>
                      <a:r>
                        <a:rPr sz="1200" b="0">
                          <a:solidFill>
                            <a:srgbClr val="14213D"/>
                          </a:solidFill>
                          <a:latin typeface="Arial"/>
                        </a:rPr>
                        <a:t>Direct Mktg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11</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$1,177</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37</a:t>
                      </a:r>
                    </a:p>
                  </a:txBody>
                  <a:tcPr marL="73152" marR="73152" marT="27432" marB="27432" anchor="ctr">
                    <a:solidFill>
                      <a:srgbClr val="FFFFFF"/>
                    </a:solidFill>
                  </a:tcPr>
                </a:tc>
                <a:tc>
                  <a:txBody>
                    <a:bodyPr wrap="square"/>
                    <a:lstStyle/>
                    <a:p>
                      <a:pPr algn="l"/>
                      <a:r>
                        <a:rPr sz="1200" b="0">
                          <a:solidFill>
                            <a:srgbClr val="14213D"/>
                          </a:solidFill>
                          <a:latin typeface="Arial"/>
                        </a:rPr>
                        <a:t>Avoca Live Transfer</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13</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$910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38</a:t>
                      </a:r>
                    </a:p>
                  </a:txBody>
                  <a:tcPr marL="73152" marR="73152" marT="27432" marB="27432" anchor="ctr">
                    <a:solidFill>
                      <a:srgbClr val="F7F6F2"/>
                    </a:solidFill>
                  </a:tcPr>
                </a:tc>
                <a:tc>
                  <a:txBody>
                    <a:bodyPr wrap="square"/>
                    <a:lstStyle/>
                    <a:p>
                      <a:pPr algn="l"/>
                      <a:r>
                        <a:rPr sz="1200" b="0">
                          <a:solidFill>
                            <a:srgbClr val="14213D"/>
                          </a:solidFill>
                          <a:latin typeface="Arial"/>
                        </a:rPr>
                        <a:t>PPC Google Brand</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4</a:t>
                      </a:r>
                    </a:p>
                  </a:txBody>
                  <a:tcPr marL="73152" marR="73152" marT="27432" marB="27432" anchor="ctr">
                    <a:solidFill>
                      <a:srgbClr val="F7F6F2"/>
                    </a:solidFill>
                  </a:tcPr>
                </a:tc>
                <a:tc>
                  <a:txBody>
                    <a:bodyPr wrap="square"/>
                    <a:lstStyle/>
                    <a:p>
                      <a:pPr algn="r"/>
                      <a:r>
                        <a:rPr sz="1200" b="0">
                          <a:solidFill>
                            <a:srgbClr val="14213D"/>
                          </a:solidFill>
                          <a:latin typeface="Arial"/>
                        </a:rPr>
                        <a:t>$790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39</a:t>
                      </a:r>
                    </a:p>
                  </a:txBody>
                  <a:tcPr marL="73152" marR="73152" marT="27432" marB="27432" anchor="ctr">
                    <a:solidFill>
                      <a:srgbClr val="FFFFFF"/>
                    </a:solidFill>
                  </a:tcPr>
                </a:tc>
                <a:tc>
                  <a:txBody>
                    <a:bodyPr wrap="square"/>
                    <a:lstStyle/>
                    <a:p>
                      <a:pPr algn="l"/>
                      <a:r>
                        <a:rPr sz="1200" b="0">
                          <a:solidFill>
                            <a:srgbClr val="14213D"/>
                          </a:solidFill>
                          <a:latin typeface="Arial"/>
                        </a:rPr>
                        <a:t>Spring HVAC Tuneup $79</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11</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$624</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40–52</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13</a:t>
            </a:r>
          </a:p>
        </p:txBody>
      </p:sp>
      <p:graphicFrame>
        <p:nvGraphicFramePr>
          <p:cNvPr id="5" name="Ranking 40-52"/>
          <p:cNvGraphicFramePr>
            <a:graphicFrameLocks noGrp="1"/>
          </p:cNvGraphicFramePr>
          <p:nvPr/>
        </p:nvGraphicFramePr>
        <p:xfrm>
          <a:off x="548640" y="1234440"/>
          <a:ext cx="11094415" cy="4864608"/>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40</a:t>
                      </a:r>
                    </a:p>
                  </a:txBody>
                  <a:tcPr marL="73152" marR="73152" marT="27432" marB="27432" anchor="ctr">
                    <a:solidFill>
                      <a:srgbClr val="FFFFFF"/>
                    </a:solidFill>
                  </a:tcPr>
                </a:tc>
                <a:tc>
                  <a:txBody>
                    <a:bodyPr wrap="square"/>
                    <a:lstStyle/>
                    <a:p>
                      <a:pPr algn="l"/>
                      <a:r>
                        <a:rPr sz="1200" b="0">
                          <a:solidFill>
                            <a:srgbClr val="14213D"/>
                          </a:solidFill>
                          <a:latin typeface="Arial"/>
                        </a:rPr>
                        <a:t>mapstakeover</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22</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$544</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41</a:t>
                      </a:r>
                    </a:p>
                  </a:txBody>
                  <a:tcPr marL="73152" marR="73152" marT="27432" marB="27432" anchor="ctr">
                    <a:solidFill>
                      <a:srgbClr val="F7F6F2"/>
                    </a:solidFill>
                  </a:tcPr>
                </a:tc>
                <a:tc>
                  <a:txBody>
                    <a:bodyPr wrap="square"/>
                    <a:lstStyle/>
                    <a:p>
                      <a:pPr algn="l"/>
                      <a:r>
                        <a:rPr sz="1200" b="0">
                          <a:solidFill>
                            <a:srgbClr val="14213D"/>
                          </a:solidFill>
                          <a:latin typeface="Arial"/>
                        </a:rPr>
                        <a:t>Google Ads Pending Validation</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15</a:t>
                      </a:r>
                    </a:p>
                  </a:txBody>
                  <a:tcPr marL="73152" marR="73152" marT="27432" marB="27432" anchor="ctr">
                    <a:solidFill>
                      <a:srgbClr val="F7F6F2"/>
                    </a:solidFill>
                  </a:tcPr>
                </a:tc>
                <a:tc>
                  <a:txBody>
                    <a:bodyPr wrap="square"/>
                    <a:lstStyle/>
                    <a:p>
                      <a:pPr algn="r"/>
                      <a:r>
                        <a:rPr sz="1200" b="0">
                          <a:solidFill>
                            <a:srgbClr val="14213D"/>
                          </a:solidFill>
                          <a:latin typeface="Arial"/>
                        </a:rPr>
                        <a:t>6</a:t>
                      </a:r>
                    </a:p>
                  </a:txBody>
                  <a:tcPr marL="73152" marR="73152" marT="27432" marB="27432" anchor="ctr">
                    <a:solidFill>
                      <a:srgbClr val="F7F6F2"/>
                    </a:solidFill>
                  </a:tcPr>
                </a:tc>
                <a:tc>
                  <a:txBody>
                    <a:bodyPr wrap="square"/>
                    <a:lstStyle/>
                    <a:p>
                      <a:pPr algn="r"/>
                      <a:r>
                        <a:rPr sz="1200" b="0">
                          <a:solidFill>
                            <a:srgbClr val="14213D"/>
                          </a:solidFill>
                          <a:latin typeface="Arial"/>
                        </a:rPr>
                        <a:t>$404</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42</a:t>
                      </a:r>
                    </a:p>
                  </a:txBody>
                  <a:tcPr marL="73152" marR="73152" marT="27432" marB="27432" anchor="ctr">
                    <a:solidFill>
                      <a:srgbClr val="FFFFFF"/>
                    </a:solidFill>
                  </a:tcPr>
                </a:tc>
                <a:tc>
                  <a:txBody>
                    <a:bodyPr wrap="square"/>
                    <a:lstStyle/>
                    <a:p>
                      <a:pPr algn="l"/>
                      <a:r>
                        <a:rPr sz="1200" b="0">
                          <a:solidFill>
                            <a:srgbClr val="14213D"/>
                          </a:solidFill>
                          <a:latin typeface="Arial"/>
                        </a:rPr>
                        <a:t>Yahoo Organic</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10</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$375</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43</a:t>
                      </a:r>
                    </a:p>
                  </a:txBody>
                  <a:tcPr marL="73152" marR="73152" marT="27432" marB="27432" anchor="ctr">
                    <a:solidFill>
                      <a:srgbClr val="F7F6F2"/>
                    </a:solidFill>
                  </a:tcPr>
                </a:tc>
                <a:tc>
                  <a:txBody>
                    <a:bodyPr wrap="square"/>
                    <a:lstStyle/>
                    <a:p>
                      <a:pPr algn="l"/>
                      <a:r>
                        <a:rPr sz="1200" b="0">
                          <a:solidFill>
                            <a:srgbClr val="14213D"/>
                          </a:solidFill>
                          <a:latin typeface="Arial"/>
                        </a:rPr>
                        <a:t>Aug 2026 Special | $100 Off Plumbing</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$431</a:t>
                      </a:r>
                    </a:p>
                  </a:txBody>
                  <a:tcPr marL="73152" marR="73152" marT="27432" marB="27432" anchor="ctr">
                    <a:solidFill>
                      <a:srgbClr val="F7F6F2"/>
                    </a:solidFill>
                  </a:tcPr>
                </a:tc>
                <a:tc>
                  <a:txBody>
                    <a:bodyPr wrap="square"/>
                    <a:lstStyle/>
                    <a:p>
                      <a:pPr algn="r"/>
                      <a:r>
                        <a:rPr sz="1200" b="0">
                          <a:solidFill>
                            <a:srgbClr val="14213D"/>
                          </a:solidFill>
                          <a:latin typeface="Arial"/>
                        </a:rPr>
                        <a:t>3</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$319</a:t>
                      </a:r>
                    </a:p>
                  </a:txBody>
                  <a:tcPr marL="73152" marR="73152" marT="27432" marB="27432" anchor="ctr">
                    <a:solidFill>
                      <a:srgbClr val="F7F6F2"/>
                    </a:solidFill>
                  </a:tcPr>
                </a:tc>
                <a:tc>
                  <a:txBody>
                    <a:bodyPr wrap="square"/>
                    <a:lstStyle/>
                    <a:p>
                      <a:pPr algn="r"/>
                      <a:r>
                        <a:rPr sz="1200" b="0">
                          <a:solidFill>
                            <a:srgbClr val="14213D"/>
                          </a:solidFill>
                          <a:latin typeface="Arial"/>
                        </a:rPr>
                        <a:t>0.74x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44</a:t>
                      </a:r>
                    </a:p>
                  </a:txBody>
                  <a:tcPr marL="73152" marR="73152" marT="27432" marB="27432" anchor="ctr">
                    <a:solidFill>
                      <a:srgbClr val="FFFFFF"/>
                    </a:solidFill>
                  </a:tcPr>
                </a:tc>
                <a:tc>
                  <a:txBody>
                    <a:bodyPr wrap="square"/>
                    <a:lstStyle/>
                    <a:p>
                      <a:pPr algn="l"/>
                      <a:r>
                        <a:rPr sz="1200" b="0">
                          <a:solidFill>
                            <a:srgbClr val="14213D"/>
                          </a:solidFill>
                          <a:latin typeface="Arial"/>
                        </a:rPr>
                        <a:t>Direct Mail</a:t>
                      </a:r>
                    </a:p>
                  </a:txBody>
                  <a:tcPr marL="73152" marR="73152" marT="27432" marB="27432" anchor="ctr">
                    <a:solidFill>
                      <a:srgbClr val="FFFFFF"/>
                    </a:solidFill>
                  </a:tcPr>
                </a:tc>
                <a:tc>
                  <a:txBody>
                    <a:bodyPr wrap="square"/>
                    <a:lstStyle/>
                    <a:p>
                      <a:pPr algn="l"/>
                      <a:r>
                        <a:rPr sz="1200" b="0">
                          <a:solidFill>
                            <a:srgbClr val="14213D"/>
                          </a:solidFill>
                          <a:latin typeface="Arial"/>
                        </a:rPr>
                        <a:t>Organic</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$300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45</a:t>
                      </a:r>
                    </a:p>
                  </a:txBody>
                  <a:tcPr marL="73152" marR="73152" marT="27432" marB="27432" anchor="ctr">
                    <a:solidFill>
                      <a:srgbClr val="F7F6F2"/>
                    </a:solidFill>
                  </a:tcPr>
                </a:tc>
                <a:tc>
                  <a:txBody>
                    <a:bodyPr wrap="square"/>
                    <a:lstStyle/>
                    <a:p>
                      <a:pPr algn="l"/>
                      <a:r>
                        <a:rPr sz="1200" b="0">
                          <a:solidFill>
                            <a:srgbClr val="14213D"/>
                          </a:solidFill>
                          <a:latin typeface="Arial"/>
                        </a:rPr>
                        <a:t>[V] [PMAX] | US | Heating | tCPA $50</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$259</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46</a:t>
                      </a:r>
                    </a:p>
                  </a:txBody>
                  <a:tcPr marL="73152" marR="73152" marT="27432" marB="27432" anchor="ctr">
                    <a:solidFill>
                      <a:srgbClr val="FFFFFF"/>
                    </a:solidFill>
                  </a:tcPr>
                </a:tc>
                <a:tc>
                  <a:txBody>
                    <a:bodyPr wrap="square"/>
                    <a:lstStyle/>
                    <a:p>
                      <a:pPr algn="l"/>
                      <a:r>
                        <a:rPr sz="1200" b="0">
                          <a:solidFill>
                            <a:srgbClr val="14213D"/>
                          </a:solidFill>
                          <a:latin typeface="Arial"/>
                        </a:rPr>
                        <a:t>August 2026 Special | $100 Off HVAC Repair - Copy</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$3,871</a:t>
                      </a:r>
                    </a:p>
                  </a:txBody>
                  <a:tcPr marL="73152" marR="73152" marT="27432" marB="27432" anchor="ctr">
                    <a:solidFill>
                      <a:srgbClr val="FFFFFF"/>
                    </a:solidFill>
                  </a:tcPr>
                </a:tc>
                <a:tc>
                  <a:txBody>
                    <a:bodyPr wrap="square"/>
                    <a:lstStyle/>
                    <a:p>
                      <a:pPr algn="r"/>
                      <a:r>
                        <a:rPr sz="1200" b="0">
                          <a:solidFill>
                            <a:srgbClr val="14213D"/>
                          </a:solidFill>
                          <a:latin typeface="Arial"/>
                        </a:rPr>
                        <a:t>19</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47</a:t>
                      </a:r>
                    </a:p>
                  </a:txBody>
                  <a:tcPr marL="73152" marR="73152" marT="27432" marB="27432" anchor="ctr">
                    <a:solidFill>
                      <a:srgbClr val="F7F6F2"/>
                    </a:solidFill>
                  </a:tcPr>
                </a:tc>
                <a:tc>
                  <a:txBody>
                    <a:bodyPr wrap="square"/>
                    <a:lstStyle/>
                    <a:p>
                      <a:pPr algn="l"/>
                      <a:r>
                        <a:rPr sz="1200" b="0">
                          <a:solidFill>
                            <a:srgbClr val="14213D"/>
                          </a:solidFill>
                          <a:latin typeface="Arial"/>
                        </a:rPr>
                        <a:t>DuckDuckGo Organic</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48</a:t>
                      </a:r>
                    </a:p>
                  </a:txBody>
                  <a:tcPr marL="73152" marR="73152" marT="27432" marB="27432" anchor="ctr">
                    <a:solidFill>
                      <a:srgbClr val="FFFFFF"/>
                    </a:solidFill>
                  </a:tcPr>
                </a:tc>
                <a:tc>
                  <a:txBody>
                    <a:bodyPr wrap="square"/>
                    <a:lstStyle/>
                    <a:p>
                      <a:pPr algn="l"/>
                      <a:r>
                        <a:rPr sz="1200" b="0">
                          <a:solidFill>
                            <a:srgbClr val="14213D"/>
                          </a:solidFill>
                          <a:latin typeface="Arial"/>
                        </a:rPr>
                        <a:t>(no campaign)</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2</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49</a:t>
                      </a:r>
                    </a:p>
                  </a:txBody>
                  <a:tcPr marL="73152" marR="73152" marT="27432" marB="27432" anchor="ctr">
                    <a:solidFill>
                      <a:srgbClr val="F7F6F2"/>
                    </a:solidFill>
                  </a:tcPr>
                </a:tc>
                <a:tc>
                  <a:txBody>
                    <a:bodyPr wrap="square"/>
                    <a:lstStyle/>
                    <a:p>
                      <a:pPr algn="l"/>
                      <a:r>
                        <a:rPr sz="1200" b="0">
                          <a:solidFill>
                            <a:srgbClr val="14213D"/>
                          </a:solidFill>
                          <a:latin typeface="Arial"/>
                        </a:rPr>
                        <a:t>Uncategorized</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10</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50</a:t>
                      </a:r>
                    </a:p>
                  </a:txBody>
                  <a:tcPr marL="73152" marR="73152" marT="27432" marB="27432" anchor="ctr">
                    <a:solidFill>
                      <a:srgbClr val="FFFFFF"/>
                    </a:solidFill>
                  </a:tcPr>
                </a:tc>
                <a:tc>
                  <a:txBody>
                    <a:bodyPr wrap="square"/>
                    <a:lstStyle/>
                    <a:p>
                      <a:pPr algn="l"/>
                      <a:r>
                        <a:rPr sz="1200" b="0">
                          <a:solidFill>
                            <a:srgbClr val="14213D"/>
                          </a:solidFill>
                          <a:latin typeface="Arial"/>
                        </a:rPr>
                        <a:t>Uncategorized</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51</a:t>
                      </a:r>
                    </a:p>
                  </a:txBody>
                  <a:tcPr marL="73152" marR="73152" marT="27432" marB="27432" anchor="ctr">
                    <a:solidFill>
                      <a:srgbClr val="F7F6F2"/>
                    </a:solidFill>
                  </a:tcPr>
                </a:tc>
                <a:tc>
                  <a:txBody>
                    <a:bodyPr wrap="square"/>
                    <a:lstStyle/>
                    <a:p>
                      <a:pPr algn="l"/>
                      <a:r>
                        <a:rPr sz="1200" b="0">
                          <a:solidFill>
                            <a:srgbClr val="14213D"/>
                          </a:solidFill>
                          <a:latin typeface="Arial"/>
                        </a:rPr>
                        <a:t>Promotional Maintenance MailChimp</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157</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52</a:t>
                      </a:r>
                    </a:p>
                  </a:txBody>
                  <a:tcPr marL="73152" marR="73152" marT="27432" marB="27432" anchor="ctr">
                    <a:solidFill>
                      <a:srgbClr val="FFFFFF"/>
                    </a:solidFill>
                  </a:tcPr>
                </a:tc>
                <a:tc>
                  <a:txBody>
                    <a:bodyPr wrap="square"/>
                    <a:lstStyle/>
                    <a:p>
                      <a:pPr algn="l"/>
                      <a:r>
                        <a:rPr sz="1200" b="0">
                          <a:solidFill>
                            <a:srgbClr val="14213D"/>
                          </a:solidFill>
                          <a:latin typeface="Arial"/>
                        </a:rPr>
                        <a:t>July - Sept 2026 Special | $99 New System</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$2,481</a:t>
                      </a:r>
                    </a:p>
                  </a:txBody>
                  <a:tcPr marL="73152" marR="73152" marT="27432" marB="27432" anchor="ctr">
                    <a:solidFill>
                      <a:srgbClr val="FFFFFF"/>
                    </a:solidFill>
                  </a:tcPr>
                </a:tc>
                <a:tc>
                  <a:txBody>
                    <a:bodyPr wrap="square"/>
                    <a:lstStyle/>
                    <a:p>
                      <a:pPr algn="r"/>
                      <a:r>
                        <a:rPr sz="1200" b="0">
                          <a:solidFill>
                            <a:srgbClr val="14213D"/>
                          </a:solidFill>
                          <a:latin typeface="Arial"/>
                        </a:rPr>
                        <a:t>8</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14213D"/>
                </a:solidFill>
                <a:latin typeface="Arial"/>
              </a:rPr>
              <a:t>All campaigns ranked by closed revenue · 53–63</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sz="1000" b="0">
                <a:solidFill>
                  <a:srgbClr val="5A6478"/>
                </a:solidFill>
                <a:latin typeface="Arial"/>
              </a:rPr>
              <a:t>Source: Searchlight · Jan 1 – Sep 30, 2026 · 45 retention and follow-up campaigns excluded</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sz="1000" b="0">
                <a:solidFill>
                  <a:srgbClr val="5A6478"/>
                </a:solidFill>
                <a:latin typeface="Arial"/>
              </a:rPr>
              <a:t>14</a:t>
            </a:r>
          </a:p>
        </p:txBody>
      </p:sp>
      <p:graphicFrame>
        <p:nvGraphicFramePr>
          <p:cNvPr id="5" name="Ranking 53-63"/>
          <p:cNvGraphicFramePr>
            <a:graphicFrameLocks noGrp="1"/>
          </p:cNvGraphicFramePr>
          <p:nvPr/>
        </p:nvGraphicFramePr>
        <p:xfrm>
          <a:off x="548640" y="1234440"/>
          <a:ext cx="11094415" cy="4517136"/>
        </p:xfrm>
        <a:graphic>
          <a:graphicData uri="http://schemas.openxmlformats.org/drawingml/2006/table">
            <a:tbl>
              <a:tblPr firstRow="1">
                <a:tableStyleId>{5C22544A-7EE6-4342-B048-85BDC9FD1C3A}</a:tableStyleId>
              </a:tblPr>
              <a:tblGrid>
                <a:gridCol w="457200"/>
                <a:gridCol w="4480560"/>
                <a:gridCol w="1371600"/>
                <a:gridCol w="1097280"/>
                <a:gridCol w="822960"/>
                <a:gridCol w="822960"/>
                <a:gridCol w="1188720"/>
                <a:gridCol w="853135"/>
              </a:tblGrid>
              <a:tr h="347472">
                <a:tc>
                  <a:txBody>
                    <a:bodyPr wrap="square"/>
                    <a:lstStyle/>
                    <a:p>
                      <a:pPr algn="r"/>
                      <a:r>
                        <a:rPr sz="1200" b="1">
                          <a:solidFill>
                            <a:srgbClr val="FFFFFF"/>
                          </a:solidFill>
                          <a:latin typeface="Arial"/>
                        </a:rPr>
                        <a:t>#</a:t>
                      </a:r>
                    </a:p>
                  </a:txBody>
                  <a:tcPr marL="73152" marR="73152" marT="27432" marB="27432" anchor="ctr">
                    <a:solidFill>
                      <a:srgbClr val="14213D"/>
                    </a:solidFill>
                  </a:tcPr>
                </a:tc>
                <a:tc>
                  <a:txBody>
                    <a:bodyPr wrap="square"/>
                    <a:lstStyle/>
                    <a:p>
                      <a:pPr algn="l"/>
                      <a:r>
                        <a:rPr sz="1200" b="1">
                          <a:solidFill>
                            <a:srgbClr val="FFFFFF"/>
                          </a:solidFill>
                          <a:latin typeface="Arial"/>
                        </a:rPr>
                        <a:t>Campaign</a:t>
                      </a:r>
                    </a:p>
                  </a:txBody>
                  <a:tcPr marL="73152" marR="73152" marT="27432" marB="27432" anchor="ctr">
                    <a:solidFill>
                      <a:srgbClr val="14213D"/>
                    </a:solidFill>
                  </a:tcPr>
                </a:tc>
                <a:tc>
                  <a:txBody>
                    <a:bodyPr wrap="square"/>
                    <a:lstStyle/>
                    <a:p>
                      <a:pPr algn="l"/>
                      <a:r>
                        <a:rPr sz="1200" b="1">
                          <a:solidFill>
                            <a:srgbClr val="FFFFFF"/>
                          </a:solidFill>
                          <a:latin typeface="Arial"/>
                        </a:rPr>
                        <a:t>Channel</a:t>
                      </a:r>
                    </a:p>
                  </a:txBody>
                  <a:tcPr marL="73152" marR="73152" marT="27432" marB="27432" anchor="ctr">
                    <a:solidFill>
                      <a:srgbClr val="14213D"/>
                    </a:solidFill>
                  </a:tcPr>
                </a:tc>
                <a:tc>
                  <a:txBody>
                    <a:bodyPr wrap="square"/>
                    <a:lstStyle/>
                    <a:p>
                      <a:pPr algn="r"/>
                      <a:r>
                        <a:rPr sz="1200" b="1">
                          <a:solidFill>
                            <a:srgbClr val="FFFFFF"/>
                          </a:solidFill>
                          <a:latin typeface="Arial"/>
                        </a:rPr>
                        <a:t>Spend</a:t>
                      </a:r>
                    </a:p>
                  </a:txBody>
                  <a:tcPr marL="73152" marR="73152" marT="27432" marB="27432" anchor="ctr">
                    <a:solidFill>
                      <a:srgbClr val="14213D"/>
                    </a:solidFill>
                  </a:tcPr>
                </a:tc>
                <a:tc>
                  <a:txBody>
                    <a:bodyPr wrap="square"/>
                    <a:lstStyle/>
                    <a:p>
                      <a:pPr algn="r"/>
                      <a:r>
                        <a:rPr sz="1200" b="1">
                          <a:solidFill>
                            <a:srgbClr val="FFFFFF"/>
                          </a:solidFill>
                          <a:latin typeface="Arial"/>
                        </a:rPr>
                        <a:t>Leads</a:t>
                      </a:r>
                    </a:p>
                  </a:txBody>
                  <a:tcPr marL="73152" marR="73152" marT="27432" marB="27432" anchor="ctr">
                    <a:solidFill>
                      <a:srgbClr val="14213D"/>
                    </a:solidFill>
                  </a:tcPr>
                </a:tc>
                <a:tc>
                  <a:txBody>
                    <a:bodyPr wrap="square"/>
                    <a:lstStyle/>
                    <a:p>
                      <a:pPr algn="r"/>
                      <a:r>
                        <a:rPr sz="1200" b="1">
                          <a:solidFill>
                            <a:srgbClr val="FFFFFF"/>
                          </a:solidFill>
                          <a:latin typeface="Arial"/>
                        </a:rPr>
                        <a:t>Booked</a:t>
                      </a:r>
                    </a:p>
                  </a:txBody>
                  <a:tcPr marL="73152" marR="73152" marT="27432" marB="27432" anchor="ctr">
                    <a:solidFill>
                      <a:srgbClr val="14213D"/>
                    </a:solidFill>
                  </a:tcPr>
                </a:tc>
                <a:tc>
                  <a:txBody>
                    <a:bodyPr wrap="square"/>
                    <a:lstStyle/>
                    <a:p>
                      <a:pPr algn="r"/>
                      <a:r>
                        <a:rPr sz="1200" b="1">
                          <a:solidFill>
                            <a:srgbClr val="FFFFFF"/>
                          </a:solidFill>
                          <a:latin typeface="Arial"/>
                        </a:rPr>
                        <a:t>Closed rev.</a:t>
                      </a:r>
                    </a:p>
                  </a:txBody>
                  <a:tcPr marL="73152" marR="73152" marT="27432" marB="27432" anchor="ctr">
                    <a:solidFill>
                      <a:srgbClr val="14213D"/>
                    </a:solidFill>
                  </a:tcPr>
                </a:tc>
                <a:tc>
                  <a:txBody>
                    <a:bodyPr wrap="square"/>
                    <a:lstStyle/>
                    <a:p>
                      <a:pPr algn="r"/>
                      <a:r>
                        <a:rPr sz="1200" b="1">
                          <a:solidFill>
                            <a:srgbClr val="FFFFFF"/>
                          </a:solidFill>
                          <a:latin typeface="Arial"/>
                        </a:rPr>
                        <a:t>ROAS</a:t>
                      </a:r>
                    </a:p>
                  </a:txBody>
                  <a:tcPr marL="73152" marR="73152" marT="27432" marB="27432" anchor="ctr">
                    <a:solidFill>
                      <a:srgbClr val="14213D"/>
                    </a:solidFill>
                  </a:tcPr>
                </a:tc>
              </a:tr>
              <a:tr h="347472">
                <a:tc>
                  <a:txBody>
                    <a:bodyPr wrap="square"/>
                    <a:lstStyle/>
                    <a:p>
                      <a:pPr algn="r"/>
                      <a:r>
                        <a:rPr sz="1200" b="0">
                          <a:solidFill>
                            <a:srgbClr val="14213D"/>
                          </a:solidFill>
                          <a:latin typeface="Arial"/>
                        </a:rPr>
                        <a:t>53</a:t>
                      </a:r>
                    </a:p>
                  </a:txBody>
                  <a:tcPr marL="73152" marR="73152" marT="27432" marB="27432" anchor="ctr">
                    <a:solidFill>
                      <a:srgbClr val="FFFFFF"/>
                    </a:solidFill>
                  </a:tcPr>
                </a:tc>
                <a:tc>
                  <a:txBody>
                    <a:bodyPr wrap="square"/>
                    <a:lstStyle/>
                    <a:p>
                      <a:pPr algn="l"/>
                      <a:r>
                        <a:rPr sz="1200" b="0">
                          <a:solidFill>
                            <a:srgbClr val="14213D"/>
                          </a:solidFill>
                          <a:latin typeface="Arial"/>
                        </a:rPr>
                        <a:t>Trane TCS Leads</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54</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 - Unbooked Customers Over 3 years</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55</a:t>
                      </a:r>
                    </a:p>
                  </a:txBody>
                  <a:tcPr marL="73152" marR="73152" marT="27432" marB="27432" anchor="ctr">
                    <a:solidFill>
                      <a:srgbClr val="FFFFFF"/>
                    </a:solidFill>
                  </a:tcPr>
                </a:tc>
                <a:tc>
                  <a:txBody>
                    <a:bodyPr wrap="square"/>
                    <a:lstStyle/>
                    <a:p>
                      <a:pPr algn="l"/>
                      <a:r>
                        <a:rPr sz="1200" b="0">
                          <a:solidFill>
                            <a:srgbClr val="14213D"/>
                          </a:solidFill>
                          <a:latin typeface="Arial"/>
                        </a:rPr>
                        <a:t>Leads Campaign June Offers</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$2,082</a:t>
                      </a:r>
                    </a:p>
                  </a:txBody>
                  <a:tcPr marL="73152" marR="73152" marT="27432" marB="27432" anchor="ctr">
                    <a:solidFill>
                      <a:srgbClr val="FFFFFF"/>
                    </a:solidFill>
                  </a:tcPr>
                </a:tc>
                <a:tc>
                  <a:txBody>
                    <a:bodyPr wrap="square"/>
                    <a:lstStyle/>
                    <a:p>
                      <a:pPr algn="r"/>
                      <a:r>
                        <a:rPr sz="1200" b="0">
                          <a:solidFill>
                            <a:srgbClr val="14213D"/>
                          </a:solidFill>
                          <a:latin typeface="Arial"/>
                        </a:rPr>
                        <a:t>5</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0.00x</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56</a:t>
                      </a:r>
                    </a:p>
                  </a:txBody>
                  <a:tcPr marL="73152" marR="73152" marT="27432" marB="27432" anchor="ctr">
                    <a:solidFill>
                      <a:srgbClr val="F7F6F2"/>
                    </a:solidFill>
                  </a:tcPr>
                </a:tc>
                <a:tc>
                  <a:txBody>
                    <a:bodyPr wrap="square"/>
                    <a:lstStyle/>
                    <a:p>
                      <a:pPr algn="l"/>
                      <a:r>
                        <a:rPr sz="1200" b="0">
                          <a:solidFill>
                            <a:srgbClr val="14213D"/>
                          </a:solidFill>
                          <a:latin typeface="Arial"/>
                        </a:rPr>
                        <a:t>PDM -  Sept Plumbing Offer</a:t>
                      </a:r>
                    </a:p>
                  </a:txBody>
                  <a:tcPr marL="73152" marR="73152" marT="27432" marB="27432" anchor="ctr">
                    <a:solidFill>
                      <a:srgbClr val="F7F6F2"/>
                    </a:solidFill>
                  </a:tcPr>
                </a:tc>
                <a:tc>
                  <a:txBody>
                    <a:bodyPr wrap="square"/>
                    <a:lstStyle/>
                    <a:p>
                      <a:pPr algn="l"/>
                      <a:r>
                        <a:rPr sz="1200" b="0">
                          <a:solidFill>
                            <a:srgbClr val="14213D"/>
                          </a:solidFill>
                          <a:latin typeface="Arial"/>
                        </a:rPr>
                        <a:t>Advertising</a:t>
                      </a:r>
                    </a:p>
                  </a:txBody>
                  <a:tcPr marL="73152" marR="73152" marT="27432" marB="27432" anchor="ctr">
                    <a:solidFill>
                      <a:srgbClr val="F7F6F2"/>
                    </a:solidFill>
                  </a:tcPr>
                </a:tc>
                <a:tc>
                  <a:txBody>
                    <a:bodyPr wrap="square"/>
                    <a:lstStyle/>
                    <a:p>
                      <a:pPr algn="r"/>
                      <a:r>
                        <a:rPr sz="1200" b="0">
                          <a:solidFill>
                            <a:srgbClr val="14213D"/>
                          </a:solidFill>
                          <a:latin typeface="Arial"/>
                        </a:rPr>
                        <a:t>$828</a:t>
                      </a:r>
                    </a:p>
                  </a:txBody>
                  <a:tcPr marL="73152" marR="73152" marT="27432" marB="27432" anchor="ctr">
                    <a:solidFill>
                      <a:srgbClr val="F7F6F2"/>
                    </a:solidFill>
                  </a:tcPr>
                </a:tc>
                <a:tc>
                  <a:txBody>
                    <a:bodyPr wrap="square"/>
                    <a:lstStyle/>
                    <a:p>
                      <a:pPr algn="r"/>
                      <a:r>
                        <a:rPr sz="1200" b="0">
                          <a:solidFill>
                            <a:srgbClr val="14213D"/>
                          </a:solidFill>
                          <a:latin typeface="Arial"/>
                        </a:rPr>
                        <a:t>5</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0.00x</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57</a:t>
                      </a:r>
                    </a:p>
                  </a:txBody>
                  <a:tcPr marL="73152" marR="73152" marT="27432" marB="27432" anchor="ctr">
                    <a:solidFill>
                      <a:srgbClr val="FFFFFF"/>
                    </a:solidFill>
                  </a:tcPr>
                </a:tc>
                <a:tc>
                  <a:txBody>
                    <a:bodyPr wrap="square"/>
                    <a:lstStyle/>
                    <a:p>
                      <a:pPr algn="l"/>
                      <a:r>
                        <a:rPr sz="1200" b="0">
                          <a:solidFill>
                            <a:srgbClr val="14213D"/>
                          </a:solidFill>
                          <a:latin typeface="Arial"/>
                        </a:rPr>
                        <a:t>test DM</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4</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58</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 Charleston</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3</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59</a:t>
                      </a:r>
                    </a:p>
                  </a:txBody>
                  <a:tcPr marL="73152" marR="73152" marT="27432" marB="27432" anchor="ctr">
                    <a:solidFill>
                      <a:srgbClr val="FFFFFF"/>
                    </a:solidFill>
                  </a:tcPr>
                </a:tc>
                <a:tc>
                  <a:txBody>
                    <a:bodyPr wrap="square"/>
                    <a:lstStyle/>
                    <a:p>
                      <a:pPr algn="l"/>
                      <a:r>
                        <a:rPr sz="1200" b="0">
                          <a:solidFill>
                            <a:srgbClr val="14213D"/>
                          </a:solidFill>
                          <a:latin typeface="Arial"/>
                        </a:rPr>
                        <a:t>December 2024 $99 Tune Up Promotional Offer</a:t>
                      </a:r>
                    </a:p>
                  </a:txBody>
                  <a:tcPr marL="73152" marR="73152" marT="27432" marB="27432" anchor="ctr">
                    <a:solidFill>
                      <a:srgbClr val="FFFFFF"/>
                    </a:solidFill>
                  </a:tcPr>
                </a:tc>
                <a:tc>
                  <a:txBody>
                    <a:bodyPr wrap="square"/>
                    <a:lstStyle/>
                    <a:p>
                      <a:pPr algn="l"/>
                      <a:r>
                        <a:rPr sz="1200" b="0">
                          <a:solidFill>
                            <a:srgbClr val="14213D"/>
                          </a:solidFill>
                          <a:latin typeface="Arial"/>
                        </a:rPr>
                        <a:t>Other</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3</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60</a:t>
                      </a:r>
                    </a:p>
                  </a:txBody>
                  <a:tcPr marL="73152" marR="73152" marT="27432" marB="27432" anchor="ctr">
                    <a:solidFill>
                      <a:srgbClr val="F7F6F2"/>
                    </a:solidFill>
                  </a:tcPr>
                </a:tc>
                <a:tc>
                  <a:txBody>
                    <a:bodyPr wrap="square"/>
                    <a:lstStyle/>
                    <a:p>
                      <a:pPr algn="l"/>
                      <a:r>
                        <a:rPr sz="1200" b="0">
                          <a:solidFill>
                            <a:srgbClr val="14213D"/>
                          </a:solidFill>
                          <a:latin typeface="Arial"/>
                        </a:rPr>
                        <a:t>$99 Winter Tuneup Promo</a:t>
                      </a:r>
                    </a:p>
                  </a:txBody>
                  <a:tcPr marL="73152" marR="73152" marT="27432" marB="27432" anchor="ctr">
                    <a:solidFill>
                      <a:srgbClr val="F7F6F2"/>
                    </a:solidFill>
                  </a:tcPr>
                </a:tc>
                <a:tc>
                  <a:txBody>
                    <a:bodyPr wrap="square"/>
                    <a:lstStyle/>
                    <a:p>
                      <a:pPr algn="l"/>
                      <a:r>
                        <a:rPr sz="1200" b="0">
                          <a:solidFill>
                            <a:srgbClr val="14213D"/>
                          </a:solidFill>
                          <a:latin typeface="Arial"/>
                        </a:rPr>
                        <a:t>Other</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2</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61</a:t>
                      </a:r>
                    </a:p>
                  </a:txBody>
                  <a:tcPr marL="73152" marR="73152" marT="27432" marB="27432" anchor="ctr">
                    <a:solidFill>
                      <a:srgbClr val="FFFFFF"/>
                    </a:solidFill>
                  </a:tcPr>
                </a:tc>
                <a:tc>
                  <a:txBody>
                    <a:bodyPr wrap="square"/>
                    <a:lstStyle/>
                    <a:p>
                      <a:pPr algn="l"/>
                      <a:r>
                        <a:rPr sz="1200" b="0">
                          <a:solidFill>
                            <a:srgbClr val="14213D"/>
                          </a:solidFill>
                          <a:latin typeface="Arial"/>
                        </a:rPr>
                        <a:t>[Va] [Search] | HVAC | mCPC &gt; tCPA $50 &gt; $40 &gt; $61</a:t>
                      </a:r>
                    </a:p>
                  </a:txBody>
                  <a:tcPr marL="73152" marR="73152" marT="27432" marB="27432" anchor="ctr">
                    <a:solidFill>
                      <a:srgbClr val="FFFFFF"/>
                    </a:solidFill>
                  </a:tcPr>
                </a:tc>
                <a:tc>
                  <a:txBody>
                    <a:bodyPr wrap="square"/>
                    <a:lstStyle/>
                    <a:p>
                      <a:pPr algn="l"/>
                      <a:r>
                        <a:rPr sz="1200" b="0">
                          <a:solidFill>
                            <a:srgbClr val="14213D"/>
                          </a:solidFill>
                          <a:latin typeface="Arial"/>
                        </a:rPr>
                        <a:t>Advertising</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0">
                          <a:solidFill>
                            <a:srgbClr val="14213D"/>
                          </a:solidFill>
                          <a:latin typeface="Arial"/>
                        </a:rPr>
                        <a:t>62</a:t>
                      </a:r>
                    </a:p>
                  </a:txBody>
                  <a:tcPr marL="73152" marR="73152" marT="27432" marB="27432" anchor="ctr">
                    <a:solidFill>
                      <a:srgbClr val="F7F6F2"/>
                    </a:solidFill>
                  </a:tcPr>
                </a:tc>
                <a:tc>
                  <a:txBody>
                    <a:bodyPr wrap="square"/>
                    <a:lstStyle/>
                    <a:p>
                      <a:pPr algn="l"/>
                      <a:r>
                        <a:rPr sz="1200" b="0">
                          <a:solidFill>
                            <a:srgbClr val="14213D"/>
                          </a:solidFill>
                          <a:latin typeface="Arial"/>
                        </a:rPr>
                        <a:t>thebluebook</a:t>
                      </a:r>
                    </a:p>
                  </a:txBody>
                  <a:tcPr marL="73152" marR="73152" marT="27432" marB="27432" anchor="ctr">
                    <a:solidFill>
                      <a:srgbClr val="F7F6F2"/>
                    </a:solidFill>
                  </a:tcPr>
                </a:tc>
                <a:tc>
                  <a:txBody>
                    <a:bodyPr wrap="square"/>
                    <a:lstStyle/>
                    <a:p>
                      <a:pPr algn="l"/>
                      <a:r>
                        <a:rPr sz="1200" b="0">
                          <a:solidFill>
                            <a:srgbClr val="14213D"/>
                          </a:solidFill>
                          <a:latin typeface="Arial"/>
                        </a:rPr>
                        <a:t>Organic</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c>
                  <a:txBody>
                    <a:bodyPr wrap="square"/>
                    <a:lstStyle/>
                    <a:p>
                      <a:pPr algn="r"/>
                      <a:r>
                        <a:rPr sz="1200" b="0">
                          <a:solidFill>
                            <a:srgbClr val="14213D"/>
                          </a:solidFill>
                          <a:latin typeface="Arial"/>
                        </a:rPr>
                        <a:t>1</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$0</a:t>
                      </a:r>
                    </a:p>
                  </a:txBody>
                  <a:tcPr marL="73152" marR="73152" marT="27432" marB="27432" anchor="ctr">
                    <a:solidFill>
                      <a:srgbClr val="F7F6F2"/>
                    </a:solidFill>
                  </a:tcPr>
                </a:tc>
                <a:tc>
                  <a:txBody>
                    <a:bodyPr wrap="square"/>
                    <a:lstStyle/>
                    <a:p>
                      <a:pPr algn="r"/>
                      <a:r>
                        <a:rPr sz="1200" b="0">
                          <a:solidFill>
                            <a:srgbClr val="14213D"/>
                          </a:solidFill>
                          <a:latin typeface="Arial"/>
                        </a:rPr>
                        <a:t>—</a:t>
                      </a:r>
                    </a:p>
                  </a:txBody>
                  <a:tcPr marL="73152" marR="73152" marT="27432" marB="27432" anchor="ctr">
                    <a:solidFill>
                      <a:srgbClr val="F7F6F2"/>
                    </a:solidFill>
                  </a:tcPr>
                </a:tc>
              </a:tr>
              <a:tr h="347472">
                <a:tc>
                  <a:txBody>
                    <a:bodyPr wrap="square"/>
                    <a:lstStyle/>
                    <a:p>
                      <a:pPr algn="r"/>
                      <a:r>
                        <a:rPr sz="1200" b="0">
                          <a:solidFill>
                            <a:srgbClr val="14213D"/>
                          </a:solidFill>
                          <a:latin typeface="Arial"/>
                        </a:rPr>
                        <a:t>63</a:t>
                      </a:r>
                    </a:p>
                  </a:txBody>
                  <a:tcPr marL="73152" marR="73152" marT="27432" marB="27432" anchor="ctr">
                    <a:solidFill>
                      <a:srgbClr val="FFFFFF"/>
                    </a:solidFill>
                  </a:tcPr>
                </a:tc>
                <a:tc>
                  <a:txBody>
                    <a:bodyPr wrap="square"/>
                    <a:lstStyle/>
                    <a:p>
                      <a:pPr algn="l"/>
                      <a:r>
                        <a:rPr sz="1200" b="0">
                          <a:solidFill>
                            <a:srgbClr val="14213D"/>
                          </a:solidFill>
                          <a:latin typeface="Arial"/>
                        </a:rPr>
                        <a:t>ChatGPT Referral</a:t>
                      </a:r>
                    </a:p>
                  </a:txBody>
                  <a:tcPr marL="73152" marR="73152" marT="27432" marB="27432" anchor="ctr">
                    <a:solidFill>
                      <a:srgbClr val="FFFFFF"/>
                    </a:solidFill>
                  </a:tcPr>
                </a:tc>
                <a:tc>
                  <a:txBody>
                    <a:bodyPr wrap="square"/>
                    <a:lstStyle/>
                    <a:p>
                      <a:pPr algn="l"/>
                      <a:r>
                        <a:rPr sz="1200" b="0">
                          <a:solidFill>
                            <a:srgbClr val="14213D"/>
                          </a:solidFill>
                          <a:latin typeface="Arial"/>
                        </a:rPr>
                        <a:t>AI</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c>
                  <a:txBody>
                    <a:bodyPr wrap="square"/>
                    <a:lstStyle/>
                    <a:p>
                      <a:pPr algn="r"/>
                      <a:r>
                        <a:rPr sz="1200" b="0">
                          <a:solidFill>
                            <a:srgbClr val="14213D"/>
                          </a:solidFill>
                          <a:latin typeface="Arial"/>
                        </a:rPr>
                        <a:t>1</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$0</a:t>
                      </a:r>
                    </a:p>
                  </a:txBody>
                  <a:tcPr marL="73152" marR="73152" marT="27432" marB="27432" anchor="ctr">
                    <a:solidFill>
                      <a:srgbClr val="FFFFFF"/>
                    </a:solidFill>
                  </a:tcPr>
                </a:tc>
                <a:tc>
                  <a:txBody>
                    <a:bodyPr wrap="square"/>
                    <a:lstStyle/>
                    <a:p>
                      <a:pPr algn="r"/>
                      <a:r>
                        <a:rPr sz="1200" b="0">
                          <a:solidFill>
                            <a:srgbClr val="14213D"/>
                          </a:solidFill>
                          <a:latin typeface="Arial"/>
                        </a:rPr>
                        <a:t>—</a:t>
                      </a:r>
                    </a:p>
                  </a:txBody>
                  <a:tcPr marL="73152" marR="73152" marT="27432" marB="27432" anchor="ctr">
                    <a:solidFill>
                      <a:srgbClr val="FFFFFF"/>
                    </a:solidFill>
                  </a:tcPr>
                </a:tc>
              </a:tr>
              <a:tr h="347472">
                <a:tc>
                  <a:txBody>
                    <a:bodyPr wrap="square"/>
                    <a:lstStyle/>
                    <a:p>
                      <a:pPr algn="r"/>
                      <a:r>
                        <a:rPr sz="1200" b="1">
                          <a:solidFill>
                            <a:srgbClr val="14213D"/>
                          </a:solidFill>
                          <a:latin typeface="Arial"/>
                        </a:rPr>
                        <a:t/>
                      </a:r>
                    </a:p>
                  </a:txBody>
                  <a:tcPr marL="73152" marR="73152" marT="27432" marB="27432" anchor="ctr">
                    <a:solidFill>
                      <a:srgbClr val="E8ECF3"/>
                    </a:solidFill>
                  </a:tcPr>
                </a:tc>
                <a:tc>
                  <a:txBody>
                    <a:bodyPr wrap="square"/>
                    <a:lstStyle/>
                    <a:p>
                      <a:pPr algn="l"/>
                      <a:r>
                        <a:rPr sz="1200" b="1">
                          <a:solidFill>
                            <a:srgbClr val="14213D"/>
                          </a:solidFill>
                          <a:latin typeface="Arial"/>
                        </a:rPr>
                        <a:t>Spend not tied to a named campaign</a:t>
                      </a:r>
                    </a:p>
                  </a:txBody>
                  <a:tcPr marL="73152" marR="73152" marT="27432" marB="27432" anchor="ctr">
                    <a:solidFill>
                      <a:srgbClr val="E8ECF3"/>
                    </a:solidFill>
                  </a:tcPr>
                </a:tc>
                <a:tc>
                  <a:txBody>
                    <a:bodyPr wrap="square"/>
                    <a:lstStyle/>
                    <a:p>
                      <a:pPr algn="l"/>
                      <a:r>
                        <a:rPr sz="1200" b="1">
                          <a:solidFill>
                            <a:srgbClr val="14213D"/>
                          </a:solidFill>
                          <a:latin typeface="Arial"/>
                        </a:rPr>
                        <a:t>Advertising</a:t>
                      </a:r>
                    </a:p>
                  </a:txBody>
                  <a:tcPr marL="73152" marR="73152" marT="27432" marB="27432" anchor="ctr">
                    <a:solidFill>
                      <a:srgbClr val="E8ECF3"/>
                    </a:solidFill>
                  </a:tcPr>
                </a:tc>
                <a:tc>
                  <a:txBody>
                    <a:bodyPr wrap="square"/>
                    <a:lstStyle/>
                    <a:p>
                      <a:pPr algn="r"/>
                      <a:r>
                        <a:rPr sz="1200" b="1">
                          <a:solidFill>
                            <a:srgbClr val="14213D"/>
                          </a:solidFill>
                          <a:latin typeface="Arial"/>
                        </a:rPr>
                        <a:t>$9,316</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c>
                  <a:txBody>
                    <a:bodyPr wrap="square"/>
                    <a:lstStyle/>
                    <a:p>
                      <a:pPr algn="r"/>
                      <a:r>
                        <a:rPr sz="1200" b="1">
                          <a:solidFill>
                            <a:srgbClr val="14213D"/>
                          </a:solidFill>
                          <a:latin typeface="Arial"/>
                        </a:rPr>
                        <a:t>—</a:t>
                      </a:r>
                    </a:p>
                  </a:txBody>
                  <a:tcPr marL="73152" marR="73152" marT="27432" marB="27432" anchor="ctr">
                    <a:solidFill>
                      <a:srgbClr val="E8ECF3"/>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sz="2800" b="1">
                <a:solidFill>
                  <a:srgbClr val="F7F6F2"/>
                </a:solidFill>
                <a:latin typeface="Arial"/>
              </a:rPr>
              <a:t>How these numbers were pulled</a:t>
            </a:r>
          </a:p>
        </p:txBody>
      </p:sp>
      <p:sp>
        <p:nvSpPr>
          <p:cNvPr id="3" name="TextBox 2"/>
          <p:cNvSpPr txBox="1"/>
          <p:nvPr/>
        </p:nvSpPr>
        <p:spPr>
          <a:xfrm>
            <a:off x="548640" y="1554480"/>
            <a:ext cx="5272887" cy="411480"/>
          </a:xfrm>
          <a:prstGeom prst="rect">
            <a:avLst/>
          </a:prstGeom>
          <a:noFill/>
        </p:spPr>
        <p:txBody>
          <a:bodyPr wrap="square" anchor="t" lIns="0" rIns="0" tIns="0" bIns="0">
            <a:spAutoFit/>
          </a:bodyPr>
          <a:lstStyle/>
          <a:p>
            <a:pPr algn="l"/>
            <a:r>
              <a:rPr sz="1800" b="1">
                <a:solidFill>
                  <a:srgbClr val="F2A65A"/>
                </a:solidFill>
                <a:latin typeface="Arial"/>
              </a:rPr>
              <a:t>Source and filter</a:t>
            </a:r>
          </a:p>
        </p:txBody>
      </p:sp>
      <p:sp>
        <p:nvSpPr>
          <p:cNvPr id="4" name="TextBox 3"/>
          <p:cNvSpPr txBox="1"/>
          <p:nvPr/>
        </p:nvSpPr>
        <p:spPr>
          <a:xfrm>
            <a:off x="548640" y="2057400"/>
            <a:ext cx="5272887" cy="1463040"/>
          </a:xfrm>
          <a:prstGeom prst="rect">
            <a:avLst/>
          </a:prstGeom>
          <a:noFill/>
        </p:spPr>
        <p:txBody>
          <a:bodyPr wrap="square" anchor="t" lIns="0" rIns="0" tIns="0" bIns="0">
            <a:spAutoFit/>
          </a:bodyPr>
          <a:lstStyle/>
          <a:p>
            <a:pPr algn="l"/>
            <a:r>
              <a:rPr sz="1500" b="0">
                <a:solidFill>
                  <a:srgbClr val="C9D3E3"/>
                </a:solidFill>
                <a:latin typeface="Arial"/>
              </a:rPr>
              <a:t>Searchlight, Coastal Air Plus account, Jan 1 – Sep 30, 2026. All campaigns except the 45 retention, membership, estimate follow-up, SMS reminder, welcome and Mainline campaigns in the report filter.</a:t>
            </a:r>
          </a:p>
        </p:txBody>
      </p:sp>
      <p:sp>
        <p:nvSpPr>
          <p:cNvPr id="5" name="TextBox 4"/>
          <p:cNvSpPr txBox="1"/>
          <p:nvPr/>
        </p:nvSpPr>
        <p:spPr>
          <a:xfrm>
            <a:off x="6370167" y="1554480"/>
            <a:ext cx="5272887" cy="411480"/>
          </a:xfrm>
          <a:prstGeom prst="rect">
            <a:avLst/>
          </a:prstGeom>
          <a:noFill/>
        </p:spPr>
        <p:txBody>
          <a:bodyPr wrap="square" anchor="t" lIns="0" rIns="0" tIns="0" bIns="0">
            <a:spAutoFit/>
          </a:bodyPr>
          <a:lstStyle/>
          <a:p>
            <a:pPr algn="l"/>
            <a:r>
              <a:rPr sz="1800" b="1">
                <a:solidFill>
                  <a:srgbClr val="F2A65A"/>
                </a:solidFill>
                <a:latin typeface="Arial"/>
              </a:rPr>
              <a:t>Definitions</a:t>
            </a:r>
          </a:p>
        </p:txBody>
      </p:sp>
      <p:sp>
        <p:nvSpPr>
          <p:cNvPr id="6" name="TextBox 5"/>
          <p:cNvSpPr txBox="1"/>
          <p:nvPr/>
        </p:nvSpPr>
        <p:spPr>
          <a:xfrm>
            <a:off x="6370167" y="2057400"/>
            <a:ext cx="5272887" cy="1463040"/>
          </a:xfrm>
          <a:prstGeom prst="rect">
            <a:avLst/>
          </a:prstGeom>
          <a:noFill/>
        </p:spPr>
        <p:txBody>
          <a:bodyPr wrap="square" anchor="t" lIns="0" rIns="0" tIns="0" bIns="0">
            <a:spAutoFit/>
          </a:bodyPr>
          <a:lstStyle/>
          <a:p>
            <a:pPr algn="l"/>
            <a:r>
              <a:rPr sz="1500" b="0">
                <a:solidFill>
                  <a:srgbClr val="C9D3E3"/>
                </a:solidFill>
                <a:latin typeface="Arial"/>
              </a:rPr>
              <a:t>Unique leads = Searchlight "leads". Booked jobs = booked customers. Closed revenue = closed revenue. ROAS = closed revenue ÷ ad spend.</a:t>
            </a:r>
          </a:p>
        </p:txBody>
      </p:sp>
      <p:sp>
        <p:nvSpPr>
          <p:cNvPr id="7" name="TextBox 6"/>
          <p:cNvSpPr txBox="1"/>
          <p:nvPr/>
        </p:nvSpPr>
        <p:spPr>
          <a:xfrm>
            <a:off x="548640" y="3749039"/>
            <a:ext cx="5272887" cy="411480"/>
          </a:xfrm>
          <a:prstGeom prst="rect">
            <a:avLst/>
          </a:prstGeom>
          <a:noFill/>
        </p:spPr>
        <p:txBody>
          <a:bodyPr wrap="square" anchor="t" lIns="0" rIns="0" tIns="0" bIns="0">
            <a:spAutoFit/>
          </a:bodyPr>
          <a:lstStyle/>
          <a:p>
            <a:pPr algn="l"/>
            <a:r>
              <a:rPr sz="1800" b="1">
                <a:solidFill>
                  <a:srgbClr val="F2A65A"/>
                </a:solidFill>
                <a:latin typeface="Arial"/>
              </a:rPr>
              <a:t>Leads may run slightly high</a:t>
            </a:r>
          </a:p>
        </p:txBody>
      </p:sp>
      <p:sp>
        <p:nvSpPr>
          <p:cNvPr id="8" name="TextBox 7"/>
          <p:cNvSpPr txBox="1"/>
          <p:nvPr/>
        </p:nvSpPr>
        <p:spPr>
          <a:xfrm>
            <a:off x="548640" y="4251959"/>
            <a:ext cx="5272887" cy="1463040"/>
          </a:xfrm>
          <a:prstGeom prst="rect">
            <a:avLst/>
          </a:prstGeom>
          <a:noFill/>
        </p:spPr>
        <p:txBody>
          <a:bodyPr wrap="square" anchor="t" lIns="0" rIns="0" tIns="0" bIns="0">
            <a:spAutoFit/>
          </a:bodyPr>
          <a:lstStyle/>
          <a:p>
            <a:pPr algn="l"/>
            <a:r>
              <a:rPr sz="1500" b="0">
                <a:solidFill>
                  <a:srgbClr val="C9D3E3"/>
                </a:solidFill>
                <a:latin typeface="Arial"/>
              </a:rPr>
              <a:t>Searchlight limits each request to 90 days, so data was pulled month by month and added up. A person who became a lead in two different months counts twice.</a:t>
            </a:r>
          </a:p>
        </p:txBody>
      </p:sp>
      <p:sp>
        <p:nvSpPr>
          <p:cNvPr id="9" name="TextBox 8"/>
          <p:cNvSpPr txBox="1"/>
          <p:nvPr/>
        </p:nvSpPr>
        <p:spPr>
          <a:xfrm>
            <a:off x="6370167" y="3749039"/>
            <a:ext cx="5272887" cy="411480"/>
          </a:xfrm>
          <a:prstGeom prst="rect">
            <a:avLst/>
          </a:prstGeom>
          <a:noFill/>
        </p:spPr>
        <p:txBody>
          <a:bodyPr wrap="square" anchor="t" lIns="0" rIns="0" tIns="0" bIns="0">
            <a:spAutoFit/>
          </a:bodyPr>
          <a:lstStyle/>
          <a:p>
            <a:pPr algn="l"/>
            <a:r>
              <a:rPr sz="1800" b="1">
                <a:solidFill>
                  <a:srgbClr val="F2A65A"/>
                </a:solidFill>
                <a:latin typeface="Arial"/>
              </a:rPr>
              <a:t>Unattributed spend</a:t>
            </a:r>
          </a:p>
        </p:txBody>
      </p:sp>
      <p:sp>
        <p:nvSpPr>
          <p:cNvPr id="10" name="TextBox 9"/>
          <p:cNvSpPr txBox="1"/>
          <p:nvPr/>
        </p:nvSpPr>
        <p:spPr>
          <a:xfrm>
            <a:off x="6370167" y="4251959"/>
            <a:ext cx="5272887" cy="1463040"/>
          </a:xfrm>
          <a:prstGeom prst="rect">
            <a:avLst/>
          </a:prstGeom>
          <a:noFill/>
        </p:spPr>
        <p:txBody>
          <a:bodyPr wrap="square" anchor="t" lIns="0" rIns="0" tIns="0" bIns="0">
            <a:spAutoFit/>
          </a:bodyPr>
          <a:lstStyle/>
          <a:p>
            <a:pPr algn="l"/>
            <a:r>
              <a:rPr sz="1500" b="0">
                <a:solidFill>
                  <a:srgbClr val="C9D3E3"/>
                </a:solidFill>
                <a:latin typeface="Arial"/>
              </a:rPr>
              <a:t>$9,316 of Advertising spend has no campaign name. It is in every total but not in any campaign row.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lang="en-US" sz="2800" b="1">
                <a:solidFill>
                  <a:srgbClr val="14213D"/>
                </a:solidFill>
                <a:latin typeface="Arial"/>
              </a:rPr>
              <a:t>Total revenue: $1.16M across digital, TV and direct mail</a:t>
            </a:r>
          </a:p>
        </p:txBody>
      </p:sp>
      <p:sp>
        <p:nvSpPr>
          <p:cNvPr id="3" name="Footer"/>
          <p:cNvSpPr txBox="1"/>
          <p:nvPr/>
        </p:nvSpPr>
        <p:spPr>
          <a:xfrm>
            <a:off x="548640" y="6355080"/>
            <a:ext cx="10180015" cy="274320"/>
          </a:xfrm>
          <a:prstGeom prst="rect">
            <a:avLst/>
          </a:prstGeom>
          <a:noFill/>
        </p:spPr>
        <p:txBody>
          <a:bodyPr wrap="square" anchor="t" lIns="0" rIns="0" tIns="0" bIns="0">
            <a:spAutoFit/>
          </a:bodyPr>
          <a:lstStyle/>
          <a:p>
            <a:pPr algn="l"/>
            <a:r>
              <a:rPr lang="en-US" sz="1000" b="0">
                <a:solidFill>
                  <a:srgbClr val="5A6478"/>
                </a:solidFill>
                <a:latin typeface="Arial"/>
              </a:rPr>
              <a:t>Sources: Searchlight (digital) · LettrLabs (direct mail) · Jan 1 – Sep 30, 2026</a:t>
            </a:r>
          </a:p>
        </p:txBody>
      </p:sp>
      <p:sp>
        <p:nvSpPr>
          <p:cNvPr id="4" name="Page number"/>
          <p:cNvSpPr txBox="1"/>
          <p:nvPr/>
        </p:nvSpPr>
        <p:spPr>
          <a:xfrm>
            <a:off x="11094415" y="6355080"/>
            <a:ext cx="548640" cy="274320"/>
          </a:xfrm>
          <a:prstGeom prst="rect">
            <a:avLst/>
          </a:prstGeom>
          <a:noFill/>
        </p:spPr>
        <p:txBody>
          <a:bodyPr wrap="square" anchor="t" lIns="0" rIns="0" tIns="0" bIns="0">
            <a:spAutoFit/>
          </a:bodyPr>
          <a:lstStyle/>
          <a:p>
            <a:pPr algn="r"/>
            <a:r>
              <a:rPr lang="en-US" sz="1000" b="0">
                <a:solidFill>
                  <a:srgbClr val="5A6478"/>
                </a:solidFill>
                <a:latin typeface="Arial"/>
              </a:rPr>
              <a:t>2</a:t>
            </a:r>
          </a:p>
        </p:txBody>
      </p:sp>
      <p:sp>
        <p:nvSpPr>
          <p:cNvPr id="5" name="Source Digital"/>
          <p:cNvSpPr/>
          <p:nvPr/>
        </p:nvSpPr>
        <p:spPr>
          <a:xfrm>
            <a:off x="548640"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igital label"/>
          <p:cNvSpPr txBox="1"/>
          <p:nvPr/>
        </p:nvSpPr>
        <p:spPr>
          <a:xfrm>
            <a:off x="868680"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DIGITAL · SEARCHLIGHT</a:t>
            </a:r>
          </a:p>
        </p:txBody>
      </p:sp>
      <p:sp>
        <p:nvSpPr>
          <p:cNvPr id="7" name="Digital value"/>
          <p:cNvSpPr txBox="1"/>
          <p:nvPr/>
        </p:nvSpPr>
        <p:spPr>
          <a:xfrm>
            <a:off x="868680" y="2057400"/>
            <a:ext cx="2875178" cy="822960"/>
          </a:xfrm>
          <a:prstGeom prst="rect">
            <a:avLst/>
          </a:prstGeom>
          <a:noFill/>
        </p:spPr>
        <p:txBody>
          <a:bodyPr wrap="square" anchor="t" lIns="0" rIns="0" tIns="0" bIns="0">
            <a:spAutoFit/>
          </a:bodyPr>
          <a:lstStyle/>
          <a:p>
            <a:pPr algn="l"/>
            <a:r>
              <a:rPr lang="en-US" sz="4800" b="1">
                <a:solidFill>
                  <a:srgbClr val="14213D"/>
                </a:solidFill>
                <a:latin typeface="Arial"/>
              </a:rPr>
              <a:t>$1.06M</a:t>
            </a:r>
          </a:p>
        </p:txBody>
      </p:sp>
      <p:sp>
        <p:nvSpPr>
          <p:cNvPr id="8" name="Digital detail"/>
          <p:cNvSpPr txBox="1"/>
          <p:nvPr/>
        </p:nvSpPr>
        <p:spPr>
          <a:xfrm>
            <a:off x="868680"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$1,061,372 closed revenue</a:t>
            </a:r>
          </a:p>
        </p:txBody>
      </p:sp>
      <p:sp>
        <p:nvSpPr>
          <p:cNvPr id="9" name="Source TV"/>
          <p:cNvSpPr/>
          <p:nvPr/>
        </p:nvSpPr>
        <p:spPr>
          <a:xfrm>
            <a:off x="4337218"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V label"/>
          <p:cNvSpPr txBox="1"/>
          <p:nvPr/>
        </p:nvSpPr>
        <p:spPr>
          <a:xfrm>
            <a:off x="4657258"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TV</a:t>
            </a:r>
          </a:p>
        </p:txBody>
      </p:sp>
      <p:sp>
        <p:nvSpPr>
          <p:cNvPr id="11" name="TV value"/>
          <p:cNvSpPr txBox="1"/>
          <p:nvPr/>
        </p:nvSpPr>
        <p:spPr>
          <a:xfrm>
            <a:off x="4657258" y="2057400"/>
            <a:ext cx="2875178" cy="822960"/>
          </a:xfrm>
          <a:prstGeom prst="rect">
            <a:avLst/>
          </a:prstGeom>
          <a:noFill/>
        </p:spPr>
        <p:txBody>
          <a:bodyPr wrap="square" anchor="t" lIns="0" rIns="0" tIns="0" bIns="0">
            <a:spAutoFit/>
          </a:bodyPr>
          <a:lstStyle/>
          <a:p>
            <a:pPr algn="l"/>
            <a:r>
              <a:rPr lang="en-US" sz="4800" b="1">
                <a:solidFill>
                  <a:srgbClr val="5A6478"/>
                </a:solidFill>
                <a:latin typeface="Arial"/>
              </a:rPr>
              <a:t>—</a:t>
            </a:r>
          </a:p>
        </p:txBody>
      </p:sp>
      <p:sp>
        <p:nvSpPr>
          <p:cNvPr id="12" name="TV detail"/>
          <p:cNvSpPr txBox="1"/>
          <p:nvPr/>
        </p:nvSpPr>
        <p:spPr>
          <a:xfrm>
            <a:off x="4657258"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Amount not yet provided</a:t>
            </a:r>
          </a:p>
        </p:txBody>
      </p:sp>
      <p:sp>
        <p:nvSpPr>
          <p:cNvPr id="13" name="Source Direct Mail"/>
          <p:cNvSpPr/>
          <p:nvPr/>
        </p:nvSpPr>
        <p:spPr>
          <a:xfrm>
            <a:off x="8125796" y="1417320"/>
            <a:ext cx="3515258" cy="2148840"/>
          </a:xfrm>
          <a:prstGeom prst="roundRect">
            <a:avLst>
              <a:gd name="adj" fmla="val 5000"/>
            </a:avLst>
          </a:prstGeom>
          <a:solidFill>
            <a:srgbClr val="FFFFFF"/>
          </a:solidFill>
          <a:ln w="9525">
            <a:solidFill>
              <a:srgbClr val="E2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irect Mail label"/>
          <p:cNvSpPr txBox="1"/>
          <p:nvPr/>
        </p:nvSpPr>
        <p:spPr>
          <a:xfrm>
            <a:off x="8445836" y="1691640"/>
            <a:ext cx="2875178" cy="274320"/>
          </a:xfrm>
          <a:prstGeom prst="rect">
            <a:avLst/>
          </a:prstGeom>
          <a:noFill/>
        </p:spPr>
        <p:txBody>
          <a:bodyPr wrap="square" anchor="t" lIns="0" rIns="0" tIns="0" bIns="0">
            <a:spAutoFit/>
          </a:bodyPr>
          <a:lstStyle/>
          <a:p>
            <a:pPr algn="l"/>
            <a:r>
              <a:rPr lang="en-US" sz="1200" b="1">
                <a:solidFill>
                  <a:srgbClr val="5A6478"/>
                </a:solidFill>
                <a:latin typeface="Arial"/>
              </a:rPr>
              <a:t>DIRECT MAIL · LETTRLABS</a:t>
            </a:r>
          </a:p>
        </p:txBody>
      </p:sp>
      <p:sp>
        <p:nvSpPr>
          <p:cNvPr id="15" name="Direct Mail value"/>
          <p:cNvSpPr txBox="1"/>
          <p:nvPr/>
        </p:nvSpPr>
        <p:spPr>
          <a:xfrm>
            <a:off x="8445836" y="2057400"/>
            <a:ext cx="2875178" cy="822960"/>
          </a:xfrm>
          <a:prstGeom prst="rect">
            <a:avLst/>
          </a:prstGeom>
          <a:noFill/>
        </p:spPr>
        <p:txBody>
          <a:bodyPr wrap="square" anchor="t" lIns="0" rIns="0" tIns="0" bIns="0">
            <a:spAutoFit/>
          </a:bodyPr>
          <a:lstStyle/>
          <a:p>
            <a:pPr algn="l"/>
            <a:r>
              <a:rPr lang="en-US" sz="4800" b="1">
                <a:solidFill>
                  <a:srgbClr val="14213D"/>
                </a:solidFill>
                <a:latin typeface="Arial"/>
              </a:rPr>
              <a:t>$94K</a:t>
            </a:r>
          </a:p>
        </p:txBody>
      </p:sp>
      <p:sp>
        <p:nvSpPr>
          <p:cNvPr id="16" name="Direct Mail detail"/>
          <p:cNvSpPr txBox="1"/>
          <p:nvPr/>
        </p:nvSpPr>
        <p:spPr>
          <a:xfrm>
            <a:off x="8445836" y="2971800"/>
            <a:ext cx="2875178" cy="365760"/>
          </a:xfrm>
          <a:prstGeom prst="rect">
            <a:avLst/>
          </a:prstGeom>
          <a:noFill/>
        </p:spPr>
        <p:txBody>
          <a:bodyPr wrap="square" anchor="t" lIns="0" rIns="0" tIns="0" bIns="0">
            <a:spAutoFit/>
          </a:bodyPr>
          <a:lstStyle/>
          <a:p>
            <a:pPr algn="l"/>
            <a:r>
              <a:rPr lang="en-US" sz="1400" b="0">
                <a:solidFill>
                  <a:srgbClr val="5A6478"/>
                </a:solidFill>
                <a:latin typeface="Arial"/>
              </a:rPr>
              <a:t>$94,000</a:t>
            </a:r>
          </a:p>
        </p:txBody>
      </p:sp>
      <p:sp>
        <p:nvSpPr>
          <p:cNvPr id="17" name="Total Revenue"/>
          <p:cNvSpPr/>
          <p:nvPr/>
        </p:nvSpPr>
        <p:spPr>
          <a:xfrm>
            <a:off x="548640" y="3840480"/>
            <a:ext cx="11094416" cy="2148840"/>
          </a:xfrm>
          <a:prstGeom prst="roundRect">
            <a:avLst>
              <a:gd name="adj" fmla="val 5000"/>
            </a:avLst>
          </a:prstGeom>
          <a:solidFill>
            <a:srgbClr val="14213D"/>
          </a:solidFill>
          <a:ln w="9525">
            <a:solidFill>
              <a:srgbClr val="14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otal label"/>
          <p:cNvSpPr txBox="1"/>
          <p:nvPr/>
        </p:nvSpPr>
        <p:spPr>
          <a:xfrm>
            <a:off x="868680" y="4114800"/>
            <a:ext cx="5000000" cy="274320"/>
          </a:xfrm>
          <a:prstGeom prst="rect">
            <a:avLst/>
          </a:prstGeom>
          <a:noFill/>
        </p:spPr>
        <p:txBody>
          <a:bodyPr wrap="square" anchor="t" lIns="0" rIns="0" tIns="0" bIns="0">
            <a:spAutoFit/>
          </a:bodyPr>
          <a:lstStyle/>
          <a:p>
            <a:pPr algn="l"/>
            <a:r>
              <a:rPr lang="en-US" sz="1200" b="1">
                <a:solidFill>
                  <a:srgbClr val="C9D3E3"/>
                </a:solidFill>
                <a:latin typeface="Arial"/>
              </a:rPr>
              <a:t>TOTAL REVENUE, ALL SOURCES</a:t>
            </a:r>
          </a:p>
        </p:txBody>
      </p:sp>
      <p:sp>
        <p:nvSpPr>
          <p:cNvPr id="19" name="Total value"/>
          <p:cNvSpPr txBox="1"/>
          <p:nvPr/>
        </p:nvSpPr>
        <p:spPr>
          <a:xfrm>
            <a:off x="868680" y="4480560"/>
            <a:ext cx="5000000" cy="822960"/>
          </a:xfrm>
          <a:prstGeom prst="rect">
            <a:avLst/>
          </a:prstGeom>
          <a:noFill/>
        </p:spPr>
        <p:txBody>
          <a:bodyPr wrap="square" anchor="t" lIns="0" rIns="0" tIns="0" bIns="0">
            <a:spAutoFit/>
          </a:bodyPr>
          <a:lstStyle/>
          <a:p>
            <a:pPr algn="l"/>
            <a:r>
              <a:rPr lang="en-US" sz="4800" b="1">
                <a:solidFill>
                  <a:srgbClr val="F2A65A"/>
                </a:solidFill>
                <a:latin typeface="Arial"/>
              </a:rPr>
              <a:t>$1.16M</a:t>
            </a:r>
          </a:p>
        </p:txBody>
      </p:sp>
      <p:sp>
        <p:nvSpPr>
          <p:cNvPr id="20" name="Total detail"/>
          <p:cNvSpPr txBox="1"/>
          <p:nvPr/>
        </p:nvSpPr>
        <p:spPr>
          <a:xfrm>
            <a:off x="868680" y="5394960"/>
            <a:ext cx="5000000" cy="365760"/>
          </a:xfrm>
          <a:prstGeom prst="rect">
            <a:avLst/>
          </a:prstGeom>
          <a:noFill/>
        </p:spPr>
        <p:txBody>
          <a:bodyPr wrap="square" anchor="t" lIns="0" rIns="0" tIns="0" bIns="0">
            <a:spAutoFit/>
          </a:bodyPr>
          <a:lstStyle/>
          <a:p>
            <a:pPr algn="l"/>
            <a:r>
              <a:rPr lang="en-US" sz="1400" b="0">
                <a:solidFill>
                  <a:srgbClr val="C9D3E3"/>
                </a:solidFill>
                <a:latin typeface="Arial"/>
              </a:rPr>
              <a:t>$1,155,372</a:t>
            </a:r>
          </a:p>
        </p:txBody>
      </p:sp>
      <p:sp>
        <p:nvSpPr>
          <p:cNvPr id="21" name="Breakdown 1 name"/>
          <p:cNvSpPr txBox="1"/>
          <p:nvPr/>
        </p:nvSpPr>
        <p:spPr>
          <a:xfrm>
            <a:off x="6400800" y="42062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Digital (Searchlight)</a:t>
            </a:r>
          </a:p>
        </p:txBody>
      </p:sp>
      <p:sp>
        <p:nvSpPr>
          <p:cNvPr id="22" name="Breakdown 1 amount"/>
          <p:cNvSpPr txBox="1"/>
          <p:nvPr/>
        </p:nvSpPr>
        <p:spPr>
          <a:xfrm>
            <a:off x="9601200" y="42062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$1,061,372</a:t>
            </a:r>
          </a:p>
        </p:txBody>
      </p:sp>
      <p:sp>
        <p:nvSpPr>
          <p:cNvPr id="23" name="Breakdown 2 name"/>
          <p:cNvSpPr txBox="1"/>
          <p:nvPr/>
        </p:nvSpPr>
        <p:spPr>
          <a:xfrm>
            <a:off x="6400800" y="46634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TV</a:t>
            </a:r>
          </a:p>
        </p:txBody>
      </p:sp>
      <p:sp>
        <p:nvSpPr>
          <p:cNvPr id="24" name="Breakdown 2 amount"/>
          <p:cNvSpPr txBox="1"/>
          <p:nvPr/>
        </p:nvSpPr>
        <p:spPr>
          <a:xfrm>
            <a:off x="9601200" y="46634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a:t>
            </a:r>
          </a:p>
        </p:txBody>
      </p:sp>
      <p:sp>
        <p:nvSpPr>
          <p:cNvPr id="25" name="Breakdown 3 name"/>
          <p:cNvSpPr txBox="1"/>
          <p:nvPr/>
        </p:nvSpPr>
        <p:spPr>
          <a:xfrm>
            <a:off x="6400800" y="5120640"/>
            <a:ext cx="3200400" cy="320040"/>
          </a:xfrm>
          <a:prstGeom prst="rect">
            <a:avLst/>
          </a:prstGeom>
          <a:noFill/>
        </p:spPr>
        <p:txBody>
          <a:bodyPr wrap="square" anchor="t" lIns="0" rIns="0" tIns="0" bIns="0">
            <a:spAutoFit/>
          </a:bodyPr>
          <a:lstStyle/>
          <a:p>
            <a:pPr algn="l"/>
            <a:r>
              <a:rPr lang="en-US" sz="1400" b="0">
                <a:solidFill>
                  <a:srgbClr val="C9D3E3"/>
                </a:solidFill>
                <a:latin typeface="Arial"/>
              </a:rPr>
              <a:t>Direct mail (LettrLabs)</a:t>
            </a:r>
          </a:p>
        </p:txBody>
      </p:sp>
      <p:sp>
        <p:nvSpPr>
          <p:cNvPr id="26" name="Breakdown 3 amount"/>
          <p:cNvSpPr txBox="1"/>
          <p:nvPr/>
        </p:nvSpPr>
        <p:spPr>
          <a:xfrm>
            <a:off x="9601200" y="5120640"/>
            <a:ext cx="1714500" cy="320040"/>
          </a:xfrm>
          <a:prstGeom prst="rect">
            <a:avLst/>
          </a:prstGeom>
          <a:noFill/>
        </p:spPr>
        <p:txBody>
          <a:bodyPr wrap="square" anchor="t" lIns="0" rIns="0" tIns="0" bIns="0">
            <a:spAutoFit/>
          </a:bodyPr>
          <a:lstStyle/>
          <a:p>
            <a:pPr algn="r"/>
            <a:r>
              <a:rPr lang="en-US" sz="1400" b="1">
                <a:solidFill>
                  <a:srgbClr val="F7F6F2"/>
                </a:solidFill>
                <a:latin typeface="Arial"/>
              </a:rPr>
              <a:t>$94,000</a:t>
            </a:r>
          </a:p>
        </p:txBody>
      </p:sp>
      <p:cxnSp>
        <p:nvCxnSpPr>
          <p:cNvPr id="27" name="Breakdown rule"/>
          <p:cNvCxnSpPr/>
          <p:nvPr/>
        </p:nvCxnSpPr>
        <p:spPr>
          <a:xfrm>
            <a:off x="6400800" y="5486400"/>
            <a:ext cx="4914900" cy="0"/>
          </a:xfrm>
          <a:prstGeom prst="line">
            <a:avLst/>
          </a:prstGeom>
          <a:ln w="9525">
            <a:solidFill>
              <a:srgbClr val="5A6478"/>
            </a:solidFill>
          </a:ln>
        </p:spPr>
      </p:cxnSp>
      <p:sp>
        <p:nvSpPr>
          <p:cNvPr id="28" name="Breakdown total name"/>
          <p:cNvSpPr txBox="1"/>
          <p:nvPr/>
        </p:nvSpPr>
        <p:spPr>
          <a:xfrm>
            <a:off x="6400800" y="5577840"/>
            <a:ext cx="3200400" cy="320040"/>
          </a:xfrm>
          <a:prstGeom prst="rect">
            <a:avLst/>
          </a:prstGeom>
          <a:noFill/>
        </p:spPr>
        <p:txBody>
          <a:bodyPr wrap="square" anchor="t" lIns="0" rIns="0" tIns="0" bIns="0">
            <a:spAutoFit/>
          </a:bodyPr>
          <a:lstStyle/>
          <a:p>
            <a:pPr algn="l"/>
            <a:r>
              <a:rPr lang="en-US" sz="1400" b="1">
                <a:solidFill>
                  <a:srgbClr val="F7F6F2"/>
                </a:solidFill>
                <a:latin typeface="Arial"/>
              </a:rPr>
              <a:t>Total</a:t>
            </a:r>
          </a:p>
        </p:txBody>
      </p:sp>
      <p:sp>
        <p:nvSpPr>
          <p:cNvPr id="29" name="Breakdown total amount"/>
          <p:cNvSpPr txBox="1"/>
          <p:nvPr/>
        </p:nvSpPr>
        <p:spPr>
          <a:xfrm>
            <a:off x="9601200" y="5577840"/>
            <a:ext cx="1714500" cy="320040"/>
          </a:xfrm>
          <a:prstGeom prst="rect">
            <a:avLst/>
          </a:prstGeom>
          <a:noFill/>
        </p:spPr>
        <p:txBody>
          <a:bodyPr wrap="square" anchor="t" lIns="0" rIns="0" tIns="0" bIns="0">
            <a:spAutoFit/>
          </a:bodyPr>
          <a:lstStyle/>
          <a:p>
            <a:pPr algn="r"/>
            <a:r>
              <a:rPr lang="en-US" sz="1400" b="1">
                <a:solidFill>
                  <a:srgbClr val="F2A65A"/>
                </a:solidFill>
                <a:latin typeface="Arial"/>
              </a:rPr>
              <a:t>$1,155,372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Eyebrow"/>
          <p:cNvSpPr txBox="1"/>
          <p:nvPr/>
        </p:nvSpPr>
        <p:spPr>
          <a:xfrm>
            <a:off x="548640" y="2468880"/>
            <a:ext cx="11094415" cy="365760"/>
          </a:xfrm>
          <a:prstGeom prst="rect">
            <a:avLst/>
          </a:prstGeom>
          <a:noFill/>
        </p:spPr>
        <p:txBody>
          <a:bodyPr wrap="square" anchor="t" lIns="0" rIns="0" tIns="0" bIns="0">
            <a:spAutoFit/>
          </a:bodyPr>
          <a:lstStyle/>
          <a:p>
            <a:pPr algn="l"/>
            <a:r>
              <a:rPr sz="1600" b="1">
                <a:solidFill>
                  <a:srgbClr val="F2A65A"/>
                </a:solidFill>
                <a:latin typeface="Arial"/>
              </a:rPr>
              <a:t>SECTION</a:t>
            </a:r>
          </a:p>
        </p:txBody>
      </p:sp>
      <p:sp>
        <p:nvSpPr>
          <p:cNvPr id="3" name="Title"/>
          <p:cNvSpPr txBox="1"/>
          <p:nvPr/>
        </p:nvSpPr>
        <p:spPr>
          <a:xfrm>
            <a:off x="548640" y="2926080"/>
            <a:ext cx="11094415" cy="914400"/>
          </a:xfrm>
          <a:prstGeom prst="rect">
            <a:avLst/>
          </a:prstGeom>
          <a:noFill/>
        </p:spPr>
        <p:txBody>
          <a:bodyPr wrap="square" anchor="t" lIns="0" rIns="0" tIns="0" bIns="0">
            <a:spAutoFit/>
          </a:bodyPr>
          <a:lstStyle/>
          <a:p>
            <a:pPr algn="l"/>
            <a:r>
              <a:rPr lang="en-US" sz="5400" b="1">
                <a:solidFill>
                  <a:srgbClr val="F7F6F2"/>
                </a:solidFill>
                <a:latin typeface="Arial"/>
              </a:rPr>
              <a:t>Digital Advertising</a:t>
            </a:r>
          </a:p>
        </p:txBody>
      </p:sp>
      <p:sp>
        <p:nvSpPr>
          <p:cNvPr id="5" name="Page number"/>
          <p:cNvSpPr txBox="1"/>
          <p:nvPr/>
        </p:nvSpPr>
        <p:spPr>
          <a:xfrm>
            <a:off x="11094415" y="6355080"/>
            <a:ext cx="548640" cy="274320"/>
          </a:xfrm>
          <a:prstGeom prst="rect">
            <a:avLst/>
          </a:prstGeom>
          <a:noFill/>
        </p:spPr>
        <p:txBody>
          <a:bodyPr wrap="square" anchor="t" lIns="0" rIns="0" tIns="0" bIns="0">
            <a:spAutoFit/>
          </a:bodyPr>
          <a:lstStyle/>
          <a:p>
            <a:pPr algn="r"/>
            <a:r>
              <a:rPr lang="en-US" sz="1000" b="0">
                <a:solidFill>
                  <a:srgbClr val="9FB0C9"/>
                </a:solidFill>
                <a:latin typeface="Arial"/>
              </a:rPr>
              <a:t>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anchor="t" lIns="0" rIns="0" tIns="0" bIns="0">
            <a:spAutoFit/>
          </a:bodyPr>
          <a:lstStyle/>
          <a:p>
            <a:pPr algn="l"/>
            <a:r>
              <a:rPr lang="en-US" sz="2800" b="1">
                <a:solidFill>
                  <a:srgbClr val="14213D"/>
                </a:solidFill>
                <a:latin typeface="Arial"/>
              </a:rPr>
              <a:t>A Customer’s Journey</a:t>
            </a:r>
          </a:p>
        </p:txBody>
      </p:sp>
      <p:cxnSp>
        <p:nvCxnSpPr>
          <p:cNvPr id="3" name="Connector"/>
          <p:cNvCxnSpPr/>
          <p:nvPr/>
        </p:nvCxnSpPr>
        <p:spPr>
          <a:xfrm>
            <a:off x="6096000" y="1931920"/>
            <a:ext cx="0" cy="2000000"/>
          </a:xfrm>
          <a:prstGeom prst="line">
            <a:avLst/>
          </a:prstGeom>
          <a:ln w="12700">
            <a:solidFill>
              <a:srgbClr val="C9CDD6"/>
            </a:solidFill>
            <a:prstDash val="dash"/>
          </a:ln>
        </p:spPr>
      </p:cxnSp>
      <p:cxnSp>
        <p:nvCxnSpPr>
          <p:cNvPr id="4" name="Connector"/>
          <p:cNvCxnSpPr/>
          <p:nvPr/>
        </p:nvCxnSpPr>
        <p:spPr>
          <a:xfrm flipV="1">
            <a:off x="6096000" y="2313886"/>
            <a:ext cx="2703812" cy="1618034"/>
          </a:xfrm>
          <a:prstGeom prst="line">
            <a:avLst/>
          </a:prstGeom>
          <a:ln w="12700">
            <a:solidFill>
              <a:srgbClr val="C9CDD6"/>
            </a:solidFill>
            <a:prstDash val="dash"/>
          </a:ln>
        </p:spPr>
      </p:cxnSp>
      <p:cxnSp>
        <p:nvCxnSpPr>
          <p:cNvPr id="5" name="Connector"/>
          <p:cNvCxnSpPr/>
          <p:nvPr/>
        </p:nvCxnSpPr>
        <p:spPr>
          <a:xfrm flipV="1">
            <a:off x="6096000" y="3313886"/>
            <a:ext cx="4374859" cy="618034"/>
          </a:xfrm>
          <a:prstGeom prst="line">
            <a:avLst/>
          </a:prstGeom>
          <a:ln w="12700">
            <a:solidFill>
              <a:srgbClr val="C9CDD6"/>
            </a:solidFill>
            <a:prstDash val="dash"/>
          </a:ln>
        </p:spPr>
      </p:cxnSp>
      <p:cxnSp>
        <p:nvCxnSpPr>
          <p:cNvPr id="6" name="Connector"/>
          <p:cNvCxnSpPr/>
          <p:nvPr/>
        </p:nvCxnSpPr>
        <p:spPr>
          <a:xfrm>
            <a:off x="6096000" y="3931920"/>
            <a:ext cx="4374859" cy="618033"/>
          </a:xfrm>
          <a:prstGeom prst="line">
            <a:avLst/>
          </a:prstGeom>
          <a:ln w="12700">
            <a:solidFill>
              <a:srgbClr val="C9CDD6"/>
            </a:solidFill>
            <a:prstDash val="dash"/>
          </a:ln>
        </p:spPr>
      </p:cxnSp>
      <p:cxnSp>
        <p:nvCxnSpPr>
          <p:cNvPr id="7" name="Connector"/>
          <p:cNvCxnSpPr/>
          <p:nvPr/>
        </p:nvCxnSpPr>
        <p:spPr>
          <a:xfrm>
            <a:off x="6096000" y="3931920"/>
            <a:ext cx="2703812" cy="1618033"/>
          </a:xfrm>
          <a:prstGeom prst="line">
            <a:avLst/>
          </a:prstGeom>
          <a:ln w="12700">
            <a:solidFill>
              <a:srgbClr val="C9CDD6"/>
            </a:solidFill>
            <a:prstDash val="dash"/>
          </a:ln>
        </p:spPr>
      </p:cxnSp>
      <p:cxnSp>
        <p:nvCxnSpPr>
          <p:cNvPr id="8" name="Connector"/>
          <p:cNvCxnSpPr/>
          <p:nvPr/>
        </p:nvCxnSpPr>
        <p:spPr>
          <a:xfrm>
            <a:off x="6096000" y="3931920"/>
            <a:ext cx="0" cy="2000000"/>
          </a:xfrm>
          <a:prstGeom prst="line">
            <a:avLst/>
          </a:prstGeom>
          <a:ln w="12700">
            <a:solidFill>
              <a:srgbClr val="C9CDD6"/>
            </a:solidFill>
            <a:prstDash val="dash"/>
          </a:ln>
        </p:spPr>
      </p:cxnSp>
      <p:cxnSp>
        <p:nvCxnSpPr>
          <p:cNvPr id="9" name="Connector"/>
          <p:cNvCxnSpPr/>
          <p:nvPr/>
        </p:nvCxnSpPr>
        <p:spPr>
          <a:xfrm flipV="1">
            <a:off x="3392187" y="3931920"/>
            <a:ext cx="2703813" cy="1618033"/>
          </a:xfrm>
          <a:prstGeom prst="line">
            <a:avLst/>
          </a:prstGeom>
          <a:ln w="12700">
            <a:solidFill>
              <a:srgbClr val="C9CDD6"/>
            </a:solidFill>
            <a:prstDash val="dash"/>
          </a:ln>
        </p:spPr>
      </p:cxnSp>
      <p:cxnSp>
        <p:nvCxnSpPr>
          <p:cNvPr id="10" name="Connector"/>
          <p:cNvCxnSpPr/>
          <p:nvPr/>
        </p:nvCxnSpPr>
        <p:spPr>
          <a:xfrm flipV="1">
            <a:off x="1721140" y="3931920"/>
            <a:ext cx="4374860" cy="618033"/>
          </a:xfrm>
          <a:prstGeom prst="line">
            <a:avLst/>
          </a:prstGeom>
          <a:ln w="12700">
            <a:solidFill>
              <a:srgbClr val="C9CDD6"/>
            </a:solidFill>
            <a:prstDash val="dash"/>
          </a:ln>
        </p:spPr>
      </p:cxnSp>
      <p:cxnSp>
        <p:nvCxnSpPr>
          <p:cNvPr id="11" name="Connector"/>
          <p:cNvCxnSpPr/>
          <p:nvPr/>
        </p:nvCxnSpPr>
        <p:spPr>
          <a:xfrm>
            <a:off x="1721140" y="3313886"/>
            <a:ext cx="4374860" cy="618034"/>
          </a:xfrm>
          <a:prstGeom prst="line">
            <a:avLst/>
          </a:prstGeom>
          <a:ln w="12700">
            <a:solidFill>
              <a:srgbClr val="C9CDD6"/>
            </a:solidFill>
            <a:prstDash val="dash"/>
          </a:ln>
        </p:spPr>
      </p:cxnSp>
      <p:cxnSp>
        <p:nvCxnSpPr>
          <p:cNvPr id="12" name="Connector"/>
          <p:cNvCxnSpPr/>
          <p:nvPr/>
        </p:nvCxnSpPr>
        <p:spPr>
          <a:xfrm>
            <a:off x="3392187" y="2313886"/>
            <a:ext cx="2703813" cy="1618034"/>
          </a:xfrm>
          <a:prstGeom prst="line">
            <a:avLst/>
          </a:prstGeom>
          <a:ln w="12700">
            <a:solidFill>
              <a:srgbClr val="C9CDD6"/>
            </a:solidFill>
            <a:prstDash val="dash"/>
          </a:ln>
        </p:spPr>
      </p:cxnSp>
      <p:sp>
        <p:nvSpPr>
          <p:cNvPr id="13" name="Customer"/>
          <p:cNvSpPr/>
          <p:nvPr/>
        </p:nvSpPr>
        <p:spPr>
          <a:xfrm>
            <a:off x="5227320" y="3063240"/>
            <a:ext cx="1737360" cy="1737360"/>
          </a:xfrm>
          <a:prstGeom prst="ellipse">
            <a:avLst/>
          </a:prstGeom>
          <a:solidFill>
            <a:srgbClr val="14213D"/>
          </a:solidFill>
          <a:ln w="12700">
            <a:solidFill>
              <a:srgbClr val="14213D"/>
            </a:solidFill>
          </a:ln>
        </p:spPr>
        <p:txBody>
          <a:bodyPr wrap="none" anchor="ctr" lIns="91440" rIns="91440" tIns="0" bIns="0"/>
          <a:lstStyle/>
          <a:p>
            <a:pPr algn="ctr"/>
            <a:r>
              <a:rPr lang="en-US" sz="2000" b="1">
                <a:solidFill>
                  <a:srgbClr val="F7F6F2"/>
                </a:solidFill>
                <a:latin typeface="Arial"/>
              </a:rPr>
              <a:t>Customer</a:t>
            </a:r>
          </a:p>
        </p:txBody>
      </p:sp>
      <p:sp>
        <p:nvSpPr>
          <p:cNvPr id="14" name="Touchpoint TV"/>
          <p:cNvSpPr/>
          <p:nvPr/>
        </p:nvSpPr>
        <p:spPr>
          <a:xfrm>
            <a:off x="5364480" y="1634740"/>
            <a:ext cx="1463040"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TV</a:t>
            </a:r>
          </a:p>
        </p:txBody>
      </p:sp>
      <p:sp>
        <p:nvSpPr>
          <p:cNvPr id="15" name="Touchpoint Direct Mail"/>
          <p:cNvSpPr/>
          <p:nvPr/>
        </p:nvSpPr>
        <p:spPr>
          <a:xfrm>
            <a:off x="7944848" y="2016706"/>
            <a:ext cx="1709928"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Direct Mail</a:t>
            </a:r>
          </a:p>
        </p:txBody>
      </p:sp>
      <p:sp>
        <p:nvSpPr>
          <p:cNvPr id="16" name="Touchpoint GBP"/>
          <p:cNvSpPr/>
          <p:nvPr/>
        </p:nvSpPr>
        <p:spPr>
          <a:xfrm>
            <a:off x="9739339" y="3016706"/>
            <a:ext cx="1463040"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GBP</a:t>
            </a:r>
          </a:p>
        </p:txBody>
      </p:sp>
      <p:sp>
        <p:nvSpPr>
          <p:cNvPr id="17" name="Touchpoint Website"/>
          <p:cNvSpPr/>
          <p:nvPr/>
        </p:nvSpPr>
        <p:spPr>
          <a:xfrm>
            <a:off x="9739339" y="4252773"/>
            <a:ext cx="1463040"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Website</a:t>
            </a:r>
          </a:p>
        </p:txBody>
      </p:sp>
      <p:sp>
        <p:nvSpPr>
          <p:cNvPr id="18" name="Touchpoint Promos"/>
          <p:cNvSpPr/>
          <p:nvPr/>
        </p:nvSpPr>
        <p:spPr>
          <a:xfrm>
            <a:off x="8068292" y="5252773"/>
            <a:ext cx="1463040"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Promos</a:t>
            </a:r>
          </a:p>
        </p:txBody>
      </p:sp>
      <p:sp>
        <p:nvSpPr>
          <p:cNvPr id="19" name="Touchpoint Outbound Text Campaigns"/>
          <p:cNvSpPr/>
          <p:nvPr/>
        </p:nvSpPr>
        <p:spPr>
          <a:xfrm>
            <a:off x="4582669" y="5634740"/>
            <a:ext cx="3026663"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Outbound Text Campaigns</a:t>
            </a:r>
          </a:p>
        </p:txBody>
      </p:sp>
      <p:sp>
        <p:nvSpPr>
          <p:cNvPr id="20" name="Touchpoint Inbound"/>
          <p:cNvSpPr/>
          <p:nvPr/>
        </p:nvSpPr>
        <p:spPr>
          <a:xfrm>
            <a:off x="2660667" y="5252773"/>
            <a:ext cx="1463040"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Inbound</a:t>
            </a:r>
          </a:p>
        </p:txBody>
      </p:sp>
      <p:sp>
        <p:nvSpPr>
          <p:cNvPr id="21" name="Touchpoint Facebook"/>
          <p:cNvSpPr/>
          <p:nvPr/>
        </p:nvSpPr>
        <p:spPr>
          <a:xfrm>
            <a:off x="989620" y="4252773"/>
            <a:ext cx="1463040"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Facebook</a:t>
            </a:r>
          </a:p>
        </p:txBody>
      </p:sp>
      <p:sp>
        <p:nvSpPr>
          <p:cNvPr id="22" name="Touchpoint Google Ads"/>
          <p:cNvSpPr/>
          <p:nvPr/>
        </p:nvSpPr>
        <p:spPr>
          <a:xfrm>
            <a:off x="921040" y="3016706"/>
            <a:ext cx="1600200"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Google Ads</a:t>
            </a:r>
          </a:p>
        </p:txBody>
      </p:sp>
      <p:sp>
        <p:nvSpPr>
          <p:cNvPr id="23" name="Touchpoint Fleetworx"/>
          <p:cNvSpPr/>
          <p:nvPr/>
        </p:nvSpPr>
        <p:spPr>
          <a:xfrm>
            <a:off x="2646951" y="2016706"/>
            <a:ext cx="1490472" cy="594360"/>
          </a:xfrm>
          <a:prstGeom prst="roundRect">
            <a:avLst>
              <a:gd name="adj" fmla="val 50000"/>
            </a:avLst>
          </a:prstGeom>
          <a:solidFill>
            <a:srgbClr val="FFFFFF"/>
          </a:solidFill>
          <a:ln w="12700">
            <a:solidFill>
              <a:srgbClr val="E2E0D8"/>
            </a:solidFill>
          </a:ln>
        </p:spPr>
        <p:txBody>
          <a:bodyPr wrap="none" anchor="ctr" lIns="91440" rIns="91440" tIns="0" bIns="0"/>
          <a:lstStyle/>
          <a:p>
            <a:pPr algn="ctr"/>
            <a:r>
              <a:rPr lang="en-US" sz="1600" b="1">
                <a:solidFill>
                  <a:srgbClr val="14213D"/>
                </a:solidFill>
                <a:latin typeface="Arial"/>
              </a:rPr>
              <a:t>Fleetworx</a:t>
            </a:r>
          </a:p>
        </p:txBody>
      </p:sp>
      <p:sp>
        <p:nvSpPr>
          <p:cNvPr id="24" name="Page number"/>
          <p:cNvSpPr txBox="1"/>
          <p:nvPr/>
        </p:nvSpPr>
        <p:spPr>
          <a:xfrm>
            <a:off x="11094415" y="6355080"/>
            <a:ext cx="548640" cy="274320"/>
          </a:xfrm>
          <a:prstGeom prst="rect">
            <a:avLst/>
          </a:prstGeom>
          <a:noFill/>
        </p:spPr>
        <p:txBody>
          <a:bodyPr wrap="square" anchor="t" lIns="0" rIns="0" tIns="0" bIns="0">
            <a:spAutoFit/>
          </a:bodyPr>
          <a:lstStyle/>
          <a:p>
            <a:pPr algn="r"/>
            <a:r>
              <a:rPr lang="en-US" sz="1000" b="0">
                <a:solidFill>
                  <a:srgbClr val="5A6478"/>
                </a:solidFill>
                <a:latin typeface="Arial"/>
              </a:rPr>
              <a:t>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Coastal Air Plus YTD Performance</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