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87" r:id="rId3"/>
    <p:sldId id="270" r:id="rId4"/>
    <p:sldId id="268" r:id="rId5"/>
    <p:sldId id="272" r:id="rId6"/>
    <p:sldId id="285" r:id="rId7"/>
    <p:sldId id="283" r:id="rId8"/>
    <p:sldId id="284" r:id="rId9"/>
    <p:sldId id="286" r:id="rId10"/>
    <p:sldId id="269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02"/>
  </p:normalViewPr>
  <p:slideViewPr>
    <p:cSldViewPr snapToGrid="0" snapToObjects="1">
      <p:cViewPr varScale="1">
        <p:scale>
          <a:sx n="98" d="100"/>
          <a:sy n="98" d="100"/>
        </p:scale>
        <p:origin x="101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477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011680"/>
            <a:ext cx="11094415" cy="1477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dirty="0">
                <a:solidFill>
                  <a:srgbClr val="F7F6F2"/>
                </a:solidFill>
                <a:latin typeface="Arial"/>
              </a:rPr>
              <a:t>Coastal Air Plus</a:t>
            </a:r>
          </a:p>
          <a:p>
            <a:pPr algn="ctr"/>
            <a:r>
              <a:rPr sz="4800" b="1" dirty="0">
                <a:solidFill>
                  <a:srgbClr val="F7F6F2"/>
                </a:solidFill>
                <a:latin typeface="Arial"/>
              </a:rPr>
              <a:t>Year-to-Date Results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48640" y="3977639"/>
            <a:ext cx="11094415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dirty="0">
                <a:solidFill>
                  <a:srgbClr val="C9D3E3"/>
                </a:solidFill>
                <a:latin typeface="Arial"/>
              </a:rPr>
              <a:t>January 1 – October 23, 2026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5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2800" b="1">
                <a:solidFill>
                  <a:srgbClr val="14213D"/>
                </a:solidFill>
                <a:latin typeface="Arial"/>
              </a:rPr>
              <a:t>Data Explained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60120"/>
            <a:ext cx="11094415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400" b="0">
                <a:solidFill>
                  <a:srgbClr val="5A6478"/>
                </a:solidFill>
                <a:latin typeface="Arial"/>
              </a:rPr>
              <a:t>How Charleston and Myrtle Beach revenue is split between the two agencies</a:t>
            </a:r>
          </a:p>
        </p:txBody>
      </p:sp>
      <p:sp>
        <p:nvSpPr>
          <p:cNvPr id="4" name="Card 1"/>
          <p:cNvSpPr/>
          <p:nvPr/>
        </p:nvSpPr>
        <p:spPr>
          <a:xfrm>
            <a:off x="548640" y="1554480"/>
            <a:ext cx="351525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>
            <a:outerShdw blurRad="76200" dist="25400" dir="5400000" algn="t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5" name="Card 1 label"/>
          <p:cNvSpPr txBox="1"/>
          <p:nvPr/>
        </p:nvSpPr>
        <p:spPr>
          <a:xfrm>
            <a:off x="868680" y="1828800"/>
            <a:ext cx="2875178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200" b="1">
                <a:solidFill>
                  <a:srgbClr val="5A6478"/>
                </a:solidFill>
                <a:latin typeface="Arial"/>
              </a:rPr>
              <a:t>ROI MARKETING</a:t>
            </a:r>
          </a:p>
        </p:txBody>
      </p:sp>
      <p:sp>
        <p:nvSpPr>
          <p:cNvPr id="6" name="Card 1 heading"/>
          <p:cNvSpPr txBox="1"/>
          <p:nvPr/>
        </p:nvSpPr>
        <p:spPr>
          <a:xfrm>
            <a:off x="868680" y="2148840"/>
            <a:ext cx="2875178" cy="3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2400" b="1">
                <a:solidFill>
                  <a:srgbClr val="14213D"/>
                </a:solidFill>
                <a:latin typeface="Arial"/>
              </a:rPr>
              <a:t>Charleston</a:t>
            </a:r>
          </a:p>
        </p:txBody>
      </p:sp>
      <p:sp>
        <p:nvSpPr>
          <p:cNvPr id="7" name="Card 1 period"/>
          <p:cNvSpPr txBox="1"/>
          <p:nvPr/>
        </p:nvSpPr>
        <p:spPr>
          <a:xfrm>
            <a:off x="868680" y="2560320"/>
            <a:ext cx="2875178" cy="2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600" b="1">
                <a:solidFill>
                  <a:srgbClr val="1F6676"/>
                </a:solidFill>
                <a:latin typeface="Arial"/>
              </a:rPr>
              <a:t>April – September</a:t>
            </a:r>
          </a:p>
        </p:txBody>
      </p:sp>
      <p:sp>
        <p:nvSpPr>
          <p:cNvPr id="8" name="Card 1 body"/>
          <p:cNvSpPr txBox="1"/>
          <p:nvPr/>
        </p:nvSpPr>
        <p:spPr>
          <a:xfrm>
            <a:off x="868680" y="2926080"/>
            <a:ext cx="2875178" cy="5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400" b="0">
                <a:solidFill>
                  <a:srgbClr val="5A6478"/>
                </a:solidFill>
                <a:latin typeface="Arial"/>
              </a:rPr>
              <a:t>Charleston revenue is separated and reported on its own.</a:t>
            </a:r>
          </a:p>
        </p:txBody>
      </p:sp>
      <p:sp>
        <p:nvSpPr>
          <p:cNvPr id="9" name="Card 2"/>
          <p:cNvSpPr/>
          <p:nvPr/>
        </p:nvSpPr>
        <p:spPr>
          <a:xfrm>
            <a:off x="4337218" y="1554480"/>
            <a:ext cx="351525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>
            <a:outerShdw blurRad="76200" dist="25400" dir="5400000" algn="t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0" name="Card 2 label"/>
          <p:cNvSpPr txBox="1"/>
          <p:nvPr/>
        </p:nvSpPr>
        <p:spPr>
          <a:xfrm>
            <a:off x="4657258" y="1828800"/>
            <a:ext cx="2875178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200" b="1">
                <a:solidFill>
                  <a:srgbClr val="5A6478"/>
                </a:solidFill>
                <a:latin typeface="Arial"/>
              </a:rPr>
              <a:t>CAP MARKETING</a:t>
            </a:r>
          </a:p>
        </p:txBody>
      </p:sp>
      <p:sp>
        <p:nvSpPr>
          <p:cNvPr id="11" name="Card 2 heading"/>
          <p:cNvSpPr txBox="1"/>
          <p:nvPr/>
        </p:nvSpPr>
        <p:spPr>
          <a:xfrm>
            <a:off x="4657258" y="2148840"/>
            <a:ext cx="2875178" cy="3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2400" b="1">
                <a:solidFill>
                  <a:srgbClr val="14213D"/>
                </a:solidFill>
                <a:latin typeface="Arial"/>
              </a:rPr>
              <a:t>Myrtle Beach</a:t>
            </a:r>
          </a:p>
        </p:txBody>
      </p:sp>
      <p:sp>
        <p:nvSpPr>
          <p:cNvPr id="12" name="Card 2 period"/>
          <p:cNvSpPr txBox="1"/>
          <p:nvPr/>
        </p:nvSpPr>
        <p:spPr>
          <a:xfrm>
            <a:off x="4657258" y="2560320"/>
            <a:ext cx="2875178" cy="2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600" b="1">
                <a:solidFill>
                  <a:srgbClr val="1F6676"/>
                </a:solidFill>
                <a:latin typeface="Arial"/>
              </a:rPr>
              <a:t>January – September</a:t>
            </a:r>
          </a:p>
        </p:txBody>
      </p:sp>
      <p:sp>
        <p:nvSpPr>
          <p:cNvPr id="13" name="Card 2 body"/>
          <p:cNvSpPr txBox="1"/>
          <p:nvPr/>
        </p:nvSpPr>
        <p:spPr>
          <a:xfrm>
            <a:off x="4657258" y="2926080"/>
            <a:ext cx="2875178" cy="5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400" b="0">
                <a:solidFill>
                  <a:srgbClr val="5A6478"/>
                </a:solidFill>
                <a:latin typeface="Arial"/>
              </a:rPr>
              <a:t>All Myrtle Beach marketing revenue.</a:t>
            </a:r>
          </a:p>
        </p:txBody>
      </p:sp>
      <p:sp>
        <p:nvSpPr>
          <p:cNvPr id="14" name="Card 3"/>
          <p:cNvSpPr/>
          <p:nvPr/>
        </p:nvSpPr>
        <p:spPr>
          <a:xfrm>
            <a:off x="8125796" y="1554480"/>
            <a:ext cx="351525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>
            <a:outerShdw blurRad="76200" dist="25400" dir="5400000" algn="t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5" name="Card 3 label"/>
          <p:cNvSpPr txBox="1"/>
          <p:nvPr/>
        </p:nvSpPr>
        <p:spPr>
          <a:xfrm>
            <a:off x="8445836" y="1828800"/>
            <a:ext cx="2875178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200" b="1">
                <a:solidFill>
                  <a:srgbClr val="5A6478"/>
                </a:solidFill>
                <a:latin typeface="Arial"/>
              </a:rPr>
              <a:t>CAP MARKETING</a:t>
            </a:r>
          </a:p>
        </p:txBody>
      </p:sp>
      <p:sp>
        <p:nvSpPr>
          <p:cNvPr id="16" name="Card 3 heading"/>
          <p:cNvSpPr txBox="1"/>
          <p:nvPr/>
        </p:nvSpPr>
        <p:spPr>
          <a:xfrm>
            <a:off x="8445836" y="2148840"/>
            <a:ext cx="2875178" cy="3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2400" b="1">
                <a:solidFill>
                  <a:srgbClr val="14213D"/>
                </a:solidFill>
                <a:latin typeface="Arial"/>
              </a:rPr>
              <a:t>Charleston</a:t>
            </a:r>
          </a:p>
        </p:txBody>
      </p:sp>
      <p:sp>
        <p:nvSpPr>
          <p:cNvPr id="17" name="Card 3 period"/>
          <p:cNvSpPr txBox="1"/>
          <p:nvPr/>
        </p:nvSpPr>
        <p:spPr>
          <a:xfrm>
            <a:off x="8445836" y="2560320"/>
            <a:ext cx="2875178" cy="2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600" b="1">
                <a:solidFill>
                  <a:srgbClr val="1F6676"/>
                </a:solidFill>
                <a:latin typeface="Arial"/>
              </a:rPr>
              <a:t>January – April 1</a:t>
            </a:r>
          </a:p>
        </p:txBody>
      </p:sp>
      <p:sp>
        <p:nvSpPr>
          <p:cNvPr id="18" name="Card 3 body"/>
          <p:cNvSpPr txBox="1"/>
          <p:nvPr/>
        </p:nvSpPr>
        <p:spPr>
          <a:xfrm>
            <a:off x="8445836" y="2926080"/>
            <a:ext cx="2875178" cy="5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400" b="0">
                <a:solidFill>
                  <a:srgbClr val="5A6478"/>
                </a:solidFill>
                <a:latin typeface="Arial"/>
              </a:rPr>
              <a:t>All Charleston marketing revenue.</a:t>
            </a:r>
          </a:p>
        </p:txBody>
      </p:sp>
      <p:sp>
        <p:nvSpPr>
          <p:cNvPr id="19" name="Overlap panel"/>
          <p:cNvSpPr/>
          <p:nvPr/>
        </p:nvSpPr>
        <p:spPr>
          <a:xfrm>
            <a:off x="548640" y="4023360"/>
            <a:ext cx="11094416" cy="187452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>
            <a:noFill/>
          </a:ln>
          <a:effectLst>
            <a:outerShdw blurRad="76200" dist="25400" dir="5400000" algn="t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0" name="Overlap label"/>
          <p:cNvSpPr txBox="1"/>
          <p:nvPr/>
        </p:nvSpPr>
        <p:spPr>
          <a:xfrm>
            <a:off x="868680" y="4297680"/>
            <a:ext cx="10454336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200" b="1">
                <a:solidFill>
                  <a:srgbClr val="C9D3E3"/>
                </a:solidFill>
                <a:latin typeface="Arial"/>
              </a:rPr>
              <a:t>ALSO COUNTED IN CAP MARKETING · CHARLESTON, APRIL – SEPTEMBER</a:t>
            </a:r>
          </a:p>
        </p:txBody>
      </p:sp>
      <p:sp>
        <p:nvSpPr>
          <p:cNvPr id="21" name="Overlap text"/>
          <p:cNvSpPr txBox="1"/>
          <p:nvPr/>
        </p:nvSpPr>
        <p:spPr>
          <a:xfrm>
            <a:off x="868680" y="4617720"/>
            <a:ext cx="10454336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en-US" sz="1600" b="1">
                <a:solidFill>
                  <a:srgbClr val="FFFFFF"/>
                </a:solidFill>
                <a:latin typeface="Arial"/>
              </a:rPr>
              <a:t>Revenue from these Charleston activities is included in CAP Marketing’s numbers:</a:t>
            </a:r>
          </a:p>
        </p:txBody>
      </p:sp>
      <p:sp>
        <p:nvSpPr>
          <p:cNvPr id="22" name="Pill LettrLabs"/>
          <p:cNvSpPr/>
          <p:nvPr/>
        </p:nvSpPr>
        <p:spPr>
          <a:xfrm>
            <a:off x="868680" y="5166360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2A3756"/>
          </a:solidFill>
          <a:ln>
            <a:noFill/>
          </a:ln>
          <a:effectLst/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F2A65A"/>
                </a:solidFill>
                <a:latin typeface="Arial"/>
              </a:rPr>
              <a:t>LettrLabs</a:t>
            </a:r>
          </a:p>
        </p:txBody>
      </p:sp>
      <p:sp>
        <p:nvSpPr>
          <p:cNvPr id="23" name="Pill Charleston GBP"/>
          <p:cNvSpPr/>
          <p:nvPr/>
        </p:nvSpPr>
        <p:spPr>
          <a:xfrm>
            <a:off x="2651760" y="5166360"/>
            <a:ext cx="2011680" cy="502920"/>
          </a:xfrm>
          <a:prstGeom prst="roundRect">
            <a:avLst>
              <a:gd name="adj" fmla="val 50000"/>
            </a:avLst>
          </a:prstGeom>
          <a:solidFill>
            <a:srgbClr val="2A3756"/>
          </a:solidFill>
          <a:ln>
            <a:noFill/>
          </a:ln>
          <a:effectLst/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F2A65A"/>
                </a:solidFill>
                <a:latin typeface="Arial"/>
              </a:rPr>
              <a:t>Charleston GBP</a:t>
            </a:r>
          </a:p>
        </p:txBody>
      </p:sp>
      <p:sp>
        <p:nvSpPr>
          <p:cNvPr id="24" name="Pill Billboard"/>
          <p:cNvSpPr/>
          <p:nvPr/>
        </p:nvSpPr>
        <p:spPr>
          <a:xfrm>
            <a:off x="4892040" y="5166360"/>
            <a:ext cx="1463040" cy="502920"/>
          </a:xfrm>
          <a:prstGeom prst="roundRect">
            <a:avLst>
              <a:gd name="adj" fmla="val 50000"/>
            </a:avLst>
          </a:prstGeom>
          <a:solidFill>
            <a:srgbClr val="2A3756"/>
          </a:solidFill>
          <a:ln>
            <a:noFill/>
          </a:ln>
          <a:effectLst/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F2A65A"/>
                </a:solidFill>
                <a:latin typeface="Arial"/>
              </a:rPr>
              <a:t>Billboard</a:t>
            </a:r>
          </a:p>
        </p:txBody>
      </p:sp>
      <p:sp>
        <p:nvSpPr>
          <p:cNvPr id="25" name="Pill Website and Organic"/>
          <p:cNvSpPr/>
          <p:nvPr/>
        </p:nvSpPr>
        <p:spPr>
          <a:xfrm>
            <a:off x="6583680" y="516636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2A3756"/>
          </a:solidFill>
          <a:ln>
            <a:noFill/>
          </a:ln>
          <a:effectLst/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F2A65A"/>
                </a:solidFill>
                <a:latin typeface="Arial"/>
              </a:rPr>
              <a:t>Website and Organic</a:t>
            </a:r>
          </a:p>
        </p:txBody>
      </p:sp>
      <p:sp>
        <p:nvSpPr>
          <p:cNvPr id="26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lang="en-US" sz="1000" b="0">
                <a:solidFill>
                  <a:srgbClr val="5A647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800" b="1">
                <a:solidFill>
                  <a:srgbClr val="14213D"/>
                </a:solidFill>
                <a:latin typeface="Arial"/>
              </a:rPr>
              <a:t>A Customer’s Journey</a:t>
            </a:r>
          </a:p>
        </p:txBody>
      </p:sp>
      <p:cxnSp>
        <p:nvCxnSpPr>
          <p:cNvPr id="25" name="Connector"/>
          <p:cNvCxnSpPr/>
          <p:nvPr/>
        </p:nvCxnSpPr>
        <p:spPr>
          <a:xfrm>
            <a:off x="6096000" y="1881920"/>
            <a:ext cx="0" cy="205000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26" name="Connector"/>
          <p:cNvCxnSpPr/>
          <p:nvPr/>
        </p:nvCxnSpPr>
        <p:spPr>
          <a:xfrm flipV="1">
            <a:off x="6096000" y="2156567"/>
            <a:ext cx="2350000" cy="1775352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27" name="Connector"/>
          <p:cNvCxnSpPr/>
          <p:nvPr/>
        </p:nvCxnSpPr>
        <p:spPr>
          <a:xfrm flipV="1">
            <a:off x="6096000" y="2906920"/>
            <a:ext cx="4070319" cy="102500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29" name="Connector"/>
          <p:cNvCxnSpPr/>
          <p:nvPr/>
        </p:nvCxnSpPr>
        <p:spPr>
          <a:xfrm>
            <a:off x="6096000" y="3931920"/>
            <a:ext cx="4700000" cy="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31" name="Connector"/>
          <p:cNvCxnSpPr/>
          <p:nvPr/>
        </p:nvCxnSpPr>
        <p:spPr>
          <a:xfrm>
            <a:off x="6096000" y="3931920"/>
            <a:ext cx="4070319" cy="102500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32" name="Connector"/>
          <p:cNvCxnSpPr/>
          <p:nvPr/>
        </p:nvCxnSpPr>
        <p:spPr>
          <a:xfrm>
            <a:off x="6096000" y="3931920"/>
            <a:ext cx="2350000" cy="1775352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33" name="Connector"/>
          <p:cNvCxnSpPr/>
          <p:nvPr/>
        </p:nvCxnSpPr>
        <p:spPr>
          <a:xfrm>
            <a:off x="6096000" y="3931920"/>
            <a:ext cx="0" cy="205000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34" name="Connector"/>
          <p:cNvCxnSpPr/>
          <p:nvPr/>
        </p:nvCxnSpPr>
        <p:spPr>
          <a:xfrm flipV="1">
            <a:off x="3745999" y="3931920"/>
            <a:ext cx="2350000" cy="1775352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35" name="Connector"/>
          <p:cNvCxnSpPr/>
          <p:nvPr/>
        </p:nvCxnSpPr>
        <p:spPr>
          <a:xfrm flipV="1">
            <a:off x="2025680" y="3931920"/>
            <a:ext cx="4070319" cy="102500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36" name="Connector"/>
          <p:cNvCxnSpPr/>
          <p:nvPr/>
        </p:nvCxnSpPr>
        <p:spPr>
          <a:xfrm>
            <a:off x="1396000" y="3931920"/>
            <a:ext cx="4700000" cy="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37" name="Connector"/>
          <p:cNvCxnSpPr/>
          <p:nvPr/>
        </p:nvCxnSpPr>
        <p:spPr>
          <a:xfrm>
            <a:off x="2025680" y="2906920"/>
            <a:ext cx="4070319" cy="102500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38" name="Connector"/>
          <p:cNvCxnSpPr/>
          <p:nvPr/>
        </p:nvCxnSpPr>
        <p:spPr>
          <a:xfrm>
            <a:off x="3745999" y="2156567"/>
            <a:ext cx="2350000" cy="1775352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sp>
        <p:nvSpPr>
          <p:cNvPr id="13" name="Customer"/>
          <p:cNvSpPr/>
          <p:nvPr/>
        </p:nvSpPr>
        <p:spPr>
          <a:xfrm>
            <a:off x="5227320" y="3063240"/>
            <a:ext cx="1737360" cy="1737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US" sz="2000" b="1">
                <a:solidFill>
                  <a:srgbClr val="F7F6F2"/>
                </a:solidFill>
                <a:latin typeface="Arial"/>
              </a:rPr>
              <a:t>Customer</a:t>
            </a:r>
          </a:p>
        </p:txBody>
      </p:sp>
      <p:sp>
        <p:nvSpPr>
          <p:cNvPr id="14" name="Touchpoint TV"/>
          <p:cNvSpPr/>
          <p:nvPr/>
        </p:nvSpPr>
        <p:spPr>
          <a:xfrm>
            <a:off x="5364480" y="1584740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TV</a:t>
            </a:r>
          </a:p>
        </p:txBody>
      </p:sp>
      <p:sp>
        <p:nvSpPr>
          <p:cNvPr id="15" name="Touchpoint Direct Mail"/>
          <p:cNvSpPr/>
          <p:nvPr/>
        </p:nvSpPr>
        <p:spPr>
          <a:xfrm>
            <a:off x="7591036" y="1859387"/>
            <a:ext cx="1709928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Direct Mail</a:t>
            </a:r>
          </a:p>
        </p:txBody>
      </p:sp>
      <p:sp>
        <p:nvSpPr>
          <p:cNvPr id="16" name="Touchpoint GBP"/>
          <p:cNvSpPr/>
          <p:nvPr/>
        </p:nvSpPr>
        <p:spPr>
          <a:xfrm>
            <a:off x="9434799" y="2609740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GBP</a:t>
            </a:r>
          </a:p>
        </p:txBody>
      </p:sp>
      <p:sp>
        <p:nvSpPr>
          <p:cNvPr id="28" name="Touchpoint Organic"/>
          <p:cNvSpPr/>
          <p:nvPr/>
        </p:nvSpPr>
        <p:spPr>
          <a:xfrm>
            <a:off x="10064480" y="3634740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Organic</a:t>
            </a:r>
          </a:p>
        </p:txBody>
      </p:sp>
      <p:sp>
        <p:nvSpPr>
          <p:cNvPr id="30" name="Touchpoint SEO"/>
          <p:cNvSpPr/>
          <p:nvPr/>
        </p:nvSpPr>
        <p:spPr>
          <a:xfrm>
            <a:off x="9434799" y="4659740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SEO</a:t>
            </a:r>
          </a:p>
        </p:txBody>
      </p:sp>
      <p:sp>
        <p:nvSpPr>
          <p:cNvPr id="17" name="Touchpoint Website"/>
          <p:cNvSpPr/>
          <p:nvPr/>
        </p:nvSpPr>
        <p:spPr>
          <a:xfrm>
            <a:off x="7714480" y="5410092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Website</a:t>
            </a:r>
          </a:p>
        </p:txBody>
      </p:sp>
      <p:sp>
        <p:nvSpPr>
          <p:cNvPr id="18" name="Touchpoint Promos"/>
          <p:cNvSpPr/>
          <p:nvPr/>
        </p:nvSpPr>
        <p:spPr>
          <a:xfrm>
            <a:off x="3014479" y="5410092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Promos</a:t>
            </a:r>
          </a:p>
        </p:txBody>
      </p:sp>
      <p:sp>
        <p:nvSpPr>
          <p:cNvPr id="19" name="Touchpoint Outbound Text Campaigns"/>
          <p:cNvSpPr/>
          <p:nvPr/>
        </p:nvSpPr>
        <p:spPr>
          <a:xfrm>
            <a:off x="4696000" y="5684740"/>
            <a:ext cx="280000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Outbound Text Campaigns</a:t>
            </a:r>
          </a:p>
        </p:txBody>
      </p:sp>
      <p:sp>
        <p:nvSpPr>
          <p:cNvPr id="20" name="Touchpoint Inbound"/>
          <p:cNvSpPr/>
          <p:nvPr/>
        </p:nvSpPr>
        <p:spPr>
          <a:xfrm>
            <a:off x="1294160" y="4659740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Inbound</a:t>
            </a:r>
          </a:p>
        </p:txBody>
      </p:sp>
      <p:sp>
        <p:nvSpPr>
          <p:cNvPr id="21" name="Touchpoint Facebook"/>
          <p:cNvSpPr/>
          <p:nvPr/>
        </p:nvSpPr>
        <p:spPr>
          <a:xfrm>
            <a:off x="664480" y="3634740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Facebook</a:t>
            </a:r>
          </a:p>
        </p:txBody>
      </p:sp>
      <p:sp>
        <p:nvSpPr>
          <p:cNvPr id="22" name="Touchpoint Google Ads"/>
          <p:cNvSpPr/>
          <p:nvPr/>
        </p:nvSpPr>
        <p:spPr>
          <a:xfrm>
            <a:off x="1225580" y="2609740"/>
            <a:ext cx="160020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Google Ads</a:t>
            </a:r>
          </a:p>
        </p:txBody>
      </p:sp>
      <p:sp>
        <p:nvSpPr>
          <p:cNvPr id="23" name="Touchpoint Fleetworx"/>
          <p:cNvSpPr/>
          <p:nvPr/>
        </p:nvSpPr>
        <p:spPr>
          <a:xfrm>
            <a:off x="3000763" y="1859387"/>
            <a:ext cx="1490472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Fleetworx</a:t>
            </a:r>
          </a:p>
        </p:txBody>
      </p:sp>
      <p:sp>
        <p:nvSpPr>
          <p:cNvPr id="2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000" b="0">
                <a:solidFill>
                  <a:srgbClr val="5A647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11980" y="405230"/>
            <a:ext cx="1109441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2800" b="1" dirty="0">
                <a:solidFill>
                  <a:srgbClr val="14213D"/>
                </a:solidFill>
                <a:latin typeface="Arial"/>
              </a:rPr>
              <a:t>Total Marketing Revenue: $1,386,201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000" b="0">
                <a:solidFill>
                  <a:srgbClr val="5A6478"/>
                </a:solidFill>
                <a:latin typeface="Arial"/>
              </a:rPr>
              <a:t>4</a:t>
            </a:r>
          </a:p>
        </p:txBody>
      </p:sp>
      <p:sp>
        <p:nvSpPr>
          <p:cNvPr id="5" name="Source Digital"/>
          <p:cNvSpPr/>
          <p:nvPr/>
        </p:nvSpPr>
        <p:spPr>
          <a:xfrm>
            <a:off x="548640" y="4023360"/>
            <a:ext cx="2568614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Digital label"/>
          <p:cNvSpPr txBox="1"/>
          <p:nvPr/>
        </p:nvSpPr>
        <p:spPr>
          <a:xfrm>
            <a:off x="868680" y="4297680"/>
            <a:ext cx="19285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1" dirty="0">
                <a:solidFill>
                  <a:srgbClr val="5A6478"/>
                </a:solidFill>
                <a:latin typeface="Arial"/>
              </a:rPr>
              <a:t>DIGITAL </a:t>
            </a:r>
          </a:p>
        </p:txBody>
      </p:sp>
      <p:sp>
        <p:nvSpPr>
          <p:cNvPr id="7" name="Digital value"/>
          <p:cNvSpPr txBox="1"/>
          <p:nvPr/>
        </p:nvSpPr>
        <p:spPr>
          <a:xfrm>
            <a:off x="868680" y="4663440"/>
            <a:ext cx="192853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b="1">
                <a:solidFill>
                  <a:srgbClr val="14213D"/>
                </a:solidFill>
                <a:latin typeface="Arial"/>
              </a:rPr>
              <a:t>$822K</a:t>
            </a:r>
          </a:p>
        </p:txBody>
      </p:sp>
      <p:sp>
        <p:nvSpPr>
          <p:cNvPr id="8" name="Digital detail"/>
          <p:cNvSpPr txBox="1"/>
          <p:nvPr/>
        </p:nvSpPr>
        <p:spPr>
          <a:xfrm>
            <a:off x="868680" y="5577840"/>
            <a:ext cx="192853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0">
                <a:solidFill>
                  <a:srgbClr val="5A6478"/>
                </a:solidFill>
                <a:latin typeface="Arial"/>
              </a:rPr>
              <a:t>$822,061 closed revenue</a:t>
            </a:r>
          </a:p>
        </p:txBody>
      </p:sp>
      <p:sp>
        <p:nvSpPr>
          <p:cNvPr id="9" name="Source TV"/>
          <p:cNvSpPr/>
          <p:nvPr/>
        </p:nvSpPr>
        <p:spPr>
          <a:xfrm>
            <a:off x="3390574" y="4023360"/>
            <a:ext cx="2568614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V label"/>
          <p:cNvSpPr txBox="1"/>
          <p:nvPr/>
        </p:nvSpPr>
        <p:spPr>
          <a:xfrm>
            <a:off x="3710614" y="4297680"/>
            <a:ext cx="19285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1" dirty="0">
                <a:solidFill>
                  <a:srgbClr val="5A6478"/>
                </a:solidFill>
                <a:latin typeface="Arial"/>
              </a:rPr>
              <a:t>BRAND-ASSISTED </a:t>
            </a:r>
          </a:p>
        </p:txBody>
      </p:sp>
      <p:sp>
        <p:nvSpPr>
          <p:cNvPr id="11" name="TV value"/>
          <p:cNvSpPr txBox="1"/>
          <p:nvPr/>
        </p:nvSpPr>
        <p:spPr>
          <a:xfrm>
            <a:off x="3710614" y="4663440"/>
            <a:ext cx="192853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b="1">
                <a:solidFill>
                  <a:srgbClr val="14213D"/>
                </a:solidFill>
                <a:latin typeface="Arial"/>
              </a:rPr>
              <a:t>$225K</a:t>
            </a:r>
          </a:p>
        </p:txBody>
      </p:sp>
      <p:sp>
        <p:nvSpPr>
          <p:cNvPr id="12" name="TV detail"/>
          <p:cNvSpPr txBox="1"/>
          <p:nvPr/>
        </p:nvSpPr>
        <p:spPr>
          <a:xfrm>
            <a:off x="3710614" y="5577840"/>
            <a:ext cx="192853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0">
                <a:solidFill>
                  <a:srgbClr val="5A6478"/>
                </a:solidFill>
                <a:latin typeface="Arial"/>
              </a:rPr>
              <a:t>Main line first, then marketing</a:t>
            </a:r>
          </a:p>
        </p:txBody>
      </p:sp>
      <p:sp>
        <p:nvSpPr>
          <p:cNvPr id="13" name="Source Direct Mail"/>
          <p:cNvSpPr/>
          <p:nvPr/>
        </p:nvSpPr>
        <p:spPr>
          <a:xfrm>
            <a:off x="6232508" y="4023360"/>
            <a:ext cx="2568614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irect Mail label"/>
          <p:cNvSpPr txBox="1"/>
          <p:nvPr/>
        </p:nvSpPr>
        <p:spPr>
          <a:xfrm>
            <a:off x="6552548" y="4297680"/>
            <a:ext cx="192853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1">
                <a:solidFill>
                  <a:srgbClr val="5A6478"/>
                </a:solidFill>
                <a:latin typeface="Arial"/>
              </a:rPr>
              <a:t>DIRECT MAIL · LETTRLABS</a:t>
            </a:r>
          </a:p>
        </p:txBody>
      </p:sp>
      <p:sp>
        <p:nvSpPr>
          <p:cNvPr id="15" name="Direct Mail value"/>
          <p:cNvSpPr txBox="1"/>
          <p:nvPr/>
        </p:nvSpPr>
        <p:spPr>
          <a:xfrm>
            <a:off x="6552548" y="4663440"/>
            <a:ext cx="192853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b="1">
                <a:solidFill>
                  <a:srgbClr val="14213D"/>
                </a:solidFill>
                <a:latin typeface="Arial"/>
              </a:rPr>
              <a:t>$94K</a:t>
            </a:r>
          </a:p>
        </p:txBody>
      </p:sp>
      <p:sp>
        <p:nvSpPr>
          <p:cNvPr id="16" name="Direct Mail detail"/>
          <p:cNvSpPr txBox="1"/>
          <p:nvPr/>
        </p:nvSpPr>
        <p:spPr>
          <a:xfrm>
            <a:off x="6552548" y="5577840"/>
            <a:ext cx="192853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0">
                <a:solidFill>
                  <a:srgbClr val="5A6478"/>
                </a:solidFill>
                <a:latin typeface="Arial"/>
              </a:rPr>
              <a:t>$94,000</a:t>
            </a:r>
          </a:p>
        </p:txBody>
      </p:sp>
      <p:sp>
        <p:nvSpPr>
          <p:cNvPr id="32" name="Source Charleston"/>
          <p:cNvSpPr/>
          <p:nvPr/>
        </p:nvSpPr>
        <p:spPr>
          <a:xfrm>
            <a:off x="9074442" y="4023360"/>
            <a:ext cx="2568614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harleston label"/>
          <p:cNvSpPr txBox="1"/>
          <p:nvPr/>
        </p:nvSpPr>
        <p:spPr>
          <a:xfrm>
            <a:off x="9394482" y="4297680"/>
            <a:ext cx="192853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00" b="1">
                <a:solidFill>
                  <a:srgbClr val="5A6478"/>
                </a:solidFill>
                <a:latin typeface="Arial"/>
              </a:rPr>
              <a:t>CHARLESTON</a:t>
            </a:r>
          </a:p>
        </p:txBody>
      </p:sp>
      <p:sp>
        <p:nvSpPr>
          <p:cNvPr id="34" name="Charleston value"/>
          <p:cNvSpPr txBox="1"/>
          <p:nvPr/>
        </p:nvSpPr>
        <p:spPr>
          <a:xfrm>
            <a:off x="9394482" y="4663440"/>
            <a:ext cx="192853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b="1">
                <a:solidFill>
                  <a:srgbClr val="14213D"/>
                </a:solidFill>
                <a:latin typeface="Arial"/>
              </a:rPr>
              <a:t>$245K</a:t>
            </a:r>
          </a:p>
        </p:txBody>
      </p:sp>
      <p:sp>
        <p:nvSpPr>
          <p:cNvPr id="35" name="Charleston detail"/>
          <p:cNvSpPr txBox="1"/>
          <p:nvPr/>
        </p:nvSpPr>
        <p:spPr>
          <a:xfrm>
            <a:off x="9394482" y="5577840"/>
            <a:ext cx="192853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0">
                <a:solidFill>
                  <a:srgbClr val="5A6478"/>
                </a:solidFill>
                <a:latin typeface="Arial"/>
              </a:rPr>
              <a:t>$244,807</a:t>
            </a:r>
          </a:p>
        </p:txBody>
      </p:sp>
      <p:sp>
        <p:nvSpPr>
          <p:cNvPr id="17" name="Total Revenue"/>
          <p:cNvSpPr/>
          <p:nvPr/>
        </p:nvSpPr>
        <p:spPr>
          <a:xfrm>
            <a:off x="548640" y="1417320"/>
            <a:ext cx="11094416" cy="240000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otal label"/>
          <p:cNvSpPr txBox="1"/>
          <p:nvPr/>
        </p:nvSpPr>
        <p:spPr>
          <a:xfrm>
            <a:off x="868680" y="1691640"/>
            <a:ext cx="5000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>
                <a:solidFill>
                  <a:srgbClr val="C9D3E3"/>
                </a:solidFill>
                <a:latin typeface="Arial"/>
              </a:rPr>
              <a:t>TOTAL REVENUE, ALL SOURCES</a:t>
            </a:r>
          </a:p>
        </p:txBody>
      </p:sp>
      <p:sp>
        <p:nvSpPr>
          <p:cNvPr id="19" name="Total value"/>
          <p:cNvSpPr txBox="1"/>
          <p:nvPr/>
        </p:nvSpPr>
        <p:spPr>
          <a:xfrm>
            <a:off x="868680" y="2057400"/>
            <a:ext cx="500000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800" b="1" dirty="0">
                <a:solidFill>
                  <a:srgbClr val="F2A65A"/>
                </a:solidFill>
                <a:latin typeface="Arial"/>
              </a:rPr>
              <a:t>$1.39M</a:t>
            </a:r>
          </a:p>
        </p:txBody>
      </p:sp>
      <p:sp>
        <p:nvSpPr>
          <p:cNvPr id="20" name="Total detail"/>
          <p:cNvSpPr txBox="1"/>
          <p:nvPr/>
        </p:nvSpPr>
        <p:spPr>
          <a:xfrm>
            <a:off x="868680" y="2971800"/>
            <a:ext cx="5000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$1,386,201</a:t>
            </a:r>
          </a:p>
        </p:txBody>
      </p:sp>
      <p:sp>
        <p:nvSpPr>
          <p:cNvPr id="21" name="Breakdown 1 name"/>
          <p:cNvSpPr txBox="1"/>
          <p:nvPr/>
        </p:nvSpPr>
        <p:spPr>
          <a:xfrm>
            <a:off x="6413863" y="1737360"/>
            <a:ext cx="32004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0" dirty="0">
                <a:solidFill>
                  <a:srgbClr val="C9D3E3"/>
                </a:solidFill>
                <a:latin typeface="Arial"/>
              </a:rPr>
              <a:t>Digital </a:t>
            </a:r>
          </a:p>
        </p:txBody>
      </p:sp>
      <p:sp>
        <p:nvSpPr>
          <p:cNvPr id="22" name="Breakdown 1 amount"/>
          <p:cNvSpPr txBox="1"/>
          <p:nvPr/>
        </p:nvSpPr>
        <p:spPr>
          <a:xfrm>
            <a:off x="9601200" y="1737360"/>
            <a:ext cx="1714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400" b="1">
                <a:solidFill>
                  <a:srgbClr val="F7F6F2"/>
                </a:solidFill>
                <a:latin typeface="Arial"/>
              </a:rPr>
              <a:t>$822,061</a:t>
            </a:r>
          </a:p>
        </p:txBody>
      </p:sp>
      <p:sp>
        <p:nvSpPr>
          <p:cNvPr id="23" name="Breakdown 2 name"/>
          <p:cNvSpPr txBox="1"/>
          <p:nvPr/>
        </p:nvSpPr>
        <p:spPr>
          <a:xfrm>
            <a:off x="6400800" y="2148840"/>
            <a:ext cx="32004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0" dirty="0">
                <a:solidFill>
                  <a:srgbClr val="C9D3E3"/>
                </a:solidFill>
                <a:latin typeface="Arial"/>
              </a:rPr>
              <a:t>Brand-assisted </a:t>
            </a:r>
          </a:p>
        </p:txBody>
      </p:sp>
      <p:sp>
        <p:nvSpPr>
          <p:cNvPr id="24" name="Breakdown 2 amount"/>
          <p:cNvSpPr txBox="1"/>
          <p:nvPr/>
        </p:nvSpPr>
        <p:spPr>
          <a:xfrm>
            <a:off x="9601200" y="2148840"/>
            <a:ext cx="1714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400" b="1">
                <a:solidFill>
                  <a:srgbClr val="F7F6F2"/>
                </a:solidFill>
                <a:latin typeface="Arial"/>
              </a:rPr>
              <a:t>$225,333</a:t>
            </a:r>
          </a:p>
        </p:txBody>
      </p:sp>
      <p:sp>
        <p:nvSpPr>
          <p:cNvPr id="25" name="Breakdown 3 name"/>
          <p:cNvSpPr txBox="1"/>
          <p:nvPr/>
        </p:nvSpPr>
        <p:spPr>
          <a:xfrm>
            <a:off x="6400800" y="256032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Direct mail (LettrLabs)</a:t>
            </a:r>
          </a:p>
        </p:txBody>
      </p:sp>
      <p:sp>
        <p:nvSpPr>
          <p:cNvPr id="30" name="Breakdown 4 name"/>
          <p:cNvSpPr txBox="1"/>
          <p:nvPr/>
        </p:nvSpPr>
        <p:spPr>
          <a:xfrm>
            <a:off x="6400800" y="29718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Charleston</a:t>
            </a:r>
          </a:p>
        </p:txBody>
      </p:sp>
      <p:sp>
        <p:nvSpPr>
          <p:cNvPr id="26" name="Breakdown 3 amount"/>
          <p:cNvSpPr txBox="1"/>
          <p:nvPr/>
        </p:nvSpPr>
        <p:spPr>
          <a:xfrm>
            <a:off x="9601200" y="2560320"/>
            <a:ext cx="17145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400" b="1" dirty="0">
                <a:solidFill>
                  <a:srgbClr val="F7F6F2"/>
                </a:solidFill>
                <a:latin typeface="Arial"/>
              </a:rPr>
              <a:t>$94,000</a:t>
            </a:r>
          </a:p>
          <a:p>
            <a:pPr algn="r"/>
            <a:endParaRPr lang="en-US" sz="1400" b="1" dirty="0">
              <a:solidFill>
                <a:srgbClr val="F7F6F2"/>
              </a:solidFill>
              <a:latin typeface="Arial"/>
            </a:endParaRPr>
          </a:p>
        </p:txBody>
      </p:sp>
      <p:sp>
        <p:nvSpPr>
          <p:cNvPr id="31" name="Breakdown 4 amount"/>
          <p:cNvSpPr txBox="1"/>
          <p:nvPr/>
        </p:nvSpPr>
        <p:spPr>
          <a:xfrm>
            <a:off x="9601200" y="2971800"/>
            <a:ext cx="1714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400" b="1" dirty="0">
                <a:solidFill>
                  <a:srgbClr val="F7F6F2"/>
                </a:solidFill>
                <a:latin typeface="Arial"/>
              </a:rPr>
              <a:t>$244,807</a:t>
            </a:r>
          </a:p>
        </p:txBody>
      </p:sp>
      <p:cxnSp>
        <p:nvCxnSpPr>
          <p:cNvPr id="27" name="Breakdown rule"/>
          <p:cNvCxnSpPr/>
          <p:nvPr/>
        </p:nvCxnSpPr>
        <p:spPr>
          <a:xfrm>
            <a:off x="6400800" y="3383280"/>
            <a:ext cx="4914900" cy="0"/>
          </a:xfrm>
          <a:prstGeom prst="line">
            <a:avLst/>
          </a:prstGeom>
          <a:ln w="9525">
            <a:solidFill>
              <a:srgbClr val="5A6478"/>
            </a:solidFill>
          </a:ln>
        </p:spPr>
      </p:cxnSp>
      <p:sp>
        <p:nvSpPr>
          <p:cNvPr id="28" name="Breakdown total name"/>
          <p:cNvSpPr txBox="1"/>
          <p:nvPr/>
        </p:nvSpPr>
        <p:spPr>
          <a:xfrm>
            <a:off x="6400800" y="347472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>
                <a:solidFill>
                  <a:srgbClr val="F7F6F2"/>
                </a:solidFill>
                <a:latin typeface="Arial"/>
              </a:rPr>
              <a:t>Total</a:t>
            </a:r>
          </a:p>
        </p:txBody>
      </p:sp>
      <p:sp>
        <p:nvSpPr>
          <p:cNvPr id="29" name="Breakdown total amount"/>
          <p:cNvSpPr txBox="1"/>
          <p:nvPr/>
        </p:nvSpPr>
        <p:spPr>
          <a:xfrm>
            <a:off x="9601200" y="3474720"/>
            <a:ext cx="1714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400" b="1">
                <a:solidFill>
                  <a:srgbClr val="F2A65A"/>
                </a:solidFill>
                <a:latin typeface="Arial"/>
              </a:rPr>
              <a:t>$1,386,201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dirty="0">
                <a:solidFill>
                  <a:srgbClr val="14213D"/>
                </a:solidFill>
                <a:latin typeface="Arial"/>
              </a:rPr>
              <a:t>Year to date: $841,452 closed on $173,872 of ad spend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5</a:t>
            </a:r>
          </a:p>
        </p:txBody>
      </p:sp>
      <p:sp>
        <p:nvSpPr>
          <p:cNvPr id="5" name="Stat Closed Revenue"/>
          <p:cNvSpPr/>
          <p:nvPr/>
        </p:nvSpPr>
        <p:spPr>
          <a:xfrm>
            <a:off x="548640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28751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CLOSED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287517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$841K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287517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$841,452</a:t>
            </a:r>
          </a:p>
        </p:txBody>
      </p:sp>
      <p:sp>
        <p:nvSpPr>
          <p:cNvPr id="9" name="Stat Unique Leads"/>
          <p:cNvSpPr/>
          <p:nvPr/>
        </p:nvSpPr>
        <p:spPr>
          <a:xfrm>
            <a:off x="4338218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58258" y="1691640"/>
            <a:ext cx="28751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UNIQUE LEADS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8258" y="2057400"/>
            <a:ext cx="287517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3,613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258" y="2971800"/>
            <a:ext cx="287517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5,007 total calls and forms</a:t>
            </a:r>
          </a:p>
        </p:txBody>
      </p:sp>
      <p:sp>
        <p:nvSpPr>
          <p:cNvPr id="13" name="Stat Booked Jobs"/>
          <p:cNvSpPr/>
          <p:nvPr/>
        </p:nvSpPr>
        <p:spPr>
          <a:xfrm>
            <a:off x="8127796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47836" y="1691640"/>
            <a:ext cx="28751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BOOKED JOBS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7836" y="2057400"/>
            <a:ext cx="287517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714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7836" y="2971800"/>
            <a:ext cx="287517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20% of unique leads</a:t>
            </a:r>
          </a:p>
        </p:txBody>
      </p:sp>
      <p:sp>
        <p:nvSpPr>
          <p:cNvPr id="17" name="Stat Ad Spend"/>
          <p:cNvSpPr/>
          <p:nvPr/>
        </p:nvSpPr>
        <p:spPr>
          <a:xfrm>
            <a:off x="548640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28751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AD SPEND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480560"/>
            <a:ext cx="287517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$174K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287517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$173,872</a:t>
            </a:r>
          </a:p>
        </p:txBody>
      </p:sp>
      <p:sp>
        <p:nvSpPr>
          <p:cNvPr id="21" name="Stat Cost Per Booked Job"/>
          <p:cNvSpPr/>
          <p:nvPr/>
        </p:nvSpPr>
        <p:spPr>
          <a:xfrm>
            <a:off x="4338218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58258" y="4114800"/>
            <a:ext cx="28751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COST PER BOOKED JOB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8258" y="4480560"/>
            <a:ext cx="287517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$244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8258" y="5394960"/>
            <a:ext cx="287517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$48 per unique lead</a:t>
            </a:r>
          </a:p>
        </p:txBody>
      </p:sp>
      <p:sp>
        <p:nvSpPr>
          <p:cNvPr id="25" name="Stat Return On Ad Spend"/>
          <p:cNvSpPr/>
          <p:nvPr/>
        </p:nvSpPr>
        <p:spPr>
          <a:xfrm>
            <a:off x="8127796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47836" y="4114800"/>
            <a:ext cx="28751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RETURN ON AD SPEND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7836" y="4480560"/>
            <a:ext cx="287517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>
                <a:solidFill>
                  <a:srgbClr val="F2A65A"/>
                </a:solidFill>
                <a:latin typeface="Arial"/>
              </a:rPr>
              <a:t>4.8x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7836" y="5394960"/>
            <a:ext cx="287517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All closed revenue ÷ ad spend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2800" b="1" dirty="0">
                <a:solidFill>
                  <a:srgbClr val="14213D"/>
                </a:solidFill>
                <a:latin typeface="Arial"/>
              </a:rPr>
              <a:t>Total Company </a:t>
            </a:r>
            <a:r>
              <a:rPr sz="2800" b="1" dirty="0">
                <a:solidFill>
                  <a:srgbClr val="14213D"/>
                </a:solidFill>
                <a:latin typeface="Arial"/>
              </a:rPr>
              <a:t>Residential Growth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228599" y="956667"/>
            <a:ext cx="11094415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 dirty="0">
                <a:solidFill>
                  <a:srgbClr val="1F6676"/>
                </a:solidFill>
                <a:latin typeface="Arial"/>
              </a:rPr>
              <a:t>Jan 1 – Oct 23, 2026</a:t>
            </a:r>
          </a:p>
        </p:txBody>
      </p:sp>
      <p:sp>
        <p:nvSpPr>
          <p:cNvPr id="4" name="Stat Total Charleston &amp; Myrtle Beach Revenue"/>
          <p:cNvSpPr/>
          <p:nvPr/>
        </p:nvSpPr>
        <p:spPr>
          <a:xfrm>
            <a:off x="548640" y="1874519"/>
            <a:ext cx="3515258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"/>
          <p:cNvSpPr txBox="1"/>
          <p:nvPr/>
        </p:nvSpPr>
        <p:spPr>
          <a:xfrm>
            <a:off x="868680" y="2194560"/>
            <a:ext cx="287517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TOTAL CHARLESTON &amp; MYRTLE BEACH REVENUE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868680" y="2926079"/>
            <a:ext cx="2875178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Arial"/>
              </a:rPr>
              <a:t>$5,228,176</a:t>
            </a:r>
          </a:p>
        </p:txBody>
      </p:sp>
      <p:sp>
        <p:nvSpPr>
          <p:cNvPr id="7" name="Stat Total Company Marketing Revenue"/>
          <p:cNvSpPr/>
          <p:nvPr/>
        </p:nvSpPr>
        <p:spPr>
          <a:xfrm>
            <a:off x="4338218" y="1874519"/>
            <a:ext cx="3515258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"/>
          <p:cNvSpPr txBox="1"/>
          <p:nvPr/>
        </p:nvSpPr>
        <p:spPr>
          <a:xfrm>
            <a:off x="4658258" y="2194560"/>
            <a:ext cx="287517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TOTAL COMPANY MARKETING REVENUE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4658258" y="2926079"/>
            <a:ext cx="2875178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Arial"/>
              </a:rPr>
              <a:t>$1,404,507</a:t>
            </a:r>
          </a:p>
        </p:txBody>
      </p:sp>
      <p:sp>
        <p:nvSpPr>
          <p:cNvPr id="10" name="Stat Marketing Contribution"/>
          <p:cNvSpPr/>
          <p:nvPr/>
        </p:nvSpPr>
        <p:spPr>
          <a:xfrm>
            <a:off x="8127796" y="1874519"/>
            <a:ext cx="3515258" cy="256032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"/>
          <p:cNvSpPr txBox="1"/>
          <p:nvPr/>
        </p:nvSpPr>
        <p:spPr>
          <a:xfrm>
            <a:off x="8447836" y="2194560"/>
            <a:ext cx="2875178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MARKETING CONTRIBUTION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8447836" y="2926079"/>
            <a:ext cx="2875178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>
                <a:solidFill>
                  <a:srgbClr val="F2A65A"/>
                </a:solidFill>
                <a:latin typeface="Arial"/>
              </a:rPr>
              <a:t>27%</a:t>
            </a:r>
          </a:p>
        </p:txBody>
      </p:sp>
      <p:sp>
        <p:nvSpPr>
          <p:cNvPr id="15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411480"/>
            <a:ext cx="11185855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dirty="0">
                <a:solidFill>
                  <a:srgbClr val="14213D"/>
                </a:solidFill>
                <a:latin typeface="Arial"/>
              </a:rPr>
              <a:t>Charleston Marketing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60120"/>
            <a:ext cx="11094415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 dirty="0">
                <a:solidFill>
                  <a:srgbClr val="1F6676"/>
                </a:solidFill>
                <a:latin typeface="Arial"/>
              </a:rPr>
              <a:t>ROI Marketing</a:t>
            </a:r>
          </a:p>
        </p:txBody>
      </p:sp>
      <p:sp>
        <p:nvSpPr>
          <p:cNvPr id="4" name="Period"/>
          <p:cNvSpPr txBox="1"/>
          <p:nvPr/>
        </p:nvSpPr>
        <p:spPr>
          <a:xfrm>
            <a:off x="548640" y="1371600"/>
            <a:ext cx="1109441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dirty="0">
                <a:solidFill>
                  <a:srgbClr val="5A6478"/>
                </a:solidFill>
                <a:latin typeface="Arial"/>
              </a:rPr>
              <a:t>APRIL – SEPTEMBER 2026</a:t>
            </a:r>
          </a:p>
        </p:txBody>
      </p:sp>
      <p:sp>
        <p:nvSpPr>
          <p:cNvPr id="5" name="Stat Ad Spend"/>
          <p:cNvSpPr/>
          <p:nvPr/>
        </p:nvSpPr>
        <p:spPr>
          <a:xfrm>
            <a:off x="548640" y="1874519"/>
            <a:ext cx="351525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"/>
          <p:cNvSpPr txBox="1"/>
          <p:nvPr/>
        </p:nvSpPr>
        <p:spPr>
          <a:xfrm>
            <a:off x="868680" y="2148839"/>
            <a:ext cx="287517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AD SPEND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868680" y="2560320"/>
            <a:ext cx="2875178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400" b="1">
                <a:solidFill>
                  <a:srgbClr val="14213D"/>
                </a:solidFill>
                <a:latin typeface="Arial"/>
              </a:rPr>
              <a:t>$144,496</a:t>
            </a:r>
          </a:p>
        </p:txBody>
      </p:sp>
      <p:sp>
        <p:nvSpPr>
          <p:cNvPr id="8" name="Stat Booked Jobs"/>
          <p:cNvSpPr/>
          <p:nvPr/>
        </p:nvSpPr>
        <p:spPr>
          <a:xfrm>
            <a:off x="4338218" y="1874519"/>
            <a:ext cx="351525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"/>
          <p:cNvSpPr txBox="1"/>
          <p:nvPr/>
        </p:nvSpPr>
        <p:spPr>
          <a:xfrm>
            <a:off x="4658258" y="2148839"/>
            <a:ext cx="287517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BOOKED JOBS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4658258" y="2560320"/>
            <a:ext cx="2875178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400" b="1">
                <a:solidFill>
                  <a:srgbClr val="14213D"/>
                </a:solidFill>
                <a:latin typeface="Arial"/>
              </a:rPr>
              <a:t>346</a:t>
            </a:r>
          </a:p>
        </p:txBody>
      </p:sp>
      <p:sp>
        <p:nvSpPr>
          <p:cNvPr id="11" name="Stat Revenue"/>
          <p:cNvSpPr/>
          <p:nvPr/>
        </p:nvSpPr>
        <p:spPr>
          <a:xfrm>
            <a:off x="8127796" y="1874519"/>
            <a:ext cx="351525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"/>
          <p:cNvSpPr txBox="1"/>
          <p:nvPr/>
        </p:nvSpPr>
        <p:spPr>
          <a:xfrm>
            <a:off x="8447836" y="2148839"/>
            <a:ext cx="287517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REVENUE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8447836" y="2560320"/>
            <a:ext cx="2875178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400" b="1">
                <a:solidFill>
                  <a:srgbClr val="14213D"/>
                </a:solidFill>
                <a:latin typeface="Arial"/>
              </a:rPr>
              <a:t>$244,807</a:t>
            </a:r>
          </a:p>
        </p:txBody>
      </p:sp>
      <p:sp>
        <p:nvSpPr>
          <p:cNvPr id="14" name="Stat Qualified Leads"/>
          <p:cNvSpPr/>
          <p:nvPr/>
        </p:nvSpPr>
        <p:spPr>
          <a:xfrm>
            <a:off x="548640" y="3977639"/>
            <a:ext cx="5410047" cy="182880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"/>
          <p:cNvSpPr txBox="1"/>
          <p:nvPr/>
        </p:nvSpPr>
        <p:spPr>
          <a:xfrm>
            <a:off x="868680" y="4251959"/>
            <a:ext cx="476996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QUALIFIED LEADS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868680" y="4663440"/>
            <a:ext cx="4769967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400" b="1">
                <a:solidFill>
                  <a:srgbClr val="F7F6F2"/>
                </a:solidFill>
                <a:latin typeface="Arial"/>
              </a:rPr>
              <a:t>969</a:t>
            </a:r>
          </a:p>
        </p:txBody>
      </p:sp>
      <p:sp>
        <p:nvSpPr>
          <p:cNvPr id="17" name="Stat Cost Per Lead"/>
          <p:cNvSpPr/>
          <p:nvPr/>
        </p:nvSpPr>
        <p:spPr>
          <a:xfrm>
            <a:off x="6233007" y="3977639"/>
            <a:ext cx="5410047" cy="182880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"/>
          <p:cNvSpPr txBox="1"/>
          <p:nvPr/>
        </p:nvSpPr>
        <p:spPr>
          <a:xfrm>
            <a:off x="6553047" y="4251959"/>
            <a:ext cx="476996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COST PER LEAD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6553047" y="4663440"/>
            <a:ext cx="4769967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400" b="1">
                <a:solidFill>
                  <a:srgbClr val="F2A65A"/>
                </a:solidFill>
                <a:latin typeface="Arial"/>
              </a:rPr>
              <a:t>$149</a:t>
            </a:r>
          </a:p>
        </p:txBody>
      </p:sp>
      <p:sp>
        <p:nvSpPr>
          <p:cNvPr id="21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2800" b="1" dirty="0">
                <a:solidFill>
                  <a:srgbClr val="14213D"/>
                </a:solidFill>
                <a:latin typeface="Arial"/>
              </a:rPr>
              <a:t>Coastal Air Plus Myrtle Beach</a:t>
            </a:r>
            <a:r>
              <a:rPr sz="2800" b="1" dirty="0">
                <a:solidFill>
                  <a:srgbClr val="14213D"/>
                </a:solidFill>
                <a:latin typeface="Arial"/>
              </a:rPr>
              <a:t> Marketing</a:t>
            </a:r>
          </a:p>
        </p:txBody>
      </p:sp>
      <p:sp>
        <p:nvSpPr>
          <p:cNvPr id="3" name="Stat Ad Spend"/>
          <p:cNvSpPr/>
          <p:nvPr/>
        </p:nvSpPr>
        <p:spPr>
          <a:xfrm>
            <a:off x="548640" y="1874519"/>
            <a:ext cx="3515258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"/>
          <p:cNvSpPr txBox="1"/>
          <p:nvPr/>
        </p:nvSpPr>
        <p:spPr>
          <a:xfrm>
            <a:off x="868680" y="2240279"/>
            <a:ext cx="287517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AD SPEND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868680" y="2743200"/>
            <a:ext cx="2875178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$139,811</a:t>
            </a:r>
          </a:p>
        </p:txBody>
      </p:sp>
      <p:sp>
        <p:nvSpPr>
          <p:cNvPr id="6" name="Stat Booked Jobs"/>
          <p:cNvSpPr/>
          <p:nvPr/>
        </p:nvSpPr>
        <p:spPr>
          <a:xfrm>
            <a:off x="4338218" y="1874519"/>
            <a:ext cx="3515258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"/>
          <p:cNvSpPr txBox="1"/>
          <p:nvPr/>
        </p:nvSpPr>
        <p:spPr>
          <a:xfrm>
            <a:off x="4658258" y="2240279"/>
            <a:ext cx="287517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BOOKED JOBS</a:t>
            </a:r>
          </a:p>
        </p:txBody>
      </p:sp>
      <p:sp>
        <p:nvSpPr>
          <p:cNvPr id="8" name="Text"/>
          <p:cNvSpPr txBox="1"/>
          <p:nvPr/>
        </p:nvSpPr>
        <p:spPr>
          <a:xfrm>
            <a:off x="4658258" y="2743200"/>
            <a:ext cx="2875178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555</a:t>
            </a:r>
          </a:p>
        </p:txBody>
      </p:sp>
      <p:sp>
        <p:nvSpPr>
          <p:cNvPr id="9" name="Stat Revenue"/>
          <p:cNvSpPr/>
          <p:nvPr/>
        </p:nvSpPr>
        <p:spPr>
          <a:xfrm>
            <a:off x="8127796" y="1874519"/>
            <a:ext cx="3515258" cy="23774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"/>
          <p:cNvSpPr txBox="1"/>
          <p:nvPr/>
        </p:nvSpPr>
        <p:spPr>
          <a:xfrm>
            <a:off x="8447836" y="2240279"/>
            <a:ext cx="287517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REVENUE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8447836" y="2743200"/>
            <a:ext cx="2875178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800" b="1">
                <a:solidFill>
                  <a:srgbClr val="F2A65A"/>
                </a:solidFill>
                <a:latin typeface="Arial"/>
              </a:rPr>
              <a:t>$650,259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CAP Marketing · figures as provided</a:t>
            </a:r>
          </a:p>
        </p:txBody>
      </p:sp>
      <p:sp>
        <p:nvSpPr>
          <p:cNvPr id="13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8</a:t>
            </a:r>
          </a:p>
        </p:txBody>
      </p:sp>
      <p:sp>
        <p:nvSpPr>
          <p:cNvPr id="14" name="Period">
            <a:extLst>
              <a:ext uri="{FF2B5EF4-FFF2-40B4-BE49-F238E27FC236}">
                <a16:creationId xmlns:a16="http://schemas.microsoft.com/office/drawing/2014/main" id="{1A9F255E-C928-4E81-23E8-6C8779D0D56C}"/>
              </a:ext>
            </a:extLst>
          </p:cNvPr>
          <p:cNvSpPr txBox="1"/>
          <p:nvPr/>
        </p:nvSpPr>
        <p:spPr>
          <a:xfrm>
            <a:off x="548640" y="1081444"/>
            <a:ext cx="11094415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 dirty="0">
                <a:solidFill>
                  <a:srgbClr val="5A6478"/>
                </a:solidFill>
                <a:latin typeface="Arial"/>
              </a:rPr>
              <a:t>APRIL – SEPTEMBER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66206" y="411480"/>
            <a:ext cx="1109441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2800" b="1" dirty="0">
                <a:solidFill>
                  <a:srgbClr val="14213D"/>
                </a:solidFill>
                <a:latin typeface="Arial"/>
              </a:rPr>
              <a:t>Charleston vs. Myrtle Beach April – September </a:t>
            </a:r>
            <a:endParaRPr sz="2800" b="1" dirty="0">
              <a:solidFill>
                <a:srgbClr val="14213D"/>
              </a:solidFill>
              <a:latin typeface="Arial"/>
            </a:endParaRP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Market 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133861"/>
              </p:ext>
            </p:extLst>
          </p:nvPr>
        </p:nvGraphicFramePr>
        <p:xfrm>
          <a:off x="548640" y="1417320"/>
          <a:ext cx="11094415" cy="420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94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Apr – Sep 2026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Charleston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/>
                        </a:rPr>
                        <a:t>Myr</a:t>
                      </a:r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t</a:t>
                      </a: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/>
                        </a:rPr>
                        <a:t>le Beach </a:t>
                      </a:r>
                      <a:endParaRPr sz="16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</a:rPr>
                        <a:t>Myrtle Beach</a:t>
                      </a: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lang="en-US" sz="16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wtih</a:t>
                      </a: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/>
                        </a:rPr>
                        <a:t> LSA</a:t>
                      </a:r>
                      <a:endParaRPr sz="16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ROI 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0" dirty="0">
                          <a:solidFill>
                            <a:srgbClr val="14213D"/>
                          </a:solidFill>
                          <a:latin typeface="Arial"/>
                        </a:rPr>
                        <a:t>CAP Marketing </a:t>
                      </a:r>
                      <a:endParaRPr sz="1600" b="0" dirty="0">
                        <a:solidFill>
                          <a:srgbClr val="14213D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CAP 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Ad spend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$144,496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$111,861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$139,811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969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1,978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Not reported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Cost per lead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$149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$57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Not reported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Booked jobs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Not reported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Cost per booked job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$418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$252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$244,807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$494,671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$650,259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Revenue per booked job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$708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$1,172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Return on ad spend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1.69x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4.42x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dirty="0">
                          <a:solidFill>
                            <a:srgbClr val="14213D"/>
                          </a:solidFill>
                          <a:latin typeface="Arial"/>
                        </a:rPr>
                        <a:t>4.65x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0"/>
            <a:ext cx="11094415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5400" b="1" dirty="0">
                <a:solidFill>
                  <a:srgbClr val="F7F6F2"/>
                </a:solidFill>
                <a:latin typeface="Arial"/>
              </a:rPr>
              <a:t>Digital Advertising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000" b="0">
                <a:solidFill>
                  <a:srgbClr val="9FB0C9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dirty="0">
                <a:solidFill>
                  <a:srgbClr val="14213D"/>
                </a:solidFill>
                <a:latin typeface="Arial"/>
              </a:rPr>
              <a:t>Organic drives 43% of closed revenue, advertising 40%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11</a:t>
            </a:r>
          </a:p>
        </p:txBody>
      </p:sp>
      <p:graphicFrame>
        <p:nvGraphicFramePr>
          <p:cNvPr id="5" name="Channel table"/>
          <p:cNvGraphicFramePr>
            <a:graphicFrameLocks noGrp="1"/>
          </p:cNvGraphicFramePr>
          <p:nvPr/>
        </p:nvGraphicFramePr>
        <p:xfrm>
          <a:off x="548640" y="1417320"/>
          <a:ext cx="11094415" cy="3870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18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Conversions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Closed revenue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1,609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1,140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$351,993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42.8%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$177,204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2,331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1,843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$331,017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40.3%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888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520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$120,728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14.7%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$17,147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Direct 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$1,177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0.1%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Artificial Intelligence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$177,204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5,040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3,631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$822,061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4.64x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78938"/>
            <a:ext cx="11094415" cy="1292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2800" b="1" dirty="0">
                <a:solidFill>
                  <a:srgbClr val="14213D"/>
                </a:solidFill>
                <a:latin typeface="Arial"/>
              </a:rPr>
              <a:t>Coastal Air Plus Marketing Revenue</a:t>
            </a:r>
          </a:p>
          <a:p>
            <a:pPr algn="ctr"/>
            <a:r>
              <a:rPr lang="en-US" sz="2800" b="1" dirty="0">
                <a:solidFill>
                  <a:srgbClr val="14213D"/>
                </a:solidFill>
                <a:latin typeface="Arial"/>
              </a:rPr>
              <a:t>January – September </a:t>
            </a:r>
          </a:p>
          <a:p>
            <a:pPr algn="ctr"/>
            <a:r>
              <a:rPr lang="en-US" sz="2800" b="1" dirty="0">
                <a:solidFill>
                  <a:srgbClr val="14213D"/>
                </a:solidFill>
                <a:latin typeface="Arial"/>
              </a:rPr>
              <a:t>Does Not Include Charleston </a:t>
            </a:r>
            <a:endParaRPr sz="2800" b="1" dirty="0">
              <a:solidFill>
                <a:srgbClr val="14213D"/>
              </a:solidFill>
              <a:latin typeface="Arial"/>
            </a:endParaRP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export · Jan 1 – Oct 25, 2026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12</a:t>
            </a:r>
          </a:p>
        </p:txBody>
      </p:sp>
      <p:sp>
        <p:nvSpPr>
          <p:cNvPr id="5" name="Layer Tracked marketing"/>
          <p:cNvSpPr/>
          <p:nvPr/>
        </p:nvSpPr>
        <p:spPr>
          <a:xfrm>
            <a:off x="548640" y="141732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Arial"/>
              </a:rPr>
              <a:t>Tracked marketing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$822,061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79" y="1691640"/>
            <a:ext cx="65224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Searchlight's number: revenue credited to a marketing campaign as the customer's first contact this year.</a:t>
            </a:r>
          </a:p>
        </p:txBody>
      </p:sp>
      <p:sp>
        <p:nvSpPr>
          <p:cNvPr id="9" name="Layer Brand-assisted (estimate)"/>
          <p:cNvSpPr/>
          <p:nvPr/>
        </p:nvSpPr>
        <p:spPr>
          <a:xfrm>
            <a:off x="548640" y="288036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Arial"/>
              </a:rPr>
              <a:t>Brand-assisted (estimate)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$225,333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3154680"/>
            <a:ext cx="65224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Customers whose first contact was a call to the main phone line (Mainline, excluded from the report) who later came back through the website, Google listings or ads.</a:t>
            </a:r>
          </a:p>
        </p:txBody>
      </p:sp>
      <p:sp>
        <p:nvSpPr>
          <p:cNvPr id="13" name="Layer Marketing-influenced total"/>
          <p:cNvSpPr/>
          <p:nvPr/>
        </p:nvSpPr>
        <p:spPr>
          <a:xfrm>
            <a:off x="548640" y="434340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7F6F2"/>
                </a:solidFill>
                <a:latin typeface="Arial"/>
              </a:rPr>
              <a:t>Marketing-influenced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8348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2A65A"/>
                </a:solidFill>
                <a:latin typeface="Arial"/>
              </a:rPr>
              <a:t>$1,047,394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617720"/>
            <a:ext cx="65224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Both layers together. Use the tracked number when it must match Searchlight exactly.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Paid winners: brand search and Local Services Ads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13</a:t>
            </a:r>
          </a:p>
        </p:txBody>
      </p:sp>
      <p:sp>
        <p:nvSpPr>
          <p:cNvPr id="5" name="Winner Brand Search"/>
          <p:cNvSpPr/>
          <p:nvPr/>
        </p:nvSpPr>
        <p:spPr>
          <a:xfrm>
            <a:off x="548640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8751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BRAND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287517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9.4x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54680"/>
            <a:ext cx="287517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PPC_Brand_Core_Myrtle-Beach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023360"/>
            <a:ext cx="2875178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$7,574 spend → $71,450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161 unique leads · 78 booked jobs</a:t>
            </a:r>
          </a:p>
        </p:txBody>
      </p:sp>
      <p:sp>
        <p:nvSpPr>
          <p:cNvPr id="10" name="Winner Local Services Ads"/>
          <p:cNvSpPr/>
          <p:nvPr/>
        </p:nvSpPr>
        <p:spPr>
          <a:xfrm>
            <a:off x="4338218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58258" y="1737360"/>
            <a:ext cx="28751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LOCAL SERVICES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258" y="2103120"/>
            <a:ext cx="287517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4.1x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8258" y="3154680"/>
            <a:ext cx="287517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Coastal Air Plus LSA (HVAC + Plumbing)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8258" y="4023360"/>
            <a:ext cx="2875178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$35,969 spend → $145,887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478 unique leads · 173 booked jobs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Plumbing LSA alone: 11.1x</a:t>
            </a:r>
          </a:p>
        </p:txBody>
      </p:sp>
      <p:sp>
        <p:nvSpPr>
          <p:cNvPr id="15" name="Winner Competitor Search"/>
          <p:cNvSpPr/>
          <p:nvPr/>
        </p:nvSpPr>
        <p:spPr>
          <a:xfrm>
            <a:off x="8127796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47836" y="1737360"/>
            <a:ext cx="287517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COMPETITOR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7836" y="2103120"/>
            <a:ext cx="287517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2.1x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7836" y="3154680"/>
            <a:ext cx="287517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PPC_NB_Competitor-Carolina-Cool_Myrtle-Beach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7836" y="4023360"/>
            <a:ext cx="2875178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$26,983 spend → $56,577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326 unique leads · 56 booked jobs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Below break-even: $87,813 spent for $34,948 closed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14</a:t>
            </a:r>
          </a:p>
        </p:txBody>
      </p:sp>
      <p:graphicFrame>
        <p:nvGraphicFramePr>
          <p:cNvPr id="5" name="Laggard table"/>
          <p:cNvGraphicFramePr>
            <a:graphicFrameLocks noGrp="1"/>
          </p:cNvGraphicFramePr>
          <p:nvPr/>
        </p:nvGraphicFramePr>
        <p:xfrm>
          <a:off x="548640" y="1417320"/>
          <a:ext cx="11094415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60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PPC_NB_HVAC_Myrtle-Beach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$28,006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$10,476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PPC_NB_Plumbing_Myrtle-Beach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$25,375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$8,127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0.32x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July - Sept 2026 Special | $99 New System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$12,078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$10,048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0.83x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PPC_NB_Competitor_Myrtle-Beach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$4,833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0.60x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August 2026 Special | $100 Off HVAC Repair - Copy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$5,022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HVAC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$3,663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$1,146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0.31x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Aug 2026 Special | $100 Off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$2,313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0.14x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Leads Campaign June Offers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$2,082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PDM -  Sept Plumbing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Carolina Cool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$345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Total, 10 campaigns below 1x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$87,813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$34,948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0.40x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Charleston GBP brings the most revenue but books only 7% of its leads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15</a:t>
            </a:r>
          </a:p>
        </p:txBody>
      </p:sp>
      <p:graphicFrame>
        <p:nvGraphicFramePr>
          <p:cNvPr id="5" name="Unpaid table"/>
          <p:cNvGraphicFramePr>
            <a:graphicFrameLocks noGrp="1"/>
          </p:cNvGraphicFramePr>
          <p:nvPr/>
        </p:nvGraphicFramePr>
        <p:xfrm>
          <a:off x="548640" y="1417320"/>
          <a:ext cx="11094415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760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Booked jobs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Book rate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Charleston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$213,907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$90,250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$54,291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Google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$50,471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Myrtle Beach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$25,849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$18,031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PPC HVAC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$16,930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1–14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16</a:t>
            </a:r>
          </a:p>
        </p:txBody>
      </p:sp>
      <p:graphicFrame>
        <p:nvGraphicFramePr>
          <p:cNvPr id="5" name="Ranking 1-14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313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Charleston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$213,907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$90,250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(LSA) Coastal Air Plus (HVAC)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$29,625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$75,644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2.55x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PPC_Brand_Core_Myrtle-Beach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$7,574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$71,450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9.43x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(LSA) Coastal Air Plus (Plumbing)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$6,344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$70,243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11.07x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PPC_NB_Competitor-Carolina-Cool_Myrtle-Beach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$26,983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$56,577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2.10x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$54,291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Google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$50,471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Myrtle Beach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$25,849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$18,031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Remarketing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$10,467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1.62x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HVAC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PPC_NB_HVAC_Myrtle-Beach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$28,006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$10,476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0.37x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15–28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17</a:t>
            </a:r>
          </a:p>
        </p:txBody>
      </p:sp>
      <p:graphicFrame>
        <p:nvGraphicFramePr>
          <p:cNvPr id="5" name="Ranking 15-28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313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July - Sept 2026 Special | $99 New System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$12,078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$10,048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0.83x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PPC_NB_Plumbing_Myrtle-Beach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$25,375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$8,127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0.32x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Avoca Live Transfer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$7,469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PPC_NB_Competitor_Myrtle-Beach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$8,100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$4,833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0.60x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Honey Do List Plumbing Campaign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$3,672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Bing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$2,781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$2,597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Facebooks Ads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$2,237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Updated Unsold SMS 9-2024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$1,871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[Va] [Search] | Brand | mCPC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$1,814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$1,448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$1,307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Mktg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29–42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18</a:t>
            </a:r>
          </a:p>
        </p:txBody>
      </p:sp>
      <p:graphicFrame>
        <p:nvGraphicFramePr>
          <p:cNvPr id="5" name="Ranking 29-42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313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HVAC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$3,663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0.31x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Google Ads Pending Validation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Yahoo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Aug 2026 Special | $100 Off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$2,313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0.14x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mapstakeover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Promotional Maintenance MailChimp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August 2026 Special | $100 Off HVAC Repair - Copy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$5,022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DuckDuckGo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Spring HVAC Tuneup $79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Leads Campaign June Offers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$2,082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PDM -  Sept Plumbing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Trane TCS Leads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43–56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19</a:t>
            </a:r>
          </a:p>
        </p:txBody>
      </p:sp>
      <p:graphicFrame>
        <p:nvGraphicFramePr>
          <p:cNvPr id="5" name="Ranking 43-56"/>
          <p:cNvGraphicFramePr>
            <a:graphicFrameLocks noGrp="1"/>
          </p:cNvGraphicFramePr>
          <p:nvPr/>
        </p:nvGraphicFramePr>
        <p:xfrm>
          <a:off x="548640" y="1234440"/>
          <a:ext cx="11094415" cy="49926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313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 - Unbooked Customers Over 3 years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test DM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Google Brand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 Charleston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December 2024 $99 Tune Up Promotional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Unopened Expired Memberships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Carolina Cool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$345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[Va] [Search] | HVAC | mCPC &gt; tCPA $50 &gt; $40 &gt; $61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thebluebook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ChatGPT Referral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mapstakeover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Spend not tied to a campaign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$5,065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2573</Words>
  <Application>Microsoft Macintosh PowerPoint</Application>
  <PresentationFormat>Widescreen</PresentationFormat>
  <Paragraphs>900</Paragraphs>
  <Slides>19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Coastal Air Plus YTD Performance</dc:title>
  <dc:subject/>
  <dc:creator/>
  <cp:keywords/>
  <dc:description>generated using python-pptx</dc:description>
  <cp:lastModifiedBy>Michael Dempsey</cp:lastModifiedBy>
  <cp:revision>6</cp:revision>
  <dcterms:created xsi:type="dcterms:W3CDTF">2013-01-27T09:14:16Z</dcterms:created>
  <dcterms:modified xsi:type="dcterms:W3CDTF">2026-10-25T17:04:44Z</dcterms:modified>
  <cp:category/>
</cp:coreProperties>
</file>