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87" r:id="rId3"/>
    <p:sldId id="270" r:id="rId4"/>
    <p:sldId id="268" r:id="rId5"/>
    <p:sldId id="272" r:id="rId6"/>
    <p:sldId id="285" r:id="rId7"/>
    <p:sldId id="283" r:id="rId8"/>
    <p:sldId id="284" r:id="rId9"/>
    <p:sldId id="286" r:id="rId10"/>
    <p:sldId id="269" r:id="rId11"/>
    <p:sldId id="273" r:id="rId12"/>
    <p:sldId id="274" r:id="rId13"/>
    <p:sldId id="275" r:id="rId14"/>
    <p:sldId id="276" r:id="rId15"/>
    <p:sldId id="277" r:id="rId16"/>
    <p:sldId id="278" r:id="rId17"/>
    <p:sldId id="279" r:id="rId18"/>
    <p:sldId id="280" r:id="rId19"/>
    <p:sldId id="281"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702"/>
  </p:normalViewPr>
  <p:slideViewPr>
    <p:cSldViewPr snapToGrid="0" snapToObjects="1">
      <p:cViewPr varScale="1">
        <p:scale>
          <a:sx n="98" d="100"/>
          <a:sy n="98" d="100"/>
        </p:scale>
        <p:origin x="1016"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4776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Coastal Air Plus marketing performance from January 1 through October 23, 2026. Digital figures come directly from Searchlight's performance-by report export.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Digital closed revenue from the SearchLight export (Jan 1 – Oct 25, 2026) is $822,061. Brand-assisted revenue, $225,333, is an estimate of revenue from customers who first called the main line and later came back through the website, Google listings or ads (55 jobs traced in Searchlight data). LettrLabs direct mail adds $94,000 and Charleston marketing (ROI Marketing, April–September) adds $244,807, for a total of $1,386,201.</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Closed revenue of 841 thousand on 174 thousand of ad spend. The 4.8x return counts revenue from every channel against ad spend; paid advertising on its own returned about 2x. The brand-assisted figure is an estimate explained on slide 4.</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Residential growth, January 1 to October 23, 2026: total Charleston and Myrtle Beach revenue of $5,228,176, of which $1,404,507 is company marketing revenue, a 27% marketing contribution. Figures were provided separately.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Charleston marketing managed by ROI Marketing, April through September 2026: $144,496 ad spend, 969 qualified leads at $149 per lead, 346 booked jobs and $244,807 in revenue. These figures were provided separately and are not from Searchlight.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CAP Marketing: $139,811 ad spend, 555 booked jobs and $650,259 in revenue. These figures were provided separately.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SearchLight export, Jan 1 – Oct 25, 2026. Total closed revenue $822,061 from 5,040 conversions and 3,631 unique leads on $177,204 of ad spend. Total ROAS of 4.64x counts closed revenue from every channel against ad spend; advertising on its own returned about 1.9x.</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Tracked Searchlight revenue is $822,061 (Jan 1 – Oct 25). The brand-assisted estimate of $225,333 comes from a job-by-job trace of 55 jobs in Searchlight data: $105,953 came back through direct website visits, $55,789 through the website and other sources, $50,965 through organic (mostly Charleston GBP) and $12,626 through ads. It is not a Searchlight figure. Together they make $1,047,394 in marketing-influenced revenue.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Brand search and the plumbing Local Services Ads listing return around 9 to 11 dollars per dollar. The HVAC LSA listing and Carolina-Cool competitor search are lower but still return more than twice their cost.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paid campaigns closed less revenue than they cost. The Myrtle Beach non-brand HVAC and plumbing search campaigns are the largest. Recent offer campaigns may still close revenue.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Unpaid sources with more than 10 thousand in closed revenue. Book rate = booked jobs divided by unique leads. Charleston GBP alone closed about 214 thousand from 636 unique leads, far ahead of Myrtle Beach GBP.</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campaigns with any activity, ranked by closed revenue. Direct Mktg = Direct Marketing; AI = Artificial Intelligence. Unique leads are counted per campaign, so a person who came through two campaigns appears in both.</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campaigns with any activity, ranked by closed revenue. Direct Mktg = Direct Marketing; AI = Artificial Intelligence. Unique leads are counted per campaign, so a person who came through two campaigns appears in both.</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campaigns with any activity, ranked by closed revenue. Direct Mktg = Direct Marketing; AI = Artificial Intelligence. Unique leads are counted per campaign, so a person who came through two campaigns appears in both.</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campaigns with any activity, ranked by closed revenue. Direct Mktg = Direct Marketing; AI = Artificial Intelligence. Unique leads are counted per campaign, so a person who came through two campaigns appears in both.</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3" name="Title"/>
          <p:cNvSpPr txBox="1"/>
          <p:nvPr/>
        </p:nvSpPr>
        <p:spPr>
          <a:xfrm>
            <a:off x="548640" y="2011680"/>
            <a:ext cx="11094415" cy="1477328"/>
          </a:xfrm>
          <a:prstGeom prst="rect">
            <a:avLst/>
          </a:prstGeom>
          <a:noFill/>
        </p:spPr>
        <p:txBody>
          <a:bodyPr wrap="square" lIns="0" tIns="0" rIns="0" bIns="0" anchor="t">
            <a:spAutoFit/>
          </a:bodyPr>
          <a:lstStyle/>
          <a:p>
            <a:pPr algn="ctr"/>
            <a:r>
              <a:rPr sz="4800" b="1" dirty="0">
                <a:solidFill>
                  <a:srgbClr val="F7F6F2"/>
                </a:solidFill>
                <a:latin typeface="Arial"/>
              </a:rPr>
              <a:t>Coastal Air Plus</a:t>
            </a:r>
          </a:p>
          <a:p>
            <a:pPr algn="ctr"/>
            <a:r>
              <a:rPr sz="4800" b="1" dirty="0">
                <a:solidFill>
                  <a:srgbClr val="F7F6F2"/>
                </a:solidFill>
                <a:latin typeface="Arial"/>
              </a:rPr>
              <a:t>Year-to-Date Results</a:t>
            </a:r>
          </a:p>
        </p:txBody>
      </p:sp>
      <p:sp>
        <p:nvSpPr>
          <p:cNvPr id="4" name="Subtitle"/>
          <p:cNvSpPr txBox="1"/>
          <p:nvPr/>
        </p:nvSpPr>
        <p:spPr>
          <a:xfrm>
            <a:off x="548640" y="3977639"/>
            <a:ext cx="11094415" cy="338554"/>
          </a:xfrm>
          <a:prstGeom prst="rect">
            <a:avLst/>
          </a:prstGeom>
          <a:noFill/>
        </p:spPr>
        <p:txBody>
          <a:bodyPr wrap="square" lIns="0" tIns="0" rIns="0" bIns="0" anchor="t">
            <a:spAutoFit/>
          </a:bodyPr>
          <a:lstStyle/>
          <a:p>
            <a:pPr algn="ctr"/>
            <a:r>
              <a:rPr sz="2200" b="0" dirty="0">
                <a:solidFill>
                  <a:srgbClr val="C9D3E3"/>
                </a:solidFill>
                <a:latin typeface="Arial"/>
              </a:rPr>
              <a:t>January 1 – October 23, 2026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itle"/>
          <p:cNvSpPr txBox="1"/>
          <p:nvPr/>
        </p:nvSpPr>
        <p:spPr>
          <a:xfrm>
            <a:off x="548640" y="411480"/>
            <a:ext cx="11094415" cy="500000"/>
          </a:xfrm>
          <a:prstGeom prst="rect">
            <a:avLst/>
          </a:prstGeom>
          <a:noFill/>
        </p:spPr>
        <p:txBody>
          <a:bodyPr wrap="square" lIns="0" tIns="0" rIns="0" bIns="0" anchor="t">
            <a:noAutofit/>
          </a:bodyPr>
          <a:lstStyle/>
          <a:p>
            <a:pPr algn="l">
              <a:spcBef>
                <a:spcPts val="0"/>
              </a:spcBef>
            </a:pPr>
            <a:r>
              <a:rPr lang="en-US" sz="2800" b="1">
                <a:solidFill>
                  <a:srgbClr val="14213D"/>
                </a:solidFill>
                <a:latin typeface="Arial"/>
              </a:rPr>
              <a:t>Data Explained</a:t>
            </a:r>
          </a:p>
        </p:txBody>
      </p:sp>
      <p:sp>
        <p:nvSpPr>
          <p:cNvPr id="3" name="Subtitle"/>
          <p:cNvSpPr txBox="1"/>
          <p:nvPr/>
        </p:nvSpPr>
        <p:spPr>
          <a:xfrm>
            <a:off x="548640" y="960120"/>
            <a:ext cx="11094415" cy="300000"/>
          </a:xfrm>
          <a:prstGeom prst="rect">
            <a:avLst/>
          </a:prstGeom>
          <a:noFill/>
        </p:spPr>
        <p:txBody>
          <a:bodyPr wrap="square" lIns="0" tIns="0" rIns="0" bIns="0" anchor="t">
            <a:noAutofit/>
          </a:bodyPr>
          <a:lstStyle/>
          <a:p>
            <a:pPr algn="l">
              <a:spcBef>
                <a:spcPts val="0"/>
              </a:spcBef>
            </a:pPr>
            <a:r>
              <a:rPr lang="en-US" sz="1400" b="0">
                <a:solidFill>
                  <a:srgbClr val="5A6478"/>
                </a:solidFill>
                <a:latin typeface="Arial"/>
              </a:rPr>
              <a:t>How Charleston and Myrtle Beach revenue is split between the two agencies</a:t>
            </a:r>
          </a:p>
        </p:txBody>
      </p:sp>
      <p:sp>
        <p:nvSpPr>
          <p:cNvPr id="4" name="Card 1"/>
          <p:cNvSpPr/>
          <p:nvPr/>
        </p:nvSpPr>
        <p:spPr>
          <a:xfrm>
            <a:off x="548640" y="1554480"/>
            <a:ext cx="3515258" cy="2194560"/>
          </a:xfrm>
          <a:prstGeom prst="roundRect">
            <a:avLst>
              <a:gd name="adj" fmla="val 5000"/>
            </a:avLst>
          </a:prstGeom>
          <a:solidFill>
            <a:srgbClr val="FFFFFF"/>
          </a:solidFill>
          <a:ln w="9525">
            <a:solidFill>
              <a:srgbClr val="E2E0D8"/>
            </a:solidFill>
          </a:ln>
          <a:effectLst>
            <a:outerShdw blurRad="76200" dist="25400" dir="5400000" algn="t" rotWithShape="0">
              <a:srgbClr val="000000">
                <a:alpha val="12000"/>
              </a:srgbClr>
            </a:outerShdw>
          </a:effectLst>
        </p:spPr>
        <p:txBody>
          <a:bodyPr anchor="ctr"/>
          <a:lstStyle/>
          <a:p>
            <a:endParaRPr lang="en-US"/>
          </a:p>
        </p:txBody>
      </p:sp>
      <p:sp>
        <p:nvSpPr>
          <p:cNvPr id="5" name="Card 1 label"/>
          <p:cNvSpPr txBox="1"/>
          <p:nvPr/>
        </p:nvSpPr>
        <p:spPr>
          <a:xfrm>
            <a:off x="868680" y="1828800"/>
            <a:ext cx="2875178" cy="220000"/>
          </a:xfrm>
          <a:prstGeom prst="rect">
            <a:avLst/>
          </a:prstGeom>
          <a:noFill/>
        </p:spPr>
        <p:txBody>
          <a:bodyPr wrap="square" lIns="0" tIns="0" rIns="0" bIns="0" anchor="t">
            <a:noAutofit/>
          </a:bodyPr>
          <a:lstStyle/>
          <a:p>
            <a:pPr algn="l">
              <a:spcBef>
                <a:spcPts val="0"/>
              </a:spcBef>
            </a:pPr>
            <a:r>
              <a:rPr lang="en-US" sz="1200" b="1">
                <a:solidFill>
                  <a:srgbClr val="5A6478"/>
                </a:solidFill>
                <a:latin typeface="Arial"/>
              </a:rPr>
              <a:t>ROI MARKETING</a:t>
            </a:r>
          </a:p>
        </p:txBody>
      </p:sp>
      <p:sp>
        <p:nvSpPr>
          <p:cNvPr id="6" name="Card 1 heading"/>
          <p:cNvSpPr txBox="1"/>
          <p:nvPr/>
        </p:nvSpPr>
        <p:spPr>
          <a:xfrm>
            <a:off x="868680" y="2148840"/>
            <a:ext cx="2875178" cy="380000"/>
          </a:xfrm>
          <a:prstGeom prst="rect">
            <a:avLst/>
          </a:prstGeom>
          <a:noFill/>
        </p:spPr>
        <p:txBody>
          <a:bodyPr wrap="square" lIns="0" tIns="0" rIns="0" bIns="0" anchor="t">
            <a:noAutofit/>
          </a:bodyPr>
          <a:lstStyle/>
          <a:p>
            <a:pPr algn="l">
              <a:spcBef>
                <a:spcPts val="0"/>
              </a:spcBef>
            </a:pPr>
            <a:r>
              <a:rPr lang="en-US" sz="2400" b="1">
                <a:solidFill>
                  <a:srgbClr val="14213D"/>
                </a:solidFill>
                <a:latin typeface="Arial"/>
              </a:rPr>
              <a:t>Charleston</a:t>
            </a:r>
          </a:p>
        </p:txBody>
      </p:sp>
      <p:sp>
        <p:nvSpPr>
          <p:cNvPr id="7" name="Card 1 period"/>
          <p:cNvSpPr txBox="1"/>
          <p:nvPr/>
        </p:nvSpPr>
        <p:spPr>
          <a:xfrm>
            <a:off x="868680" y="2560320"/>
            <a:ext cx="2875178" cy="260000"/>
          </a:xfrm>
          <a:prstGeom prst="rect">
            <a:avLst/>
          </a:prstGeom>
          <a:noFill/>
        </p:spPr>
        <p:txBody>
          <a:bodyPr wrap="square" lIns="0" tIns="0" rIns="0" bIns="0" anchor="t">
            <a:noAutofit/>
          </a:bodyPr>
          <a:lstStyle/>
          <a:p>
            <a:pPr algn="l">
              <a:spcBef>
                <a:spcPts val="0"/>
              </a:spcBef>
            </a:pPr>
            <a:r>
              <a:rPr lang="en-US" sz="1600" b="1">
                <a:solidFill>
                  <a:srgbClr val="1F6676"/>
                </a:solidFill>
                <a:latin typeface="Arial"/>
              </a:rPr>
              <a:t>April – September</a:t>
            </a:r>
          </a:p>
        </p:txBody>
      </p:sp>
      <p:sp>
        <p:nvSpPr>
          <p:cNvPr id="8" name="Card 1 body"/>
          <p:cNvSpPr txBox="1"/>
          <p:nvPr/>
        </p:nvSpPr>
        <p:spPr>
          <a:xfrm>
            <a:off x="868680" y="2926080"/>
            <a:ext cx="2875178" cy="520000"/>
          </a:xfrm>
          <a:prstGeom prst="rect">
            <a:avLst/>
          </a:prstGeom>
          <a:noFill/>
        </p:spPr>
        <p:txBody>
          <a:bodyPr wrap="square" lIns="0" tIns="0" rIns="0" bIns="0" anchor="t">
            <a:noAutofit/>
          </a:bodyPr>
          <a:lstStyle/>
          <a:p>
            <a:pPr algn="l">
              <a:spcBef>
                <a:spcPts val="0"/>
              </a:spcBef>
            </a:pPr>
            <a:r>
              <a:rPr lang="en-US" sz="1400" b="0">
                <a:solidFill>
                  <a:srgbClr val="5A6478"/>
                </a:solidFill>
                <a:latin typeface="Arial"/>
              </a:rPr>
              <a:t>Charleston revenue is separated and reported on its own.</a:t>
            </a:r>
          </a:p>
        </p:txBody>
      </p:sp>
      <p:sp>
        <p:nvSpPr>
          <p:cNvPr id="9" name="Card 2"/>
          <p:cNvSpPr/>
          <p:nvPr/>
        </p:nvSpPr>
        <p:spPr>
          <a:xfrm>
            <a:off x="4337218" y="1554480"/>
            <a:ext cx="3515258" cy="2194560"/>
          </a:xfrm>
          <a:prstGeom prst="roundRect">
            <a:avLst>
              <a:gd name="adj" fmla="val 5000"/>
            </a:avLst>
          </a:prstGeom>
          <a:solidFill>
            <a:srgbClr val="FFFFFF"/>
          </a:solidFill>
          <a:ln w="9525">
            <a:solidFill>
              <a:srgbClr val="E2E0D8"/>
            </a:solidFill>
          </a:ln>
          <a:effectLst>
            <a:outerShdw blurRad="76200" dist="25400" dir="5400000" algn="t" rotWithShape="0">
              <a:srgbClr val="000000">
                <a:alpha val="12000"/>
              </a:srgbClr>
            </a:outerShdw>
          </a:effectLst>
        </p:spPr>
        <p:txBody>
          <a:bodyPr anchor="ctr"/>
          <a:lstStyle/>
          <a:p>
            <a:endParaRPr lang="en-US"/>
          </a:p>
        </p:txBody>
      </p:sp>
      <p:sp>
        <p:nvSpPr>
          <p:cNvPr id="10" name="Card 2 label"/>
          <p:cNvSpPr txBox="1"/>
          <p:nvPr/>
        </p:nvSpPr>
        <p:spPr>
          <a:xfrm>
            <a:off x="4657258" y="1828800"/>
            <a:ext cx="2875178" cy="220000"/>
          </a:xfrm>
          <a:prstGeom prst="rect">
            <a:avLst/>
          </a:prstGeom>
          <a:noFill/>
        </p:spPr>
        <p:txBody>
          <a:bodyPr wrap="square" lIns="0" tIns="0" rIns="0" bIns="0" anchor="t">
            <a:noAutofit/>
          </a:bodyPr>
          <a:lstStyle/>
          <a:p>
            <a:pPr algn="l">
              <a:spcBef>
                <a:spcPts val="0"/>
              </a:spcBef>
            </a:pPr>
            <a:r>
              <a:rPr lang="en-US" sz="1200" b="1">
                <a:solidFill>
                  <a:srgbClr val="5A6478"/>
                </a:solidFill>
                <a:latin typeface="Arial"/>
              </a:rPr>
              <a:t>CAP MARKETING</a:t>
            </a:r>
          </a:p>
        </p:txBody>
      </p:sp>
      <p:sp>
        <p:nvSpPr>
          <p:cNvPr id="11" name="Card 2 heading"/>
          <p:cNvSpPr txBox="1"/>
          <p:nvPr/>
        </p:nvSpPr>
        <p:spPr>
          <a:xfrm>
            <a:off x="4657258" y="2148840"/>
            <a:ext cx="2875178" cy="380000"/>
          </a:xfrm>
          <a:prstGeom prst="rect">
            <a:avLst/>
          </a:prstGeom>
          <a:noFill/>
        </p:spPr>
        <p:txBody>
          <a:bodyPr wrap="square" lIns="0" tIns="0" rIns="0" bIns="0" anchor="t">
            <a:noAutofit/>
          </a:bodyPr>
          <a:lstStyle/>
          <a:p>
            <a:pPr algn="l">
              <a:spcBef>
                <a:spcPts val="0"/>
              </a:spcBef>
            </a:pPr>
            <a:r>
              <a:rPr lang="en-US" sz="2400" b="1">
                <a:solidFill>
                  <a:srgbClr val="14213D"/>
                </a:solidFill>
                <a:latin typeface="Arial"/>
              </a:rPr>
              <a:t>Myrtle Beach</a:t>
            </a:r>
          </a:p>
        </p:txBody>
      </p:sp>
      <p:sp>
        <p:nvSpPr>
          <p:cNvPr id="12" name="Card 2 period"/>
          <p:cNvSpPr txBox="1"/>
          <p:nvPr/>
        </p:nvSpPr>
        <p:spPr>
          <a:xfrm>
            <a:off x="4657258" y="2560320"/>
            <a:ext cx="2875178" cy="260000"/>
          </a:xfrm>
          <a:prstGeom prst="rect">
            <a:avLst/>
          </a:prstGeom>
          <a:noFill/>
        </p:spPr>
        <p:txBody>
          <a:bodyPr wrap="square" lIns="0" tIns="0" rIns="0" bIns="0" anchor="t">
            <a:noAutofit/>
          </a:bodyPr>
          <a:lstStyle/>
          <a:p>
            <a:pPr algn="l">
              <a:spcBef>
                <a:spcPts val="0"/>
              </a:spcBef>
            </a:pPr>
            <a:r>
              <a:rPr lang="en-US" sz="1600" b="1">
                <a:solidFill>
                  <a:srgbClr val="1F6676"/>
                </a:solidFill>
                <a:latin typeface="Arial"/>
              </a:rPr>
              <a:t>January – September</a:t>
            </a:r>
          </a:p>
        </p:txBody>
      </p:sp>
      <p:sp>
        <p:nvSpPr>
          <p:cNvPr id="13" name="Card 2 body"/>
          <p:cNvSpPr txBox="1"/>
          <p:nvPr/>
        </p:nvSpPr>
        <p:spPr>
          <a:xfrm>
            <a:off x="4657258" y="2926080"/>
            <a:ext cx="2875178" cy="520000"/>
          </a:xfrm>
          <a:prstGeom prst="rect">
            <a:avLst/>
          </a:prstGeom>
          <a:noFill/>
        </p:spPr>
        <p:txBody>
          <a:bodyPr wrap="square" lIns="0" tIns="0" rIns="0" bIns="0" anchor="t">
            <a:noAutofit/>
          </a:bodyPr>
          <a:lstStyle/>
          <a:p>
            <a:pPr algn="l">
              <a:spcBef>
                <a:spcPts val="0"/>
              </a:spcBef>
            </a:pPr>
            <a:r>
              <a:rPr lang="en-US" sz="1400" b="0">
                <a:solidFill>
                  <a:srgbClr val="5A6478"/>
                </a:solidFill>
                <a:latin typeface="Arial"/>
              </a:rPr>
              <a:t>All Myrtle Beach marketing revenue.</a:t>
            </a:r>
          </a:p>
        </p:txBody>
      </p:sp>
      <p:sp>
        <p:nvSpPr>
          <p:cNvPr id="14" name="Card 3"/>
          <p:cNvSpPr/>
          <p:nvPr/>
        </p:nvSpPr>
        <p:spPr>
          <a:xfrm>
            <a:off x="8125796" y="1554480"/>
            <a:ext cx="3515258" cy="2194560"/>
          </a:xfrm>
          <a:prstGeom prst="roundRect">
            <a:avLst>
              <a:gd name="adj" fmla="val 5000"/>
            </a:avLst>
          </a:prstGeom>
          <a:solidFill>
            <a:srgbClr val="FFFFFF"/>
          </a:solidFill>
          <a:ln w="9525">
            <a:solidFill>
              <a:srgbClr val="E2E0D8"/>
            </a:solidFill>
          </a:ln>
          <a:effectLst>
            <a:outerShdw blurRad="76200" dist="25400" dir="5400000" algn="t" rotWithShape="0">
              <a:srgbClr val="000000">
                <a:alpha val="12000"/>
              </a:srgbClr>
            </a:outerShdw>
          </a:effectLst>
        </p:spPr>
        <p:txBody>
          <a:bodyPr anchor="ctr"/>
          <a:lstStyle/>
          <a:p>
            <a:endParaRPr lang="en-US"/>
          </a:p>
        </p:txBody>
      </p:sp>
      <p:sp>
        <p:nvSpPr>
          <p:cNvPr id="15" name="Card 3 label"/>
          <p:cNvSpPr txBox="1"/>
          <p:nvPr/>
        </p:nvSpPr>
        <p:spPr>
          <a:xfrm>
            <a:off x="8445836" y="1828800"/>
            <a:ext cx="2875178" cy="220000"/>
          </a:xfrm>
          <a:prstGeom prst="rect">
            <a:avLst/>
          </a:prstGeom>
          <a:noFill/>
        </p:spPr>
        <p:txBody>
          <a:bodyPr wrap="square" lIns="0" tIns="0" rIns="0" bIns="0" anchor="t">
            <a:noAutofit/>
          </a:bodyPr>
          <a:lstStyle/>
          <a:p>
            <a:pPr algn="l">
              <a:spcBef>
                <a:spcPts val="0"/>
              </a:spcBef>
            </a:pPr>
            <a:r>
              <a:rPr lang="en-US" sz="1200" b="1">
                <a:solidFill>
                  <a:srgbClr val="5A6478"/>
                </a:solidFill>
                <a:latin typeface="Arial"/>
              </a:rPr>
              <a:t>CAP MARKETING</a:t>
            </a:r>
          </a:p>
        </p:txBody>
      </p:sp>
      <p:sp>
        <p:nvSpPr>
          <p:cNvPr id="16" name="Card 3 heading"/>
          <p:cNvSpPr txBox="1"/>
          <p:nvPr/>
        </p:nvSpPr>
        <p:spPr>
          <a:xfrm>
            <a:off x="8445836" y="2148840"/>
            <a:ext cx="2875178" cy="380000"/>
          </a:xfrm>
          <a:prstGeom prst="rect">
            <a:avLst/>
          </a:prstGeom>
          <a:noFill/>
        </p:spPr>
        <p:txBody>
          <a:bodyPr wrap="square" lIns="0" tIns="0" rIns="0" bIns="0" anchor="t">
            <a:noAutofit/>
          </a:bodyPr>
          <a:lstStyle/>
          <a:p>
            <a:pPr algn="l">
              <a:spcBef>
                <a:spcPts val="0"/>
              </a:spcBef>
            </a:pPr>
            <a:r>
              <a:rPr lang="en-US" sz="2400" b="1">
                <a:solidFill>
                  <a:srgbClr val="14213D"/>
                </a:solidFill>
                <a:latin typeface="Arial"/>
              </a:rPr>
              <a:t>Charleston</a:t>
            </a:r>
          </a:p>
        </p:txBody>
      </p:sp>
      <p:sp>
        <p:nvSpPr>
          <p:cNvPr id="17" name="Card 3 period"/>
          <p:cNvSpPr txBox="1"/>
          <p:nvPr/>
        </p:nvSpPr>
        <p:spPr>
          <a:xfrm>
            <a:off x="8445836" y="2560320"/>
            <a:ext cx="2875178" cy="260000"/>
          </a:xfrm>
          <a:prstGeom prst="rect">
            <a:avLst/>
          </a:prstGeom>
          <a:noFill/>
        </p:spPr>
        <p:txBody>
          <a:bodyPr wrap="square" lIns="0" tIns="0" rIns="0" bIns="0" anchor="t">
            <a:noAutofit/>
          </a:bodyPr>
          <a:lstStyle/>
          <a:p>
            <a:pPr algn="l">
              <a:spcBef>
                <a:spcPts val="0"/>
              </a:spcBef>
            </a:pPr>
            <a:r>
              <a:rPr lang="en-US" sz="1600" b="1">
                <a:solidFill>
                  <a:srgbClr val="1F6676"/>
                </a:solidFill>
                <a:latin typeface="Arial"/>
              </a:rPr>
              <a:t>January – April 1</a:t>
            </a:r>
          </a:p>
        </p:txBody>
      </p:sp>
      <p:sp>
        <p:nvSpPr>
          <p:cNvPr id="18" name="Card 3 body"/>
          <p:cNvSpPr txBox="1"/>
          <p:nvPr/>
        </p:nvSpPr>
        <p:spPr>
          <a:xfrm>
            <a:off x="8445836" y="2926080"/>
            <a:ext cx="2875178" cy="520000"/>
          </a:xfrm>
          <a:prstGeom prst="rect">
            <a:avLst/>
          </a:prstGeom>
          <a:noFill/>
        </p:spPr>
        <p:txBody>
          <a:bodyPr wrap="square" lIns="0" tIns="0" rIns="0" bIns="0" anchor="t">
            <a:noAutofit/>
          </a:bodyPr>
          <a:lstStyle/>
          <a:p>
            <a:pPr algn="l">
              <a:spcBef>
                <a:spcPts val="0"/>
              </a:spcBef>
            </a:pPr>
            <a:r>
              <a:rPr lang="en-US" sz="1400" b="0">
                <a:solidFill>
                  <a:srgbClr val="5A6478"/>
                </a:solidFill>
                <a:latin typeface="Arial"/>
              </a:rPr>
              <a:t>All Charleston marketing revenue.</a:t>
            </a:r>
          </a:p>
        </p:txBody>
      </p:sp>
      <p:sp>
        <p:nvSpPr>
          <p:cNvPr id="19" name="Overlap panel"/>
          <p:cNvSpPr/>
          <p:nvPr/>
        </p:nvSpPr>
        <p:spPr>
          <a:xfrm>
            <a:off x="548640" y="4023360"/>
            <a:ext cx="11094416" cy="1874520"/>
          </a:xfrm>
          <a:prstGeom prst="roundRect">
            <a:avLst>
              <a:gd name="adj" fmla="val 5000"/>
            </a:avLst>
          </a:prstGeom>
          <a:solidFill>
            <a:srgbClr val="14213D"/>
          </a:solidFill>
          <a:ln>
            <a:noFill/>
          </a:ln>
          <a:effectLst>
            <a:outerShdw blurRad="76200" dist="25400" dir="5400000" algn="t" rotWithShape="0">
              <a:srgbClr val="000000">
                <a:alpha val="12000"/>
              </a:srgbClr>
            </a:outerShdw>
          </a:effectLst>
        </p:spPr>
        <p:txBody>
          <a:bodyPr anchor="ctr"/>
          <a:lstStyle/>
          <a:p>
            <a:endParaRPr lang="en-US"/>
          </a:p>
        </p:txBody>
      </p:sp>
      <p:sp>
        <p:nvSpPr>
          <p:cNvPr id="20" name="Overlap label"/>
          <p:cNvSpPr txBox="1"/>
          <p:nvPr/>
        </p:nvSpPr>
        <p:spPr>
          <a:xfrm>
            <a:off x="868680" y="4297680"/>
            <a:ext cx="10454336" cy="220000"/>
          </a:xfrm>
          <a:prstGeom prst="rect">
            <a:avLst/>
          </a:prstGeom>
          <a:noFill/>
        </p:spPr>
        <p:txBody>
          <a:bodyPr wrap="square" lIns="0" tIns="0" rIns="0" bIns="0" anchor="t">
            <a:noAutofit/>
          </a:bodyPr>
          <a:lstStyle/>
          <a:p>
            <a:pPr algn="l">
              <a:spcBef>
                <a:spcPts val="0"/>
              </a:spcBef>
            </a:pPr>
            <a:r>
              <a:rPr lang="en-US" sz="1200" b="1">
                <a:solidFill>
                  <a:srgbClr val="C9D3E3"/>
                </a:solidFill>
                <a:latin typeface="Arial"/>
              </a:rPr>
              <a:t>ALSO COUNTED IN CAP MARKETING · CHARLESTON, APRIL – SEPTEMBER</a:t>
            </a:r>
          </a:p>
        </p:txBody>
      </p:sp>
      <p:sp>
        <p:nvSpPr>
          <p:cNvPr id="21" name="Overlap text"/>
          <p:cNvSpPr txBox="1"/>
          <p:nvPr/>
        </p:nvSpPr>
        <p:spPr>
          <a:xfrm>
            <a:off x="868680" y="4617720"/>
            <a:ext cx="10454336" cy="320000"/>
          </a:xfrm>
          <a:prstGeom prst="rect">
            <a:avLst/>
          </a:prstGeom>
          <a:noFill/>
        </p:spPr>
        <p:txBody>
          <a:bodyPr wrap="square" lIns="0" tIns="0" rIns="0" bIns="0" anchor="t">
            <a:noAutofit/>
          </a:bodyPr>
          <a:lstStyle/>
          <a:p>
            <a:pPr algn="l">
              <a:spcBef>
                <a:spcPts val="0"/>
              </a:spcBef>
            </a:pPr>
            <a:r>
              <a:rPr lang="en-US" sz="1600" b="1">
                <a:solidFill>
                  <a:srgbClr val="FFFFFF"/>
                </a:solidFill>
                <a:latin typeface="Arial"/>
              </a:rPr>
              <a:t>Revenue from these Charleston activities is included in CAP Marketing’s numbers:</a:t>
            </a:r>
          </a:p>
        </p:txBody>
      </p:sp>
      <p:sp>
        <p:nvSpPr>
          <p:cNvPr id="22" name="Pill LettrLabs"/>
          <p:cNvSpPr/>
          <p:nvPr/>
        </p:nvSpPr>
        <p:spPr>
          <a:xfrm>
            <a:off x="868680" y="5166360"/>
            <a:ext cx="1554480" cy="502920"/>
          </a:xfrm>
          <a:prstGeom prst="roundRect">
            <a:avLst>
              <a:gd name="adj" fmla="val 50000"/>
            </a:avLst>
          </a:prstGeom>
          <a:solidFill>
            <a:srgbClr val="2A3756"/>
          </a:solidFill>
          <a:ln>
            <a:noFill/>
          </a:ln>
          <a:effectLst/>
        </p:spPr>
        <p:txBody>
          <a:bodyPr wrap="none" lIns="91440" tIns="0" rIns="91440" bIns="0" anchor="ctr"/>
          <a:lstStyle/>
          <a:p>
            <a:pPr algn="ctr"/>
            <a:r>
              <a:rPr lang="en-US" sz="1600" b="1">
                <a:solidFill>
                  <a:srgbClr val="F2A65A"/>
                </a:solidFill>
                <a:latin typeface="Arial"/>
              </a:rPr>
              <a:t>LettrLabs</a:t>
            </a:r>
          </a:p>
        </p:txBody>
      </p:sp>
      <p:sp>
        <p:nvSpPr>
          <p:cNvPr id="23" name="Pill Charleston GBP"/>
          <p:cNvSpPr/>
          <p:nvPr/>
        </p:nvSpPr>
        <p:spPr>
          <a:xfrm>
            <a:off x="2651760" y="5166360"/>
            <a:ext cx="2011680" cy="502920"/>
          </a:xfrm>
          <a:prstGeom prst="roundRect">
            <a:avLst>
              <a:gd name="adj" fmla="val 50000"/>
            </a:avLst>
          </a:prstGeom>
          <a:solidFill>
            <a:srgbClr val="2A3756"/>
          </a:solidFill>
          <a:ln>
            <a:noFill/>
          </a:ln>
          <a:effectLst/>
        </p:spPr>
        <p:txBody>
          <a:bodyPr wrap="none" lIns="91440" tIns="0" rIns="91440" bIns="0" anchor="ctr"/>
          <a:lstStyle/>
          <a:p>
            <a:pPr algn="ctr"/>
            <a:r>
              <a:rPr lang="en-US" sz="1600" b="1">
                <a:solidFill>
                  <a:srgbClr val="F2A65A"/>
                </a:solidFill>
                <a:latin typeface="Arial"/>
              </a:rPr>
              <a:t>Charleston GBP</a:t>
            </a:r>
          </a:p>
        </p:txBody>
      </p:sp>
      <p:sp>
        <p:nvSpPr>
          <p:cNvPr id="24" name="Pill Billboard"/>
          <p:cNvSpPr/>
          <p:nvPr/>
        </p:nvSpPr>
        <p:spPr>
          <a:xfrm>
            <a:off x="4892040" y="5166360"/>
            <a:ext cx="1463040" cy="502920"/>
          </a:xfrm>
          <a:prstGeom prst="roundRect">
            <a:avLst>
              <a:gd name="adj" fmla="val 50000"/>
            </a:avLst>
          </a:prstGeom>
          <a:solidFill>
            <a:srgbClr val="2A3756"/>
          </a:solidFill>
          <a:ln>
            <a:noFill/>
          </a:ln>
          <a:effectLst/>
        </p:spPr>
        <p:txBody>
          <a:bodyPr wrap="none" lIns="91440" tIns="0" rIns="91440" bIns="0" anchor="ctr"/>
          <a:lstStyle/>
          <a:p>
            <a:pPr algn="ctr"/>
            <a:r>
              <a:rPr lang="en-US" sz="1600" b="1">
                <a:solidFill>
                  <a:srgbClr val="F2A65A"/>
                </a:solidFill>
                <a:latin typeface="Arial"/>
              </a:rPr>
              <a:t>Billboard</a:t>
            </a:r>
          </a:p>
        </p:txBody>
      </p:sp>
      <p:sp>
        <p:nvSpPr>
          <p:cNvPr id="25" name="Pill Website and Organic"/>
          <p:cNvSpPr/>
          <p:nvPr/>
        </p:nvSpPr>
        <p:spPr>
          <a:xfrm>
            <a:off x="6583680" y="5166360"/>
            <a:ext cx="2377440" cy="502920"/>
          </a:xfrm>
          <a:prstGeom prst="roundRect">
            <a:avLst>
              <a:gd name="adj" fmla="val 50000"/>
            </a:avLst>
          </a:prstGeom>
          <a:solidFill>
            <a:srgbClr val="2A3756"/>
          </a:solidFill>
          <a:ln>
            <a:noFill/>
          </a:ln>
          <a:effectLst/>
        </p:spPr>
        <p:txBody>
          <a:bodyPr wrap="none" lIns="91440" tIns="0" rIns="91440" bIns="0" anchor="ctr"/>
          <a:lstStyle/>
          <a:p>
            <a:pPr algn="ctr"/>
            <a:r>
              <a:rPr lang="en-US" sz="1600" b="1">
                <a:solidFill>
                  <a:srgbClr val="F2A65A"/>
                </a:solidFill>
                <a:latin typeface="Arial"/>
              </a:rPr>
              <a:t>Website and Organic</a:t>
            </a:r>
          </a:p>
        </p:txBody>
      </p:sp>
      <p:sp>
        <p:nvSpPr>
          <p:cNvPr id="26" name="Page number"/>
          <p:cNvSpPr txBox="1"/>
          <p:nvPr/>
        </p:nvSpPr>
        <p:spPr>
          <a:xfrm>
            <a:off x="11094415" y="6355080"/>
            <a:ext cx="548640" cy="274320"/>
          </a:xfrm>
          <a:prstGeom prst="rect">
            <a:avLst/>
          </a:prstGeom>
          <a:noFill/>
        </p:spPr>
        <p:txBody>
          <a:bodyPr wrap="square" lIns="0" tIns="0" rIns="0" bIns="0" anchor="t">
            <a:noAutofit/>
          </a:bodyPr>
          <a:lstStyle/>
          <a:p>
            <a:pPr algn="r">
              <a:spcBef>
                <a:spcPts val="0"/>
              </a:spcBef>
            </a:pPr>
            <a:r>
              <a:rPr lang="en-US" sz="1000" b="0">
                <a:solidFill>
                  <a:srgbClr val="5A6478"/>
                </a:solidFill>
                <a:latin typeface="Arial"/>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itle"/>
          <p:cNvSpPr txBox="1"/>
          <p:nvPr/>
        </p:nvSpPr>
        <p:spPr>
          <a:xfrm>
            <a:off x="548640" y="411480"/>
            <a:ext cx="11094415" cy="822960"/>
          </a:xfrm>
          <a:prstGeom prst="rect">
            <a:avLst/>
          </a:prstGeom>
          <a:noFill/>
        </p:spPr>
        <p:txBody>
          <a:bodyPr wrap="square" lIns="0" tIns="0" rIns="0" bIns="0" anchor="t">
            <a:spAutoFit/>
          </a:bodyPr>
          <a:lstStyle/>
          <a:p>
            <a:pPr algn="l"/>
            <a:r>
              <a:rPr lang="en-US" sz="2800" b="1">
                <a:solidFill>
                  <a:srgbClr val="14213D"/>
                </a:solidFill>
                <a:latin typeface="Arial"/>
              </a:rPr>
              <a:t>A Customer’s Journey</a:t>
            </a:r>
          </a:p>
        </p:txBody>
      </p:sp>
      <p:cxnSp>
        <p:nvCxnSpPr>
          <p:cNvPr id="25" name="Connector"/>
          <p:cNvCxnSpPr/>
          <p:nvPr/>
        </p:nvCxnSpPr>
        <p:spPr>
          <a:xfrm>
            <a:off x="6096000" y="1881920"/>
            <a:ext cx="0" cy="2050000"/>
          </a:xfrm>
          <a:prstGeom prst="line">
            <a:avLst/>
          </a:prstGeom>
          <a:ln w="12700">
            <a:solidFill>
              <a:srgbClr val="C9CDD6"/>
            </a:solidFill>
            <a:prstDash val="dash"/>
          </a:ln>
        </p:spPr>
      </p:cxnSp>
      <p:cxnSp>
        <p:nvCxnSpPr>
          <p:cNvPr id="26" name="Connector"/>
          <p:cNvCxnSpPr/>
          <p:nvPr/>
        </p:nvCxnSpPr>
        <p:spPr>
          <a:xfrm flipV="1">
            <a:off x="6096000" y="2156567"/>
            <a:ext cx="2350000" cy="1775352"/>
          </a:xfrm>
          <a:prstGeom prst="line">
            <a:avLst/>
          </a:prstGeom>
          <a:ln w="12700">
            <a:solidFill>
              <a:srgbClr val="C9CDD6"/>
            </a:solidFill>
            <a:prstDash val="dash"/>
          </a:ln>
        </p:spPr>
      </p:cxnSp>
      <p:cxnSp>
        <p:nvCxnSpPr>
          <p:cNvPr id="27" name="Connector"/>
          <p:cNvCxnSpPr/>
          <p:nvPr/>
        </p:nvCxnSpPr>
        <p:spPr>
          <a:xfrm flipV="1">
            <a:off x="6096000" y="2906920"/>
            <a:ext cx="4070319" cy="1025000"/>
          </a:xfrm>
          <a:prstGeom prst="line">
            <a:avLst/>
          </a:prstGeom>
          <a:ln w="12700">
            <a:solidFill>
              <a:srgbClr val="C9CDD6"/>
            </a:solidFill>
            <a:prstDash val="dash"/>
          </a:ln>
        </p:spPr>
      </p:cxnSp>
      <p:cxnSp>
        <p:nvCxnSpPr>
          <p:cNvPr id="29" name="Connector"/>
          <p:cNvCxnSpPr/>
          <p:nvPr/>
        </p:nvCxnSpPr>
        <p:spPr>
          <a:xfrm>
            <a:off x="6096000" y="3931920"/>
            <a:ext cx="4700000" cy="0"/>
          </a:xfrm>
          <a:prstGeom prst="line">
            <a:avLst/>
          </a:prstGeom>
          <a:ln w="12700">
            <a:solidFill>
              <a:srgbClr val="C9CDD6"/>
            </a:solidFill>
            <a:prstDash val="dash"/>
          </a:ln>
        </p:spPr>
      </p:cxnSp>
      <p:cxnSp>
        <p:nvCxnSpPr>
          <p:cNvPr id="31" name="Connector"/>
          <p:cNvCxnSpPr/>
          <p:nvPr/>
        </p:nvCxnSpPr>
        <p:spPr>
          <a:xfrm>
            <a:off x="6096000" y="3931920"/>
            <a:ext cx="4070319" cy="1025000"/>
          </a:xfrm>
          <a:prstGeom prst="line">
            <a:avLst/>
          </a:prstGeom>
          <a:ln w="12700">
            <a:solidFill>
              <a:srgbClr val="C9CDD6"/>
            </a:solidFill>
            <a:prstDash val="dash"/>
          </a:ln>
        </p:spPr>
      </p:cxnSp>
      <p:cxnSp>
        <p:nvCxnSpPr>
          <p:cNvPr id="32" name="Connector"/>
          <p:cNvCxnSpPr/>
          <p:nvPr/>
        </p:nvCxnSpPr>
        <p:spPr>
          <a:xfrm>
            <a:off x="6096000" y="3931920"/>
            <a:ext cx="2350000" cy="1775352"/>
          </a:xfrm>
          <a:prstGeom prst="line">
            <a:avLst/>
          </a:prstGeom>
          <a:ln w="12700">
            <a:solidFill>
              <a:srgbClr val="C9CDD6"/>
            </a:solidFill>
            <a:prstDash val="dash"/>
          </a:ln>
        </p:spPr>
      </p:cxnSp>
      <p:cxnSp>
        <p:nvCxnSpPr>
          <p:cNvPr id="33" name="Connector"/>
          <p:cNvCxnSpPr/>
          <p:nvPr/>
        </p:nvCxnSpPr>
        <p:spPr>
          <a:xfrm>
            <a:off x="6096000" y="3931920"/>
            <a:ext cx="0" cy="2050000"/>
          </a:xfrm>
          <a:prstGeom prst="line">
            <a:avLst/>
          </a:prstGeom>
          <a:ln w="12700">
            <a:solidFill>
              <a:srgbClr val="C9CDD6"/>
            </a:solidFill>
            <a:prstDash val="dash"/>
          </a:ln>
        </p:spPr>
      </p:cxnSp>
      <p:cxnSp>
        <p:nvCxnSpPr>
          <p:cNvPr id="34" name="Connector"/>
          <p:cNvCxnSpPr/>
          <p:nvPr/>
        </p:nvCxnSpPr>
        <p:spPr>
          <a:xfrm flipV="1">
            <a:off x="3745999" y="3931920"/>
            <a:ext cx="2350000" cy="1775352"/>
          </a:xfrm>
          <a:prstGeom prst="line">
            <a:avLst/>
          </a:prstGeom>
          <a:ln w="12700">
            <a:solidFill>
              <a:srgbClr val="C9CDD6"/>
            </a:solidFill>
            <a:prstDash val="dash"/>
          </a:ln>
        </p:spPr>
      </p:cxnSp>
      <p:cxnSp>
        <p:nvCxnSpPr>
          <p:cNvPr id="35" name="Connector"/>
          <p:cNvCxnSpPr/>
          <p:nvPr/>
        </p:nvCxnSpPr>
        <p:spPr>
          <a:xfrm flipV="1">
            <a:off x="2025680" y="3931920"/>
            <a:ext cx="4070319" cy="1025000"/>
          </a:xfrm>
          <a:prstGeom prst="line">
            <a:avLst/>
          </a:prstGeom>
          <a:ln w="12700">
            <a:solidFill>
              <a:srgbClr val="C9CDD6"/>
            </a:solidFill>
            <a:prstDash val="dash"/>
          </a:ln>
        </p:spPr>
      </p:cxnSp>
      <p:cxnSp>
        <p:nvCxnSpPr>
          <p:cNvPr id="36" name="Connector"/>
          <p:cNvCxnSpPr/>
          <p:nvPr/>
        </p:nvCxnSpPr>
        <p:spPr>
          <a:xfrm>
            <a:off x="1396000" y="3931920"/>
            <a:ext cx="4700000" cy="0"/>
          </a:xfrm>
          <a:prstGeom prst="line">
            <a:avLst/>
          </a:prstGeom>
          <a:ln w="12700">
            <a:solidFill>
              <a:srgbClr val="C9CDD6"/>
            </a:solidFill>
            <a:prstDash val="dash"/>
          </a:ln>
        </p:spPr>
      </p:cxnSp>
      <p:cxnSp>
        <p:nvCxnSpPr>
          <p:cNvPr id="37" name="Connector"/>
          <p:cNvCxnSpPr/>
          <p:nvPr/>
        </p:nvCxnSpPr>
        <p:spPr>
          <a:xfrm>
            <a:off x="2025680" y="2906920"/>
            <a:ext cx="4070319" cy="1025000"/>
          </a:xfrm>
          <a:prstGeom prst="line">
            <a:avLst/>
          </a:prstGeom>
          <a:ln w="12700">
            <a:solidFill>
              <a:srgbClr val="C9CDD6"/>
            </a:solidFill>
            <a:prstDash val="dash"/>
          </a:ln>
        </p:spPr>
      </p:cxnSp>
      <p:cxnSp>
        <p:nvCxnSpPr>
          <p:cNvPr id="38" name="Connector"/>
          <p:cNvCxnSpPr/>
          <p:nvPr/>
        </p:nvCxnSpPr>
        <p:spPr>
          <a:xfrm>
            <a:off x="3745999" y="2156567"/>
            <a:ext cx="2350000" cy="1775352"/>
          </a:xfrm>
          <a:prstGeom prst="line">
            <a:avLst/>
          </a:prstGeom>
          <a:ln w="12700">
            <a:solidFill>
              <a:srgbClr val="C9CDD6"/>
            </a:solidFill>
            <a:prstDash val="dash"/>
          </a:ln>
        </p:spPr>
      </p:cxnSp>
      <p:sp>
        <p:nvSpPr>
          <p:cNvPr id="13" name="Customer"/>
          <p:cNvSpPr/>
          <p:nvPr/>
        </p:nvSpPr>
        <p:spPr>
          <a:xfrm>
            <a:off x="5227320" y="3063240"/>
            <a:ext cx="1737360" cy="1737360"/>
          </a:xfrm>
          <a:prstGeom prst="ellipse">
            <a:avLst/>
          </a:prstGeom>
          <a:solidFill>
            <a:srgbClr val="14213D"/>
          </a:solidFill>
          <a:ln w="12700">
            <a:solidFill>
              <a:srgbClr val="14213D"/>
            </a:solidFill>
          </a:ln>
        </p:spPr>
        <p:txBody>
          <a:bodyPr wrap="none" lIns="91440" tIns="0" rIns="91440" bIns="0" anchor="ctr"/>
          <a:lstStyle/>
          <a:p>
            <a:pPr algn="ctr"/>
            <a:r>
              <a:rPr lang="en-US" sz="2000" b="1">
                <a:solidFill>
                  <a:srgbClr val="F7F6F2"/>
                </a:solidFill>
                <a:latin typeface="Arial"/>
              </a:rPr>
              <a:t>Customer</a:t>
            </a:r>
          </a:p>
        </p:txBody>
      </p:sp>
      <p:sp>
        <p:nvSpPr>
          <p:cNvPr id="14" name="Touchpoint TV"/>
          <p:cNvSpPr/>
          <p:nvPr/>
        </p:nvSpPr>
        <p:spPr>
          <a:xfrm>
            <a:off x="5364480" y="1584740"/>
            <a:ext cx="1463040" cy="594360"/>
          </a:xfrm>
          <a:prstGeom prst="roundRect">
            <a:avLst>
              <a:gd name="adj" fmla="val 50000"/>
            </a:avLst>
          </a:prstGeom>
          <a:solidFill>
            <a:srgbClr val="FFFFFF"/>
          </a:solidFill>
          <a:ln w="12700">
            <a:solidFill>
              <a:srgbClr val="E2E0D8"/>
            </a:solidFill>
          </a:ln>
        </p:spPr>
        <p:txBody>
          <a:bodyPr wrap="none" lIns="91440" tIns="0" rIns="91440" bIns="0" anchor="ctr"/>
          <a:lstStyle/>
          <a:p>
            <a:pPr algn="ctr"/>
            <a:r>
              <a:rPr lang="en-US" sz="1600" b="1">
                <a:solidFill>
                  <a:srgbClr val="14213D"/>
                </a:solidFill>
                <a:latin typeface="Arial"/>
              </a:rPr>
              <a:t>TV</a:t>
            </a:r>
          </a:p>
        </p:txBody>
      </p:sp>
      <p:sp>
        <p:nvSpPr>
          <p:cNvPr id="15" name="Touchpoint Direct Mail"/>
          <p:cNvSpPr/>
          <p:nvPr/>
        </p:nvSpPr>
        <p:spPr>
          <a:xfrm>
            <a:off x="7591036" y="1859387"/>
            <a:ext cx="1709928" cy="594360"/>
          </a:xfrm>
          <a:prstGeom prst="roundRect">
            <a:avLst>
              <a:gd name="adj" fmla="val 50000"/>
            </a:avLst>
          </a:prstGeom>
          <a:solidFill>
            <a:srgbClr val="FFFFFF"/>
          </a:solidFill>
          <a:ln w="12700">
            <a:solidFill>
              <a:srgbClr val="E2E0D8"/>
            </a:solidFill>
          </a:ln>
        </p:spPr>
        <p:txBody>
          <a:bodyPr wrap="none" lIns="91440" tIns="0" rIns="91440" bIns="0" anchor="ctr"/>
          <a:lstStyle/>
          <a:p>
            <a:pPr algn="ctr"/>
            <a:r>
              <a:rPr lang="en-US" sz="1600" b="1">
                <a:solidFill>
                  <a:srgbClr val="14213D"/>
                </a:solidFill>
                <a:latin typeface="Arial"/>
              </a:rPr>
              <a:t>Direct Mail</a:t>
            </a:r>
          </a:p>
        </p:txBody>
      </p:sp>
      <p:sp>
        <p:nvSpPr>
          <p:cNvPr id="16" name="Touchpoint GBP"/>
          <p:cNvSpPr/>
          <p:nvPr/>
        </p:nvSpPr>
        <p:spPr>
          <a:xfrm>
            <a:off x="9434799" y="2609740"/>
            <a:ext cx="1463040" cy="594360"/>
          </a:xfrm>
          <a:prstGeom prst="roundRect">
            <a:avLst>
              <a:gd name="adj" fmla="val 50000"/>
            </a:avLst>
          </a:prstGeom>
          <a:solidFill>
            <a:srgbClr val="FFFFFF"/>
          </a:solidFill>
          <a:ln w="12700">
            <a:solidFill>
              <a:srgbClr val="E2E0D8"/>
            </a:solidFill>
          </a:ln>
        </p:spPr>
        <p:txBody>
          <a:bodyPr wrap="none" lIns="91440" tIns="0" rIns="91440" bIns="0" anchor="ctr"/>
          <a:lstStyle/>
          <a:p>
            <a:pPr algn="ctr"/>
            <a:r>
              <a:rPr lang="en-US" sz="1600" b="1">
                <a:solidFill>
                  <a:srgbClr val="14213D"/>
                </a:solidFill>
                <a:latin typeface="Arial"/>
              </a:rPr>
              <a:t>GBP</a:t>
            </a:r>
          </a:p>
        </p:txBody>
      </p:sp>
      <p:sp>
        <p:nvSpPr>
          <p:cNvPr id="28" name="Touchpoint Organic"/>
          <p:cNvSpPr/>
          <p:nvPr/>
        </p:nvSpPr>
        <p:spPr>
          <a:xfrm>
            <a:off x="10064480" y="3634740"/>
            <a:ext cx="1463040" cy="594360"/>
          </a:xfrm>
          <a:prstGeom prst="roundRect">
            <a:avLst>
              <a:gd name="adj" fmla="val 50000"/>
            </a:avLst>
          </a:prstGeom>
          <a:solidFill>
            <a:srgbClr val="FFFFFF"/>
          </a:solidFill>
          <a:ln w="12700">
            <a:solidFill>
              <a:srgbClr val="E2E0D8"/>
            </a:solidFill>
          </a:ln>
        </p:spPr>
        <p:txBody>
          <a:bodyPr wrap="none" lIns="91440" tIns="0" rIns="91440" bIns="0" anchor="ctr"/>
          <a:lstStyle/>
          <a:p>
            <a:pPr algn="ctr"/>
            <a:r>
              <a:rPr lang="en-US" sz="1600" b="1">
                <a:solidFill>
                  <a:srgbClr val="14213D"/>
                </a:solidFill>
                <a:latin typeface="Arial"/>
              </a:rPr>
              <a:t>Organic</a:t>
            </a:r>
          </a:p>
        </p:txBody>
      </p:sp>
      <p:sp>
        <p:nvSpPr>
          <p:cNvPr id="30" name="Touchpoint SEO"/>
          <p:cNvSpPr/>
          <p:nvPr/>
        </p:nvSpPr>
        <p:spPr>
          <a:xfrm>
            <a:off x="9434799" y="4659740"/>
            <a:ext cx="1463040" cy="594360"/>
          </a:xfrm>
          <a:prstGeom prst="roundRect">
            <a:avLst>
              <a:gd name="adj" fmla="val 50000"/>
            </a:avLst>
          </a:prstGeom>
          <a:solidFill>
            <a:srgbClr val="FFFFFF"/>
          </a:solidFill>
          <a:ln w="12700">
            <a:solidFill>
              <a:srgbClr val="E2E0D8"/>
            </a:solidFill>
          </a:ln>
        </p:spPr>
        <p:txBody>
          <a:bodyPr wrap="none" lIns="91440" tIns="0" rIns="91440" bIns="0" anchor="ctr"/>
          <a:lstStyle/>
          <a:p>
            <a:pPr algn="ctr"/>
            <a:r>
              <a:rPr lang="en-US" sz="1600" b="1">
                <a:solidFill>
                  <a:srgbClr val="14213D"/>
                </a:solidFill>
                <a:latin typeface="Arial"/>
              </a:rPr>
              <a:t>SEO</a:t>
            </a:r>
          </a:p>
        </p:txBody>
      </p:sp>
      <p:sp>
        <p:nvSpPr>
          <p:cNvPr id="17" name="Touchpoint Website"/>
          <p:cNvSpPr/>
          <p:nvPr/>
        </p:nvSpPr>
        <p:spPr>
          <a:xfrm>
            <a:off x="7714480" y="5410092"/>
            <a:ext cx="1463040" cy="594360"/>
          </a:xfrm>
          <a:prstGeom prst="roundRect">
            <a:avLst>
              <a:gd name="adj" fmla="val 50000"/>
            </a:avLst>
          </a:prstGeom>
          <a:solidFill>
            <a:srgbClr val="FFFFFF"/>
          </a:solidFill>
          <a:ln w="12700">
            <a:solidFill>
              <a:srgbClr val="E2E0D8"/>
            </a:solidFill>
          </a:ln>
        </p:spPr>
        <p:txBody>
          <a:bodyPr wrap="none" lIns="91440" tIns="0" rIns="91440" bIns="0" anchor="ctr"/>
          <a:lstStyle/>
          <a:p>
            <a:pPr algn="ctr"/>
            <a:r>
              <a:rPr lang="en-US" sz="1600" b="1">
                <a:solidFill>
                  <a:srgbClr val="14213D"/>
                </a:solidFill>
                <a:latin typeface="Arial"/>
              </a:rPr>
              <a:t>Website</a:t>
            </a:r>
          </a:p>
        </p:txBody>
      </p:sp>
      <p:sp>
        <p:nvSpPr>
          <p:cNvPr id="18" name="Touchpoint Promos"/>
          <p:cNvSpPr/>
          <p:nvPr/>
        </p:nvSpPr>
        <p:spPr>
          <a:xfrm>
            <a:off x="3014479" y="5410092"/>
            <a:ext cx="1463040" cy="594360"/>
          </a:xfrm>
          <a:prstGeom prst="roundRect">
            <a:avLst>
              <a:gd name="adj" fmla="val 50000"/>
            </a:avLst>
          </a:prstGeom>
          <a:solidFill>
            <a:srgbClr val="FFFFFF"/>
          </a:solidFill>
          <a:ln w="12700">
            <a:solidFill>
              <a:srgbClr val="E2E0D8"/>
            </a:solidFill>
          </a:ln>
        </p:spPr>
        <p:txBody>
          <a:bodyPr wrap="none" lIns="91440" tIns="0" rIns="91440" bIns="0" anchor="ctr"/>
          <a:lstStyle/>
          <a:p>
            <a:pPr algn="ctr"/>
            <a:r>
              <a:rPr lang="en-US" sz="1600" b="1">
                <a:solidFill>
                  <a:srgbClr val="14213D"/>
                </a:solidFill>
                <a:latin typeface="Arial"/>
              </a:rPr>
              <a:t>Promos</a:t>
            </a:r>
          </a:p>
        </p:txBody>
      </p:sp>
      <p:sp>
        <p:nvSpPr>
          <p:cNvPr id="19" name="Touchpoint Outbound Text Campaigns"/>
          <p:cNvSpPr/>
          <p:nvPr/>
        </p:nvSpPr>
        <p:spPr>
          <a:xfrm>
            <a:off x="4696000" y="5684740"/>
            <a:ext cx="2800000" cy="594360"/>
          </a:xfrm>
          <a:prstGeom prst="roundRect">
            <a:avLst>
              <a:gd name="adj" fmla="val 50000"/>
            </a:avLst>
          </a:prstGeom>
          <a:solidFill>
            <a:srgbClr val="FFFFFF"/>
          </a:solidFill>
          <a:ln w="12700">
            <a:solidFill>
              <a:srgbClr val="E2E0D8"/>
            </a:solidFill>
          </a:ln>
        </p:spPr>
        <p:txBody>
          <a:bodyPr wrap="none" lIns="91440" tIns="0" rIns="91440" bIns="0" anchor="ctr"/>
          <a:lstStyle/>
          <a:p>
            <a:pPr algn="ctr"/>
            <a:r>
              <a:rPr lang="en-US" sz="1600" b="1">
                <a:solidFill>
                  <a:srgbClr val="14213D"/>
                </a:solidFill>
                <a:latin typeface="Arial"/>
              </a:rPr>
              <a:t>Outbound Text Campaigns</a:t>
            </a:r>
          </a:p>
        </p:txBody>
      </p:sp>
      <p:sp>
        <p:nvSpPr>
          <p:cNvPr id="20" name="Touchpoint Inbound"/>
          <p:cNvSpPr/>
          <p:nvPr/>
        </p:nvSpPr>
        <p:spPr>
          <a:xfrm>
            <a:off x="1294160" y="4659740"/>
            <a:ext cx="1463040" cy="594360"/>
          </a:xfrm>
          <a:prstGeom prst="roundRect">
            <a:avLst>
              <a:gd name="adj" fmla="val 50000"/>
            </a:avLst>
          </a:prstGeom>
          <a:solidFill>
            <a:srgbClr val="FFFFFF"/>
          </a:solidFill>
          <a:ln w="12700">
            <a:solidFill>
              <a:srgbClr val="E2E0D8"/>
            </a:solidFill>
          </a:ln>
        </p:spPr>
        <p:txBody>
          <a:bodyPr wrap="none" lIns="91440" tIns="0" rIns="91440" bIns="0" anchor="ctr"/>
          <a:lstStyle/>
          <a:p>
            <a:pPr algn="ctr"/>
            <a:r>
              <a:rPr lang="en-US" sz="1600" b="1">
                <a:solidFill>
                  <a:srgbClr val="14213D"/>
                </a:solidFill>
                <a:latin typeface="Arial"/>
              </a:rPr>
              <a:t>Inbound</a:t>
            </a:r>
          </a:p>
        </p:txBody>
      </p:sp>
      <p:sp>
        <p:nvSpPr>
          <p:cNvPr id="21" name="Touchpoint Facebook"/>
          <p:cNvSpPr/>
          <p:nvPr/>
        </p:nvSpPr>
        <p:spPr>
          <a:xfrm>
            <a:off x="664480" y="3634740"/>
            <a:ext cx="1463040" cy="594360"/>
          </a:xfrm>
          <a:prstGeom prst="roundRect">
            <a:avLst>
              <a:gd name="adj" fmla="val 50000"/>
            </a:avLst>
          </a:prstGeom>
          <a:solidFill>
            <a:srgbClr val="FFFFFF"/>
          </a:solidFill>
          <a:ln w="12700">
            <a:solidFill>
              <a:srgbClr val="E2E0D8"/>
            </a:solidFill>
          </a:ln>
        </p:spPr>
        <p:txBody>
          <a:bodyPr wrap="none" lIns="91440" tIns="0" rIns="91440" bIns="0" anchor="ctr"/>
          <a:lstStyle/>
          <a:p>
            <a:pPr algn="ctr"/>
            <a:r>
              <a:rPr lang="en-US" sz="1600" b="1">
                <a:solidFill>
                  <a:srgbClr val="14213D"/>
                </a:solidFill>
                <a:latin typeface="Arial"/>
              </a:rPr>
              <a:t>Facebook</a:t>
            </a:r>
          </a:p>
        </p:txBody>
      </p:sp>
      <p:sp>
        <p:nvSpPr>
          <p:cNvPr id="22" name="Touchpoint Google Ads"/>
          <p:cNvSpPr/>
          <p:nvPr/>
        </p:nvSpPr>
        <p:spPr>
          <a:xfrm>
            <a:off x="1225580" y="2609740"/>
            <a:ext cx="1600200" cy="594360"/>
          </a:xfrm>
          <a:prstGeom prst="roundRect">
            <a:avLst>
              <a:gd name="adj" fmla="val 50000"/>
            </a:avLst>
          </a:prstGeom>
          <a:solidFill>
            <a:srgbClr val="FFFFFF"/>
          </a:solidFill>
          <a:ln w="12700">
            <a:solidFill>
              <a:srgbClr val="E2E0D8"/>
            </a:solidFill>
          </a:ln>
        </p:spPr>
        <p:txBody>
          <a:bodyPr wrap="none" lIns="91440" tIns="0" rIns="91440" bIns="0" anchor="ctr"/>
          <a:lstStyle/>
          <a:p>
            <a:pPr algn="ctr"/>
            <a:r>
              <a:rPr lang="en-US" sz="1600" b="1">
                <a:solidFill>
                  <a:srgbClr val="14213D"/>
                </a:solidFill>
                <a:latin typeface="Arial"/>
              </a:rPr>
              <a:t>Google Ads</a:t>
            </a:r>
          </a:p>
        </p:txBody>
      </p:sp>
      <p:sp>
        <p:nvSpPr>
          <p:cNvPr id="23" name="Touchpoint Fleetworx"/>
          <p:cNvSpPr/>
          <p:nvPr/>
        </p:nvSpPr>
        <p:spPr>
          <a:xfrm>
            <a:off x="3000763" y="1859387"/>
            <a:ext cx="1490472" cy="594360"/>
          </a:xfrm>
          <a:prstGeom prst="roundRect">
            <a:avLst>
              <a:gd name="adj" fmla="val 50000"/>
            </a:avLst>
          </a:prstGeom>
          <a:solidFill>
            <a:srgbClr val="FFFFFF"/>
          </a:solidFill>
          <a:ln w="12700">
            <a:solidFill>
              <a:srgbClr val="E2E0D8"/>
            </a:solidFill>
          </a:ln>
        </p:spPr>
        <p:txBody>
          <a:bodyPr wrap="none" lIns="91440" tIns="0" rIns="91440" bIns="0" anchor="ctr"/>
          <a:lstStyle/>
          <a:p>
            <a:pPr algn="ctr"/>
            <a:r>
              <a:rPr lang="en-US" sz="1600" b="1">
                <a:solidFill>
                  <a:srgbClr val="14213D"/>
                </a:solidFill>
                <a:latin typeface="Arial"/>
              </a:rPr>
              <a:t>Fleetworx</a:t>
            </a:r>
          </a:p>
        </p:txBody>
      </p:sp>
      <p:sp>
        <p:nvSpPr>
          <p:cNvPr id="24" name="Page number"/>
          <p:cNvSpPr txBox="1"/>
          <p:nvPr/>
        </p:nvSpPr>
        <p:spPr>
          <a:xfrm>
            <a:off x="11094415" y="6355080"/>
            <a:ext cx="548640" cy="274320"/>
          </a:xfrm>
          <a:prstGeom prst="rect">
            <a:avLst/>
          </a:prstGeom>
          <a:noFill/>
        </p:spPr>
        <p:txBody>
          <a:bodyPr wrap="square" lIns="0" tIns="0" rIns="0" bIns="0" anchor="t">
            <a:spAutoFit/>
          </a:bodyPr>
          <a:lstStyle/>
          <a:p>
            <a:pPr algn="r"/>
            <a:r>
              <a:rPr lang="en-US" sz="1000" b="0">
                <a:solidFill>
                  <a:srgbClr val="5A6478"/>
                </a:solidFill>
                <a:latin typeface="Arial"/>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itle"/>
          <p:cNvSpPr txBox="1"/>
          <p:nvPr/>
        </p:nvSpPr>
        <p:spPr>
          <a:xfrm>
            <a:off x="411980" y="405230"/>
            <a:ext cx="11094415" cy="430887"/>
          </a:xfrm>
          <a:prstGeom prst="rect">
            <a:avLst/>
          </a:prstGeom>
          <a:noFill/>
        </p:spPr>
        <p:txBody>
          <a:bodyPr wrap="square" lIns="0" tIns="0" rIns="0" bIns="0" anchor="t">
            <a:spAutoFit/>
          </a:bodyPr>
          <a:lstStyle/>
          <a:p>
            <a:pPr algn="ctr"/>
            <a:r>
              <a:rPr lang="en-US" sz="2800" b="1" dirty="0">
                <a:solidFill>
                  <a:srgbClr val="14213D"/>
                </a:solidFill>
                <a:latin typeface="Arial"/>
              </a:rPr>
              <a:t>Total Marketing Revenue: $1,386,201</a:t>
            </a:r>
          </a:p>
        </p:txBody>
      </p:sp>
      <p:sp>
        <p:nvSpPr>
          <p:cNvPr id="4" name="Page number"/>
          <p:cNvSpPr txBox="1"/>
          <p:nvPr/>
        </p:nvSpPr>
        <p:spPr>
          <a:xfrm>
            <a:off x="11094415" y="6355080"/>
            <a:ext cx="548640" cy="274320"/>
          </a:xfrm>
          <a:prstGeom prst="rect">
            <a:avLst/>
          </a:prstGeom>
          <a:noFill/>
        </p:spPr>
        <p:txBody>
          <a:bodyPr wrap="square" lIns="0" tIns="0" rIns="0" bIns="0" anchor="t">
            <a:spAutoFit/>
          </a:bodyPr>
          <a:lstStyle/>
          <a:p>
            <a:pPr algn="r"/>
            <a:r>
              <a:rPr lang="en-US" sz="1000" b="0">
                <a:solidFill>
                  <a:srgbClr val="5A6478"/>
                </a:solidFill>
                <a:latin typeface="Arial"/>
              </a:rPr>
              <a:t>4</a:t>
            </a:r>
          </a:p>
        </p:txBody>
      </p:sp>
      <p:sp>
        <p:nvSpPr>
          <p:cNvPr id="5" name="Source Digital"/>
          <p:cNvSpPr/>
          <p:nvPr/>
        </p:nvSpPr>
        <p:spPr>
          <a:xfrm>
            <a:off x="548640" y="4023360"/>
            <a:ext cx="2568614" cy="2103120"/>
          </a:xfrm>
          <a:prstGeom prst="roundRect">
            <a:avLst>
              <a:gd name="adj" fmla="val 5000"/>
            </a:avLst>
          </a:prstGeom>
          <a:solidFill>
            <a:srgbClr val="FFFFFF"/>
          </a:solidFill>
          <a:ln w="9525">
            <a:solidFill>
              <a:srgbClr val="E2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Digital label"/>
          <p:cNvSpPr txBox="1"/>
          <p:nvPr/>
        </p:nvSpPr>
        <p:spPr>
          <a:xfrm>
            <a:off x="868680" y="4297680"/>
            <a:ext cx="1928534" cy="184666"/>
          </a:xfrm>
          <a:prstGeom prst="rect">
            <a:avLst/>
          </a:prstGeom>
          <a:noFill/>
        </p:spPr>
        <p:txBody>
          <a:bodyPr wrap="square" lIns="0" tIns="0" rIns="0" bIns="0" anchor="t">
            <a:spAutoFit/>
          </a:bodyPr>
          <a:lstStyle/>
          <a:p>
            <a:pPr algn="l"/>
            <a:r>
              <a:rPr lang="en-US" sz="1100" b="1" dirty="0">
                <a:solidFill>
                  <a:srgbClr val="5A6478"/>
                </a:solidFill>
                <a:latin typeface="Arial"/>
              </a:rPr>
              <a:t>DIGITAL </a:t>
            </a:r>
          </a:p>
        </p:txBody>
      </p:sp>
      <p:sp>
        <p:nvSpPr>
          <p:cNvPr id="7" name="Digital value"/>
          <p:cNvSpPr txBox="1"/>
          <p:nvPr/>
        </p:nvSpPr>
        <p:spPr>
          <a:xfrm>
            <a:off x="868680" y="4663440"/>
            <a:ext cx="1928534" cy="822960"/>
          </a:xfrm>
          <a:prstGeom prst="rect">
            <a:avLst/>
          </a:prstGeom>
          <a:noFill/>
        </p:spPr>
        <p:txBody>
          <a:bodyPr wrap="square" lIns="0" tIns="0" rIns="0" bIns="0" anchor="t">
            <a:spAutoFit/>
          </a:bodyPr>
          <a:lstStyle/>
          <a:p>
            <a:pPr algn="l"/>
            <a:r>
              <a:rPr lang="en-US" sz="4400" b="1">
                <a:solidFill>
                  <a:srgbClr val="14213D"/>
                </a:solidFill>
                <a:latin typeface="Arial"/>
              </a:rPr>
              <a:t>$822K</a:t>
            </a:r>
          </a:p>
        </p:txBody>
      </p:sp>
      <p:sp>
        <p:nvSpPr>
          <p:cNvPr id="8" name="Digital detail"/>
          <p:cNvSpPr txBox="1"/>
          <p:nvPr/>
        </p:nvSpPr>
        <p:spPr>
          <a:xfrm>
            <a:off x="868680" y="5577840"/>
            <a:ext cx="1928534" cy="365760"/>
          </a:xfrm>
          <a:prstGeom prst="rect">
            <a:avLst/>
          </a:prstGeom>
          <a:noFill/>
        </p:spPr>
        <p:txBody>
          <a:bodyPr wrap="square" lIns="0" tIns="0" rIns="0" bIns="0" anchor="t">
            <a:spAutoFit/>
          </a:bodyPr>
          <a:lstStyle/>
          <a:p>
            <a:pPr algn="l"/>
            <a:r>
              <a:rPr lang="en-US" sz="1200" b="0">
                <a:solidFill>
                  <a:srgbClr val="5A6478"/>
                </a:solidFill>
                <a:latin typeface="Arial"/>
              </a:rPr>
              <a:t>$822,061 closed revenue</a:t>
            </a:r>
          </a:p>
        </p:txBody>
      </p:sp>
      <p:sp>
        <p:nvSpPr>
          <p:cNvPr id="9" name="Source TV"/>
          <p:cNvSpPr/>
          <p:nvPr/>
        </p:nvSpPr>
        <p:spPr>
          <a:xfrm>
            <a:off x="3390574" y="4023360"/>
            <a:ext cx="2568614" cy="2103120"/>
          </a:xfrm>
          <a:prstGeom prst="roundRect">
            <a:avLst>
              <a:gd name="adj" fmla="val 5000"/>
            </a:avLst>
          </a:prstGeom>
          <a:solidFill>
            <a:srgbClr val="FFFFFF"/>
          </a:solidFill>
          <a:ln w="9525">
            <a:solidFill>
              <a:srgbClr val="E2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V label"/>
          <p:cNvSpPr txBox="1"/>
          <p:nvPr/>
        </p:nvSpPr>
        <p:spPr>
          <a:xfrm>
            <a:off x="3710614" y="4297680"/>
            <a:ext cx="1928534" cy="184666"/>
          </a:xfrm>
          <a:prstGeom prst="rect">
            <a:avLst/>
          </a:prstGeom>
          <a:noFill/>
        </p:spPr>
        <p:txBody>
          <a:bodyPr wrap="square" lIns="0" tIns="0" rIns="0" bIns="0" anchor="t">
            <a:spAutoFit/>
          </a:bodyPr>
          <a:lstStyle/>
          <a:p>
            <a:pPr algn="l"/>
            <a:r>
              <a:rPr lang="en-US" sz="1100" b="1" dirty="0">
                <a:solidFill>
                  <a:srgbClr val="5A6478"/>
                </a:solidFill>
                <a:latin typeface="Arial"/>
              </a:rPr>
              <a:t>BRAND-ASSISTED </a:t>
            </a:r>
          </a:p>
        </p:txBody>
      </p:sp>
      <p:sp>
        <p:nvSpPr>
          <p:cNvPr id="11" name="TV value"/>
          <p:cNvSpPr txBox="1"/>
          <p:nvPr/>
        </p:nvSpPr>
        <p:spPr>
          <a:xfrm>
            <a:off x="3710614" y="4663440"/>
            <a:ext cx="1928534" cy="822960"/>
          </a:xfrm>
          <a:prstGeom prst="rect">
            <a:avLst/>
          </a:prstGeom>
          <a:noFill/>
        </p:spPr>
        <p:txBody>
          <a:bodyPr wrap="square" lIns="0" tIns="0" rIns="0" bIns="0" anchor="t">
            <a:spAutoFit/>
          </a:bodyPr>
          <a:lstStyle/>
          <a:p>
            <a:pPr algn="l"/>
            <a:r>
              <a:rPr lang="en-US" sz="4400" b="1">
                <a:solidFill>
                  <a:srgbClr val="14213D"/>
                </a:solidFill>
                <a:latin typeface="Arial"/>
              </a:rPr>
              <a:t>$225K</a:t>
            </a:r>
          </a:p>
        </p:txBody>
      </p:sp>
      <p:sp>
        <p:nvSpPr>
          <p:cNvPr id="12" name="TV detail"/>
          <p:cNvSpPr txBox="1"/>
          <p:nvPr/>
        </p:nvSpPr>
        <p:spPr>
          <a:xfrm>
            <a:off x="3710614" y="5577840"/>
            <a:ext cx="1928534" cy="365760"/>
          </a:xfrm>
          <a:prstGeom prst="rect">
            <a:avLst/>
          </a:prstGeom>
          <a:noFill/>
        </p:spPr>
        <p:txBody>
          <a:bodyPr wrap="square" lIns="0" tIns="0" rIns="0" bIns="0" anchor="t">
            <a:spAutoFit/>
          </a:bodyPr>
          <a:lstStyle/>
          <a:p>
            <a:pPr algn="l"/>
            <a:r>
              <a:rPr lang="en-US" sz="1200" b="0">
                <a:solidFill>
                  <a:srgbClr val="5A6478"/>
                </a:solidFill>
                <a:latin typeface="Arial"/>
              </a:rPr>
              <a:t>Main line first, then marketing</a:t>
            </a:r>
          </a:p>
        </p:txBody>
      </p:sp>
      <p:sp>
        <p:nvSpPr>
          <p:cNvPr id="13" name="Source Direct Mail"/>
          <p:cNvSpPr/>
          <p:nvPr/>
        </p:nvSpPr>
        <p:spPr>
          <a:xfrm>
            <a:off x="6232508" y="4023360"/>
            <a:ext cx="2568614" cy="2103120"/>
          </a:xfrm>
          <a:prstGeom prst="roundRect">
            <a:avLst>
              <a:gd name="adj" fmla="val 5000"/>
            </a:avLst>
          </a:prstGeom>
          <a:solidFill>
            <a:srgbClr val="FFFFFF"/>
          </a:solidFill>
          <a:ln w="9525">
            <a:solidFill>
              <a:srgbClr val="E2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Direct Mail label"/>
          <p:cNvSpPr txBox="1"/>
          <p:nvPr/>
        </p:nvSpPr>
        <p:spPr>
          <a:xfrm>
            <a:off x="6552548" y="4297680"/>
            <a:ext cx="1928534" cy="274320"/>
          </a:xfrm>
          <a:prstGeom prst="rect">
            <a:avLst/>
          </a:prstGeom>
          <a:noFill/>
        </p:spPr>
        <p:txBody>
          <a:bodyPr wrap="square" lIns="0" tIns="0" rIns="0" bIns="0" anchor="t">
            <a:spAutoFit/>
          </a:bodyPr>
          <a:lstStyle/>
          <a:p>
            <a:pPr algn="l"/>
            <a:r>
              <a:rPr lang="en-US" sz="1100" b="1">
                <a:solidFill>
                  <a:srgbClr val="5A6478"/>
                </a:solidFill>
                <a:latin typeface="Arial"/>
              </a:rPr>
              <a:t>DIRECT MAIL · LETTRLABS</a:t>
            </a:r>
          </a:p>
        </p:txBody>
      </p:sp>
      <p:sp>
        <p:nvSpPr>
          <p:cNvPr id="15" name="Direct Mail value"/>
          <p:cNvSpPr txBox="1"/>
          <p:nvPr/>
        </p:nvSpPr>
        <p:spPr>
          <a:xfrm>
            <a:off x="6552548" y="4663440"/>
            <a:ext cx="1928534" cy="822960"/>
          </a:xfrm>
          <a:prstGeom prst="rect">
            <a:avLst/>
          </a:prstGeom>
          <a:noFill/>
        </p:spPr>
        <p:txBody>
          <a:bodyPr wrap="square" lIns="0" tIns="0" rIns="0" bIns="0" anchor="t">
            <a:spAutoFit/>
          </a:bodyPr>
          <a:lstStyle/>
          <a:p>
            <a:pPr algn="l"/>
            <a:r>
              <a:rPr lang="en-US" sz="4400" b="1">
                <a:solidFill>
                  <a:srgbClr val="14213D"/>
                </a:solidFill>
                <a:latin typeface="Arial"/>
              </a:rPr>
              <a:t>$94K</a:t>
            </a:r>
          </a:p>
        </p:txBody>
      </p:sp>
      <p:sp>
        <p:nvSpPr>
          <p:cNvPr id="16" name="Direct Mail detail"/>
          <p:cNvSpPr txBox="1"/>
          <p:nvPr/>
        </p:nvSpPr>
        <p:spPr>
          <a:xfrm>
            <a:off x="6552548" y="5577840"/>
            <a:ext cx="1928534" cy="365760"/>
          </a:xfrm>
          <a:prstGeom prst="rect">
            <a:avLst/>
          </a:prstGeom>
          <a:noFill/>
        </p:spPr>
        <p:txBody>
          <a:bodyPr wrap="square" lIns="0" tIns="0" rIns="0" bIns="0" anchor="t">
            <a:spAutoFit/>
          </a:bodyPr>
          <a:lstStyle/>
          <a:p>
            <a:pPr algn="l"/>
            <a:r>
              <a:rPr lang="en-US" sz="1200" b="0">
                <a:solidFill>
                  <a:srgbClr val="5A6478"/>
                </a:solidFill>
                <a:latin typeface="Arial"/>
              </a:rPr>
              <a:t>$94,000</a:t>
            </a:r>
          </a:p>
        </p:txBody>
      </p:sp>
      <p:sp>
        <p:nvSpPr>
          <p:cNvPr id="32" name="Source Charleston"/>
          <p:cNvSpPr/>
          <p:nvPr/>
        </p:nvSpPr>
        <p:spPr>
          <a:xfrm>
            <a:off x="9074442" y="4023360"/>
            <a:ext cx="2568614" cy="2103120"/>
          </a:xfrm>
          <a:prstGeom prst="roundRect">
            <a:avLst>
              <a:gd name="adj" fmla="val 5000"/>
            </a:avLst>
          </a:prstGeom>
          <a:solidFill>
            <a:srgbClr val="FFFFFF"/>
          </a:solidFill>
          <a:ln w="9525">
            <a:solidFill>
              <a:srgbClr val="E2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Charleston label"/>
          <p:cNvSpPr txBox="1"/>
          <p:nvPr/>
        </p:nvSpPr>
        <p:spPr>
          <a:xfrm>
            <a:off x="9394482" y="4297680"/>
            <a:ext cx="1928534" cy="274320"/>
          </a:xfrm>
          <a:prstGeom prst="rect">
            <a:avLst/>
          </a:prstGeom>
          <a:noFill/>
        </p:spPr>
        <p:txBody>
          <a:bodyPr wrap="square" lIns="0" tIns="0" rIns="0" bIns="0" anchor="t">
            <a:spAutoFit/>
          </a:bodyPr>
          <a:lstStyle/>
          <a:p>
            <a:pPr algn="l"/>
            <a:r>
              <a:rPr lang="en-US" sz="1100" b="1">
                <a:solidFill>
                  <a:srgbClr val="5A6478"/>
                </a:solidFill>
                <a:latin typeface="Arial"/>
              </a:rPr>
              <a:t>CHARLESTON</a:t>
            </a:r>
          </a:p>
        </p:txBody>
      </p:sp>
      <p:sp>
        <p:nvSpPr>
          <p:cNvPr id="34" name="Charleston value"/>
          <p:cNvSpPr txBox="1"/>
          <p:nvPr/>
        </p:nvSpPr>
        <p:spPr>
          <a:xfrm>
            <a:off x="9394482" y="4663440"/>
            <a:ext cx="1928534" cy="822960"/>
          </a:xfrm>
          <a:prstGeom prst="rect">
            <a:avLst/>
          </a:prstGeom>
          <a:noFill/>
        </p:spPr>
        <p:txBody>
          <a:bodyPr wrap="square" lIns="0" tIns="0" rIns="0" bIns="0" anchor="t">
            <a:spAutoFit/>
          </a:bodyPr>
          <a:lstStyle/>
          <a:p>
            <a:pPr algn="l"/>
            <a:r>
              <a:rPr lang="en-US" sz="4400" b="1">
                <a:solidFill>
                  <a:srgbClr val="14213D"/>
                </a:solidFill>
                <a:latin typeface="Arial"/>
              </a:rPr>
              <a:t>$245K</a:t>
            </a:r>
          </a:p>
        </p:txBody>
      </p:sp>
      <p:sp>
        <p:nvSpPr>
          <p:cNvPr id="35" name="Charleston detail"/>
          <p:cNvSpPr txBox="1"/>
          <p:nvPr/>
        </p:nvSpPr>
        <p:spPr>
          <a:xfrm>
            <a:off x="9394482" y="5577840"/>
            <a:ext cx="1928534" cy="365760"/>
          </a:xfrm>
          <a:prstGeom prst="rect">
            <a:avLst/>
          </a:prstGeom>
          <a:noFill/>
        </p:spPr>
        <p:txBody>
          <a:bodyPr wrap="square" lIns="0" tIns="0" rIns="0" bIns="0" anchor="t">
            <a:spAutoFit/>
          </a:bodyPr>
          <a:lstStyle/>
          <a:p>
            <a:pPr algn="l"/>
            <a:r>
              <a:rPr lang="en-US" sz="1200" b="0">
                <a:solidFill>
                  <a:srgbClr val="5A6478"/>
                </a:solidFill>
                <a:latin typeface="Arial"/>
              </a:rPr>
              <a:t>$244,807</a:t>
            </a:r>
          </a:p>
        </p:txBody>
      </p:sp>
      <p:sp>
        <p:nvSpPr>
          <p:cNvPr id="17" name="Total Revenue"/>
          <p:cNvSpPr/>
          <p:nvPr/>
        </p:nvSpPr>
        <p:spPr>
          <a:xfrm>
            <a:off x="548640" y="1417320"/>
            <a:ext cx="11094416" cy="2400000"/>
          </a:xfrm>
          <a:prstGeom prst="roundRect">
            <a:avLst>
              <a:gd name="adj" fmla="val 5000"/>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otal label"/>
          <p:cNvSpPr txBox="1"/>
          <p:nvPr/>
        </p:nvSpPr>
        <p:spPr>
          <a:xfrm>
            <a:off x="868680" y="1691640"/>
            <a:ext cx="5000000" cy="274320"/>
          </a:xfrm>
          <a:prstGeom prst="rect">
            <a:avLst/>
          </a:prstGeom>
          <a:noFill/>
        </p:spPr>
        <p:txBody>
          <a:bodyPr wrap="square" lIns="0" tIns="0" rIns="0" bIns="0" anchor="t">
            <a:spAutoFit/>
          </a:bodyPr>
          <a:lstStyle/>
          <a:p>
            <a:pPr algn="l"/>
            <a:r>
              <a:rPr lang="en-US" sz="1200" b="1">
                <a:solidFill>
                  <a:srgbClr val="C9D3E3"/>
                </a:solidFill>
                <a:latin typeface="Arial"/>
              </a:rPr>
              <a:t>TOTAL REVENUE, ALL SOURCES</a:t>
            </a:r>
          </a:p>
        </p:txBody>
      </p:sp>
      <p:sp>
        <p:nvSpPr>
          <p:cNvPr id="19" name="Total value"/>
          <p:cNvSpPr txBox="1"/>
          <p:nvPr/>
        </p:nvSpPr>
        <p:spPr>
          <a:xfrm>
            <a:off x="868680" y="2057400"/>
            <a:ext cx="5000000" cy="738664"/>
          </a:xfrm>
          <a:prstGeom prst="rect">
            <a:avLst/>
          </a:prstGeom>
          <a:noFill/>
        </p:spPr>
        <p:txBody>
          <a:bodyPr wrap="square" lIns="0" tIns="0" rIns="0" bIns="0" anchor="t">
            <a:spAutoFit/>
          </a:bodyPr>
          <a:lstStyle/>
          <a:p>
            <a:pPr algn="l"/>
            <a:r>
              <a:rPr lang="en-US" sz="4800" b="1" dirty="0">
                <a:solidFill>
                  <a:srgbClr val="F2A65A"/>
                </a:solidFill>
                <a:latin typeface="Arial"/>
              </a:rPr>
              <a:t>$1.39M</a:t>
            </a:r>
          </a:p>
        </p:txBody>
      </p:sp>
      <p:sp>
        <p:nvSpPr>
          <p:cNvPr id="20" name="Total detail"/>
          <p:cNvSpPr txBox="1"/>
          <p:nvPr/>
        </p:nvSpPr>
        <p:spPr>
          <a:xfrm>
            <a:off x="868680" y="2971800"/>
            <a:ext cx="5000000" cy="365760"/>
          </a:xfrm>
          <a:prstGeom prst="rect">
            <a:avLst/>
          </a:prstGeom>
          <a:noFill/>
        </p:spPr>
        <p:txBody>
          <a:bodyPr wrap="square" lIns="0" tIns="0" rIns="0" bIns="0" anchor="t">
            <a:spAutoFit/>
          </a:bodyPr>
          <a:lstStyle/>
          <a:p>
            <a:pPr algn="l"/>
            <a:r>
              <a:rPr lang="en-US" sz="1400" b="0">
                <a:solidFill>
                  <a:srgbClr val="C9D3E3"/>
                </a:solidFill>
                <a:latin typeface="Arial"/>
              </a:rPr>
              <a:t>$1,386,201</a:t>
            </a:r>
          </a:p>
        </p:txBody>
      </p:sp>
      <p:sp>
        <p:nvSpPr>
          <p:cNvPr id="21" name="Breakdown 1 name"/>
          <p:cNvSpPr txBox="1"/>
          <p:nvPr/>
        </p:nvSpPr>
        <p:spPr>
          <a:xfrm>
            <a:off x="6413863" y="1737360"/>
            <a:ext cx="3200400" cy="215444"/>
          </a:xfrm>
          <a:prstGeom prst="rect">
            <a:avLst/>
          </a:prstGeom>
          <a:noFill/>
        </p:spPr>
        <p:txBody>
          <a:bodyPr wrap="square" lIns="0" tIns="0" rIns="0" bIns="0" anchor="t">
            <a:spAutoFit/>
          </a:bodyPr>
          <a:lstStyle/>
          <a:p>
            <a:pPr algn="l"/>
            <a:r>
              <a:rPr lang="en-US" sz="1400" b="0" dirty="0">
                <a:solidFill>
                  <a:srgbClr val="C9D3E3"/>
                </a:solidFill>
                <a:latin typeface="Arial"/>
              </a:rPr>
              <a:t>Digital </a:t>
            </a:r>
          </a:p>
        </p:txBody>
      </p:sp>
      <p:sp>
        <p:nvSpPr>
          <p:cNvPr id="22" name="Breakdown 1 amount"/>
          <p:cNvSpPr txBox="1"/>
          <p:nvPr/>
        </p:nvSpPr>
        <p:spPr>
          <a:xfrm>
            <a:off x="9601200" y="1737360"/>
            <a:ext cx="1714500" cy="320040"/>
          </a:xfrm>
          <a:prstGeom prst="rect">
            <a:avLst/>
          </a:prstGeom>
          <a:noFill/>
        </p:spPr>
        <p:txBody>
          <a:bodyPr wrap="square" lIns="0" tIns="0" rIns="0" bIns="0" anchor="t">
            <a:spAutoFit/>
          </a:bodyPr>
          <a:lstStyle/>
          <a:p>
            <a:pPr algn="r"/>
            <a:r>
              <a:rPr lang="en-US" sz="1400" b="1">
                <a:solidFill>
                  <a:srgbClr val="F7F6F2"/>
                </a:solidFill>
                <a:latin typeface="Arial"/>
              </a:rPr>
              <a:t>$822,061</a:t>
            </a:r>
          </a:p>
        </p:txBody>
      </p:sp>
      <p:sp>
        <p:nvSpPr>
          <p:cNvPr id="23" name="Breakdown 2 name"/>
          <p:cNvSpPr txBox="1"/>
          <p:nvPr/>
        </p:nvSpPr>
        <p:spPr>
          <a:xfrm>
            <a:off x="6400800" y="2148840"/>
            <a:ext cx="3200400" cy="215444"/>
          </a:xfrm>
          <a:prstGeom prst="rect">
            <a:avLst/>
          </a:prstGeom>
          <a:noFill/>
        </p:spPr>
        <p:txBody>
          <a:bodyPr wrap="square" lIns="0" tIns="0" rIns="0" bIns="0" anchor="t">
            <a:spAutoFit/>
          </a:bodyPr>
          <a:lstStyle/>
          <a:p>
            <a:pPr algn="l"/>
            <a:r>
              <a:rPr lang="en-US" sz="1400" b="0" dirty="0">
                <a:solidFill>
                  <a:srgbClr val="C9D3E3"/>
                </a:solidFill>
                <a:latin typeface="Arial"/>
              </a:rPr>
              <a:t>Brand-assisted </a:t>
            </a:r>
          </a:p>
        </p:txBody>
      </p:sp>
      <p:sp>
        <p:nvSpPr>
          <p:cNvPr id="24" name="Breakdown 2 amount"/>
          <p:cNvSpPr txBox="1"/>
          <p:nvPr/>
        </p:nvSpPr>
        <p:spPr>
          <a:xfrm>
            <a:off x="9601200" y="2148840"/>
            <a:ext cx="1714500" cy="320040"/>
          </a:xfrm>
          <a:prstGeom prst="rect">
            <a:avLst/>
          </a:prstGeom>
          <a:noFill/>
        </p:spPr>
        <p:txBody>
          <a:bodyPr wrap="square" lIns="0" tIns="0" rIns="0" bIns="0" anchor="t">
            <a:spAutoFit/>
          </a:bodyPr>
          <a:lstStyle/>
          <a:p>
            <a:pPr algn="r"/>
            <a:r>
              <a:rPr lang="en-US" sz="1400" b="1">
                <a:solidFill>
                  <a:srgbClr val="F7F6F2"/>
                </a:solidFill>
                <a:latin typeface="Arial"/>
              </a:rPr>
              <a:t>$225,333</a:t>
            </a:r>
          </a:p>
        </p:txBody>
      </p:sp>
      <p:sp>
        <p:nvSpPr>
          <p:cNvPr id="25" name="Breakdown 3 name"/>
          <p:cNvSpPr txBox="1"/>
          <p:nvPr/>
        </p:nvSpPr>
        <p:spPr>
          <a:xfrm>
            <a:off x="6400800" y="2560320"/>
            <a:ext cx="3200400" cy="320040"/>
          </a:xfrm>
          <a:prstGeom prst="rect">
            <a:avLst/>
          </a:prstGeom>
          <a:noFill/>
        </p:spPr>
        <p:txBody>
          <a:bodyPr wrap="square" lIns="0" tIns="0" rIns="0" bIns="0" anchor="t">
            <a:spAutoFit/>
          </a:bodyPr>
          <a:lstStyle/>
          <a:p>
            <a:pPr algn="l"/>
            <a:r>
              <a:rPr lang="en-US" sz="1400" b="0">
                <a:solidFill>
                  <a:srgbClr val="C9D3E3"/>
                </a:solidFill>
                <a:latin typeface="Arial"/>
              </a:rPr>
              <a:t>Direct mail (LettrLabs)</a:t>
            </a:r>
          </a:p>
        </p:txBody>
      </p:sp>
      <p:sp>
        <p:nvSpPr>
          <p:cNvPr id="30" name="Breakdown 4 name"/>
          <p:cNvSpPr txBox="1"/>
          <p:nvPr/>
        </p:nvSpPr>
        <p:spPr>
          <a:xfrm>
            <a:off x="6400800" y="2971800"/>
            <a:ext cx="3200400" cy="320040"/>
          </a:xfrm>
          <a:prstGeom prst="rect">
            <a:avLst/>
          </a:prstGeom>
          <a:noFill/>
        </p:spPr>
        <p:txBody>
          <a:bodyPr wrap="square" lIns="0" tIns="0" rIns="0" bIns="0" anchor="t">
            <a:spAutoFit/>
          </a:bodyPr>
          <a:lstStyle/>
          <a:p>
            <a:pPr algn="l"/>
            <a:r>
              <a:rPr lang="en-US" sz="1400" b="0">
                <a:solidFill>
                  <a:srgbClr val="C9D3E3"/>
                </a:solidFill>
                <a:latin typeface="Arial"/>
              </a:rPr>
              <a:t>Charleston</a:t>
            </a:r>
          </a:p>
        </p:txBody>
      </p:sp>
      <p:sp>
        <p:nvSpPr>
          <p:cNvPr id="26" name="Breakdown 3 amount"/>
          <p:cNvSpPr txBox="1"/>
          <p:nvPr/>
        </p:nvSpPr>
        <p:spPr>
          <a:xfrm>
            <a:off x="9601200" y="2560320"/>
            <a:ext cx="1714500" cy="430887"/>
          </a:xfrm>
          <a:prstGeom prst="rect">
            <a:avLst/>
          </a:prstGeom>
          <a:noFill/>
        </p:spPr>
        <p:txBody>
          <a:bodyPr wrap="square" lIns="0" tIns="0" rIns="0" bIns="0" anchor="t">
            <a:spAutoFit/>
          </a:bodyPr>
          <a:lstStyle/>
          <a:p>
            <a:pPr algn="r"/>
            <a:r>
              <a:rPr lang="en-US" sz="1400" b="1" dirty="0">
                <a:solidFill>
                  <a:srgbClr val="F7F6F2"/>
                </a:solidFill>
                <a:latin typeface="Arial"/>
              </a:rPr>
              <a:t>$94,000</a:t>
            </a:r>
          </a:p>
          <a:p>
            <a:pPr algn="r"/>
            <a:endParaRPr lang="en-US" sz="1400" b="1" dirty="0">
              <a:solidFill>
                <a:srgbClr val="F7F6F2"/>
              </a:solidFill>
              <a:latin typeface="Arial"/>
            </a:endParaRPr>
          </a:p>
        </p:txBody>
      </p:sp>
      <p:sp>
        <p:nvSpPr>
          <p:cNvPr id="31" name="Breakdown 4 amount"/>
          <p:cNvSpPr txBox="1"/>
          <p:nvPr/>
        </p:nvSpPr>
        <p:spPr>
          <a:xfrm>
            <a:off x="9601200" y="2971800"/>
            <a:ext cx="1714500" cy="320040"/>
          </a:xfrm>
          <a:prstGeom prst="rect">
            <a:avLst/>
          </a:prstGeom>
          <a:noFill/>
        </p:spPr>
        <p:txBody>
          <a:bodyPr wrap="square" lIns="0" tIns="0" rIns="0" bIns="0" anchor="t">
            <a:spAutoFit/>
          </a:bodyPr>
          <a:lstStyle/>
          <a:p>
            <a:pPr algn="r"/>
            <a:r>
              <a:rPr lang="en-US" sz="1400" b="1" dirty="0">
                <a:solidFill>
                  <a:srgbClr val="F7F6F2"/>
                </a:solidFill>
                <a:latin typeface="Arial"/>
              </a:rPr>
              <a:t>$244,807</a:t>
            </a:r>
          </a:p>
        </p:txBody>
      </p:sp>
      <p:cxnSp>
        <p:nvCxnSpPr>
          <p:cNvPr id="27" name="Breakdown rule"/>
          <p:cNvCxnSpPr/>
          <p:nvPr/>
        </p:nvCxnSpPr>
        <p:spPr>
          <a:xfrm>
            <a:off x="6400800" y="3383280"/>
            <a:ext cx="4914900" cy="0"/>
          </a:xfrm>
          <a:prstGeom prst="line">
            <a:avLst/>
          </a:prstGeom>
          <a:ln w="9525">
            <a:solidFill>
              <a:srgbClr val="5A6478"/>
            </a:solidFill>
          </a:ln>
        </p:spPr>
      </p:cxnSp>
      <p:sp>
        <p:nvSpPr>
          <p:cNvPr id="28" name="Breakdown total name"/>
          <p:cNvSpPr txBox="1"/>
          <p:nvPr/>
        </p:nvSpPr>
        <p:spPr>
          <a:xfrm>
            <a:off x="6400800" y="3474720"/>
            <a:ext cx="3200400" cy="320040"/>
          </a:xfrm>
          <a:prstGeom prst="rect">
            <a:avLst/>
          </a:prstGeom>
          <a:noFill/>
        </p:spPr>
        <p:txBody>
          <a:bodyPr wrap="square" lIns="0" tIns="0" rIns="0" bIns="0" anchor="t">
            <a:spAutoFit/>
          </a:bodyPr>
          <a:lstStyle/>
          <a:p>
            <a:pPr algn="l"/>
            <a:r>
              <a:rPr lang="en-US" sz="1400" b="1">
                <a:solidFill>
                  <a:srgbClr val="F7F6F2"/>
                </a:solidFill>
                <a:latin typeface="Arial"/>
              </a:rPr>
              <a:t>Total</a:t>
            </a:r>
          </a:p>
        </p:txBody>
      </p:sp>
      <p:sp>
        <p:nvSpPr>
          <p:cNvPr id="29" name="Breakdown total amount"/>
          <p:cNvSpPr txBox="1"/>
          <p:nvPr/>
        </p:nvSpPr>
        <p:spPr>
          <a:xfrm>
            <a:off x="9601200" y="3474720"/>
            <a:ext cx="1714500" cy="320040"/>
          </a:xfrm>
          <a:prstGeom prst="rect">
            <a:avLst/>
          </a:prstGeom>
          <a:noFill/>
        </p:spPr>
        <p:txBody>
          <a:bodyPr wrap="square" lIns="0" tIns="0" rIns="0" bIns="0" anchor="t">
            <a:spAutoFit/>
          </a:bodyPr>
          <a:lstStyle/>
          <a:p>
            <a:pPr algn="r"/>
            <a:r>
              <a:rPr lang="en-US" sz="1400" b="1">
                <a:solidFill>
                  <a:srgbClr val="F2A65A"/>
                </a:solidFill>
                <a:latin typeface="Arial"/>
              </a:rPr>
              <a:t>$1,386,201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itle"/>
          <p:cNvSpPr txBox="1"/>
          <p:nvPr/>
        </p:nvSpPr>
        <p:spPr>
          <a:xfrm>
            <a:off x="548640" y="411480"/>
            <a:ext cx="11094415" cy="430887"/>
          </a:xfrm>
          <a:prstGeom prst="rect">
            <a:avLst/>
          </a:prstGeom>
          <a:noFill/>
        </p:spPr>
        <p:txBody>
          <a:bodyPr wrap="square" lIns="0" tIns="0" rIns="0" bIns="0" anchor="t">
            <a:spAutoFit/>
          </a:bodyPr>
          <a:lstStyle/>
          <a:p>
            <a:pPr algn="ctr"/>
            <a:r>
              <a:rPr sz="2800" b="1" dirty="0">
                <a:solidFill>
                  <a:srgbClr val="14213D"/>
                </a:solidFill>
                <a:latin typeface="Arial"/>
              </a:rPr>
              <a:t>Year to date: $841,452 closed on $173,872 of ad spend</a:t>
            </a:r>
          </a:p>
        </p:txBody>
      </p:sp>
      <p:sp>
        <p:nvSpPr>
          <p:cNvPr id="4" name="Page number"/>
          <p:cNvSpPr txBox="1"/>
          <p:nvPr/>
        </p:nvSpPr>
        <p:spPr>
          <a:xfrm>
            <a:off x="11094415" y="6355080"/>
            <a:ext cx="548640" cy="274320"/>
          </a:xfrm>
          <a:prstGeom prst="rect">
            <a:avLst/>
          </a:prstGeom>
          <a:noFill/>
        </p:spPr>
        <p:txBody>
          <a:bodyPr wrap="square" lIns="0" tIns="0" rIns="0" bIns="0" anchor="t">
            <a:spAutoFit/>
          </a:bodyPr>
          <a:lstStyle/>
          <a:p>
            <a:pPr algn="r"/>
            <a:r>
              <a:rPr sz="1000" b="0">
                <a:solidFill>
                  <a:srgbClr val="5A6478"/>
                </a:solidFill>
                <a:latin typeface="Arial"/>
              </a:rPr>
              <a:t>5</a:t>
            </a:r>
          </a:p>
        </p:txBody>
      </p:sp>
      <p:sp>
        <p:nvSpPr>
          <p:cNvPr id="5" name="Stat Closed Revenue"/>
          <p:cNvSpPr/>
          <p:nvPr/>
        </p:nvSpPr>
        <p:spPr>
          <a:xfrm>
            <a:off x="548640" y="1417320"/>
            <a:ext cx="3515258" cy="2148840"/>
          </a:xfrm>
          <a:prstGeom prst="roundRect">
            <a:avLst>
              <a:gd name="adj" fmla="val 5000"/>
            </a:avLst>
          </a:prstGeom>
          <a:solidFill>
            <a:srgbClr val="FFFFFF"/>
          </a:solidFill>
          <a:ln w="9525">
            <a:solidFill>
              <a:srgbClr val="E2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691640"/>
            <a:ext cx="2875178" cy="274320"/>
          </a:xfrm>
          <a:prstGeom prst="rect">
            <a:avLst/>
          </a:prstGeom>
          <a:noFill/>
        </p:spPr>
        <p:txBody>
          <a:bodyPr wrap="square" lIns="0" tIns="0" rIns="0" bIns="0" anchor="t">
            <a:spAutoFit/>
          </a:bodyPr>
          <a:lstStyle/>
          <a:p>
            <a:pPr algn="l"/>
            <a:r>
              <a:rPr sz="1200" b="1">
                <a:solidFill>
                  <a:srgbClr val="5A6478"/>
                </a:solidFill>
                <a:latin typeface="Arial"/>
              </a:rPr>
              <a:t>CLOSED REVENUE</a:t>
            </a:r>
          </a:p>
        </p:txBody>
      </p:sp>
      <p:sp>
        <p:nvSpPr>
          <p:cNvPr id="7" name="TextBox 6"/>
          <p:cNvSpPr txBox="1"/>
          <p:nvPr/>
        </p:nvSpPr>
        <p:spPr>
          <a:xfrm>
            <a:off x="868680" y="2057400"/>
            <a:ext cx="2875178" cy="822960"/>
          </a:xfrm>
          <a:prstGeom prst="rect">
            <a:avLst/>
          </a:prstGeom>
          <a:noFill/>
        </p:spPr>
        <p:txBody>
          <a:bodyPr wrap="square" lIns="0" tIns="0" rIns="0" bIns="0" anchor="t">
            <a:spAutoFit/>
          </a:bodyPr>
          <a:lstStyle/>
          <a:p>
            <a:pPr algn="l"/>
            <a:r>
              <a:rPr sz="4800" b="1">
                <a:solidFill>
                  <a:srgbClr val="14213D"/>
                </a:solidFill>
                <a:latin typeface="Arial"/>
              </a:rPr>
              <a:t>$841K</a:t>
            </a:r>
          </a:p>
        </p:txBody>
      </p:sp>
      <p:sp>
        <p:nvSpPr>
          <p:cNvPr id="8" name="TextBox 7"/>
          <p:cNvSpPr txBox="1"/>
          <p:nvPr/>
        </p:nvSpPr>
        <p:spPr>
          <a:xfrm>
            <a:off x="868680" y="2971800"/>
            <a:ext cx="2875178" cy="365760"/>
          </a:xfrm>
          <a:prstGeom prst="rect">
            <a:avLst/>
          </a:prstGeom>
          <a:noFill/>
        </p:spPr>
        <p:txBody>
          <a:bodyPr wrap="square" lIns="0" tIns="0" rIns="0" bIns="0" anchor="t">
            <a:spAutoFit/>
          </a:bodyPr>
          <a:lstStyle/>
          <a:p>
            <a:pPr algn="l"/>
            <a:r>
              <a:rPr sz="1400" b="0">
                <a:solidFill>
                  <a:srgbClr val="5A6478"/>
                </a:solidFill>
                <a:latin typeface="Arial"/>
              </a:rPr>
              <a:t>$841,452</a:t>
            </a:r>
          </a:p>
        </p:txBody>
      </p:sp>
      <p:sp>
        <p:nvSpPr>
          <p:cNvPr id="9" name="Stat Unique Leads"/>
          <p:cNvSpPr/>
          <p:nvPr/>
        </p:nvSpPr>
        <p:spPr>
          <a:xfrm>
            <a:off x="4338218" y="1417320"/>
            <a:ext cx="3515258" cy="2148840"/>
          </a:xfrm>
          <a:prstGeom prst="roundRect">
            <a:avLst>
              <a:gd name="adj" fmla="val 5000"/>
            </a:avLst>
          </a:prstGeom>
          <a:solidFill>
            <a:srgbClr val="FFFFFF"/>
          </a:solidFill>
          <a:ln w="9525">
            <a:solidFill>
              <a:srgbClr val="E2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58258" y="1691640"/>
            <a:ext cx="2875178" cy="274320"/>
          </a:xfrm>
          <a:prstGeom prst="rect">
            <a:avLst/>
          </a:prstGeom>
          <a:noFill/>
        </p:spPr>
        <p:txBody>
          <a:bodyPr wrap="square" lIns="0" tIns="0" rIns="0" bIns="0" anchor="t">
            <a:spAutoFit/>
          </a:bodyPr>
          <a:lstStyle/>
          <a:p>
            <a:pPr algn="l"/>
            <a:r>
              <a:rPr sz="1200" b="1">
                <a:solidFill>
                  <a:srgbClr val="5A6478"/>
                </a:solidFill>
                <a:latin typeface="Arial"/>
              </a:rPr>
              <a:t>UNIQUE LEADS</a:t>
            </a:r>
          </a:p>
        </p:txBody>
      </p:sp>
      <p:sp>
        <p:nvSpPr>
          <p:cNvPr id="11" name="TextBox 10"/>
          <p:cNvSpPr txBox="1"/>
          <p:nvPr/>
        </p:nvSpPr>
        <p:spPr>
          <a:xfrm>
            <a:off x="4658258" y="2057400"/>
            <a:ext cx="2875178" cy="822960"/>
          </a:xfrm>
          <a:prstGeom prst="rect">
            <a:avLst/>
          </a:prstGeom>
          <a:noFill/>
        </p:spPr>
        <p:txBody>
          <a:bodyPr wrap="square" lIns="0" tIns="0" rIns="0" bIns="0" anchor="t">
            <a:spAutoFit/>
          </a:bodyPr>
          <a:lstStyle/>
          <a:p>
            <a:pPr algn="l"/>
            <a:r>
              <a:rPr sz="4800" b="1">
                <a:solidFill>
                  <a:srgbClr val="14213D"/>
                </a:solidFill>
                <a:latin typeface="Arial"/>
              </a:rPr>
              <a:t>3,613</a:t>
            </a:r>
          </a:p>
        </p:txBody>
      </p:sp>
      <p:sp>
        <p:nvSpPr>
          <p:cNvPr id="12" name="TextBox 11"/>
          <p:cNvSpPr txBox="1"/>
          <p:nvPr/>
        </p:nvSpPr>
        <p:spPr>
          <a:xfrm>
            <a:off x="4658258" y="2971800"/>
            <a:ext cx="2875178" cy="365760"/>
          </a:xfrm>
          <a:prstGeom prst="rect">
            <a:avLst/>
          </a:prstGeom>
          <a:noFill/>
        </p:spPr>
        <p:txBody>
          <a:bodyPr wrap="square" lIns="0" tIns="0" rIns="0" bIns="0" anchor="t">
            <a:spAutoFit/>
          </a:bodyPr>
          <a:lstStyle/>
          <a:p>
            <a:pPr algn="l"/>
            <a:r>
              <a:rPr sz="1400" b="0">
                <a:solidFill>
                  <a:srgbClr val="5A6478"/>
                </a:solidFill>
                <a:latin typeface="Arial"/>
              </a:rPr>
              <a:t>5,007 total calls and forms</a:t>
            </a:r>
          </a:p>
        </p:txBody>
      </p:sp>
      <p:sp>
        <p:nvSpPr>
          <p:cNvPr id="13" name="Stat Booked Jobs"/>
          <p:cNvSpPr/>
          <p:nvPr/>
        </p:nvSpPr>
        <p:spPr>
          <a:xfrm>
            <a:off x="8127796" y="1417320"/>
            <a:ext cx="3515258" cy="2148840"/>
          </a:xfrm>
          <a:prstGeom prst="roundRect">
            <a:avLst>
              <a:gd name="adj" fmla="val 5000"/>
            </a:avLst>
          </a:prstGeom>
          <a:solidFill>
            <a:srgbClr val="FFFFFF"/>
          </a:solidFill>
          <a:ln w="9525">
            <a:solidFill>
              <a:srgbClr val="E2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47836" y="1691640"/>
            <a:ext cx="2875178" cy="274320"/>
          </a:xfrm>
          <a:prstGeom prst="rect">
            <a:avLst/>
          </a:prstGeom>
          <a:noFill/>
        </p:spPr>
        <p:txBody>
          <a:bodyPr wrap="square" lIns="0" tIns="0" rIns="0" bIns="0" anchor="t">
            <a:spAutoFit/>
          </a:bodyPr>
          <a:lstStyle/>
          <a:p>
            <a:pPr algn="l"/>
            <a:r>
              <a:rPr sz="1200" b="1">
                <a:solidFill>
                  <a:srgbClr val="5A6478"/>
                </a:solidFill>
                <a:latin typeface="Arial"/>
              </a:rPr>
              <a:t>BOOKED JOBS</a:t>
            </a:r>
          </a:p>
        </p:txBody>
      </p:sp>
      <p:sp>
        <p:nvSpPr>
          <p:cNvPr id="15" name="TextBox 14"/>
          <p:cNvSpPr txBox="1"/>
          <p:nvPr/>
        </p:nvSpPr>
        <p:spPr>
          <a:xfrm>
            <a:off x="8447836" y="2057400"/>
            <a:ext cx="2875178" cy="822960"/>
          </a:xfrm>
          <a:prstGeom prst="rect">
            <a:avLst/>
          </a:prstGeom>
          <a:noFill/>
        </p:spPr>
        <p:txBody>
          <a:bodyPr wrap="square" lIns="0" tIns="0" rIns="0" bIns="0" anchor="t">
            <a:spAutoFit/>
          </a:bodyPr>
          <a:lstStyle/>
          <a:p>
            <a:pPr algn="l"/>
            <a:r>
              <a:rPr sz="4800" b="1">
                <a:solidFill>
                  <a:srgbClr val="14213D"/>
                </a:solidFill>
                <a:latin typeface="Arial"/>
              </a:rPr>
              <a:t>714</a:t>
            </a:r>
          </a:p>
        </p:txBody>
      </p:sp>
      <p:sp>
        <p:nvSpPr>
          <p:cNvPr id="16" name="TextBox 15"/>
          <p:cNvSpPr txBox="1"/>
          <p:nvPr/>
        </p:nvSpPr>
        <p:spPr>
          <a:xfrm>
            <a:off x="8447836" y="2971800"/>
            <a:ext cx="2875178" cy="365760"/>
          </a:xfrm>
          <a:prstGeom prst="rect">
            <a:avLst/>
          </a:prstGeom>
          <a:noFill/>
        </p:spPr>
        <p:txBody>
          <a:bodyPr wrap="square" lIns="0" tIns="0" rIns="0" bIns="0" anchor="t">
            <a:spAutoFit/>
          </a:bodyPr>
          <a:lstStyle/>
          <a:p>
            <a:pPr algn="l"/>
            <a:r>
              <a:rPr sz="1400" b="0">
                <a:solidFill>
                  <a:srgbClr val="5A6478"/>
                </a:solidFill>
                <a:latin typeface="Arial"/>
              </a:rPr>
              <a:t>20% of unique leads</a:t>
            </a:r>
          </a:p>
        </p:txBody>
      </p:sp>
      <p:sp>
        <p:nvSpPr>
          <p:cNvPr id="17" name="Stat Ad Spend"/>
          <p:cNvSpPr/>
          <p:nvPr/>
        </p:nvSpPr>
        <p:spPr>
          <a:xfrm>
            <a:off x="548640" y="3840480"/>
            <a:ext cx="3515258" cy="2148840"/>
          </a:xfrm>
          <a:prstGeom prst="roundRect">
            <a:avLst>
              <a:gd name="adj" fmla="val 5000"/>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 y="4114800"/>
            <a:ext cx="2875178" cy="274320"/>
          </a:xfrm>
          <a:prstGeom prst="rect">
            <a:avLst/>
          </a:prstGeom>
          <a:noFill/>
        </p:spPr>
        <p:txBody>
          <a:bodyPr wrap="square" lIns="0" tIns="0" rIns="0" bIns="0" anchor="t">
            <a:spAutoFit/>
          </a:bodyPr>
          <a:lstStyle/>
          <a:p>
            <a:pPr algn="l"/>
            <a:r>
              <a:rPr sz="1200" b="1">
                <a:solidFill>
                  <a:srgbClr val="C9D3E3"/>
                </a:solidFill>
                <a:latin typeface="Arial"/>
              </a:rPr>
              <a:t>AD SPEND</a:t>
            </a:r>
          </a:p>
        </p:txBody>
      </p:sp>
      <p:sp>
        <p:nvSpPr>
          <p:cNvPr id="19" name="TextBox 18"/>
          <p:cNvSpPr txBox="1"/>
          <p:nvPr/>
        </p:nvSpPr>
        <p:spPr>
          <a:xfrm>
            <a:off x="868680" y="4480560"/>
            <a:ext cx="2875178" cy="822960"/>
          </a:xfrm>
          <a:prstGeom prst="rect">
            <a:avLst/>
          </a:prstGeom>
          <a:noFill/>
        </p:spPr>
        <p:txBody>
          <a:bodyPr wrap="square" lIns="0" tIns="0" rIns="0" bIns="0" anchor="t">
            <a:spAutoFit/>
          </a:bodyPr>
          <a:lstStyle/>
          <a:p>
            <a:pPr algn="l"/>
            <a:r>
              <a:rPr sz="4800" b="1">
                <a:solidFill>
                  <a:srgbClr val="F7F6F2"/>
                </a:solidFill>
                <a:latin typeface="Arial"/>
              </a:rPr>
              <a:t>$174K</a:t>
            </a:r>
          </a:p>
        </p:txBody>
      </p:sp>
      <p:sp>
        <p:nvSpPr>
          <p:cNvPr id="20" name="TextBox 19"/>
          <p:cNvSpPr txBox="1"/>
          <p:nvPr/>
        </p:nvSpPr>
        <p:spPr>
          <a:xfrm>
            <a:off x="868680" y="5394960"/>
            <a:ext cx="2875178" cy="365760"/>
          </a:xfrm>
          <a:prstGeom prst="rect">
            <a:avLst/>
          </a:prstGeom>
          <a:noFill/>
        </p:spPr>
        <p:txBody>
          <a:bodyPr wrap="square" lIns="0" tIns="0" rIns="0" bIns="0" anchor="t">
            <a:spAutoFit/>
          </a:bodyPr>
          <a:lstStyle/>
          <a:p>
            <a:pPr algn="l"/>
            <a:r>
              <a:rPr sz="1400" b="0">
                <a:solidFill>
                  <a:srgbClr val="C9D3E3"/>
                </a:solidFill>
                <a:latin typeface="Arial"/>
              </a:rPr>
              <a:t>$173,872</a:t>
            </a:r>
          </a:p>
        </p:txBody>
      </p:sp>
      <p:sp>
        <p:nvSpPr>
          <p:cNvPr id="21" name="Stat Cost Per Booked Job"/>
          <p:cNvSpPr/>
          <p:nvPr/>
        </p:nvSpPr>
        <p:spPr>
          <a:xfrm>
            <a:off x="4338218" y="3840480"/>
            <a:ext cx="3515258" cy="2148840"/>
          </a:xfrm>
          <a:prstGeom prst="roundRect">
            <a:avLst>
              <a:gd name="adj" fmla="val 5000"/>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58258" y="4114800"/>
            <a:ext cx="2875178" cy="274320"/>
          </a:xfrm>
          <a:prstGeom prst="rect">
            <a:avLst/>
          </a:prstGeom>
          <a:noFill/>
        </p:spPr>
        <p:txBody>
          <a:bodyPr wrap="square" lIns="0" tIns="0" rIns="0" bIns="0" anchor="t">
            <a:spAutoFit/>
          </a:bodyPr>
          <a:lstStyle/>
          <a:p>
            <a:pPr algn="l"/>
            <a:r>
              <a:rPr sz="1200" b="1">
                <a:solidFill>
                  <a:srgbClr val="C9D3E3"/>
                </a:solidFill>
                <a:latin typeface="Arial"/>
              </a:rPr>
              <a:t>COST PER BOOKED JOB</a:t>
            </a:r>
          </a:p>
        </p:txBody>
      </p:sp>
      <p:sp>
        <p:nvSpPr>
          <p:cNvPr id="23" name="TextBox 22"/>
          <p:cNvSpPr txBox="1"/>
          <p:nvPr/>
        </p:nvSpPr>
        <p:spPr>
          <a:xfrm>
            <a:off x="4658258" y="4480560"/>
            <a:ext cx="2875178" cy="822960"/>
          </a:xfrm>
          <a:prstGeom prst="rect">
            <a:avLst/>
          </a:prstGeom>
          <a:noFill/>
        </p:spPr>
        <p:txBody>
          <a:bodyPr wrap="square" lIns="0" tIns="0" rIns="0" bIns="0" anchor="t">
            <a:spAutoFit/>
          </a:bodyPr>
          <a:lstStyle/>
          <a:p>
            <a:pPr algn="l"/>
            <a:r>
              <a:rPr sz="4800" b="1">
                <a:solidFill>
                  <a:srgbClr val="F7F6F2"/>
                </a:solidFill>
                <a:latin typeface="Arial"/>
              </a:rPr>
              <a:t>$244</a:t>
            </a:r>
          </a:p>
        </p:txBody>
      </p:sp>
      <p:sp>
        <p:nvSpPr>
          <p:cNvPr id="24" name="TextBox 23"/>
          <p:cNvSpPr txBox="1"/>
          <p:nvPr/>
        </p:nvSpPr>
        <p:spPr>
          <a:xfrm>
            <a:off x="4658258" y="5394960"/>
            <a:ext cx="2875178" cy="365760"/>
          </a:xfrm>
          <a:prstGeom prst="rect">
            <a:avLst/>
          </a:prstGeom>
          <a:noFill/>
        </p:spPr>
        <p:txBody>
          <a:bodyPr wrap="square" lIns="0" tIns="0" rIns="0" bIns="0" anchor="t">
            <a:spAutoFit/>
          </a:bodyPr>
          <a:lstStyle/>
          <a:p>
            <a:pPr algn="l"/>
            <a:r>
              <a:rPr sz="1400" b="0">
                <a:solidFill>
                  <a:srgbClr val="C9D3E3"/>
                </a:solidFill>
                <a:latin typeface="Arial"/>
              </a:rPr>
              <a:t>$48 per unique lead</a:t>
            </a:r>
          </a:p>
        </p:txBody>
      </p:sp>
      <p:sp>
        <p:nvSpPr>
          <p:cNvPr id="25" name="Stat Return On Ad Spend"/>
          <p:cNvSpPr/>
          <p:nvPr/>
        </p:nvSpPr>
        <p:spPr>
          <a:xfrm>
            <a:off x="8127796" y="3840480"/>
            <a:ext cx="3515258" cy="2148840"/>
          </a:xfrm>
          <a:prstGeom prst="roundRect">
            <a:avLst>
              <a:gd name="adj" fmla="val 5000"/>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47836" y="4114800"/>
            <a:ext cx="2875178" cy="274320"/>
          </a:xfrm>
          <a:prstGeom prst="rect">
            <a:avLst/>
          </a:prstGeom>
          <a:noFill/>
        </p:spPr>
        <p:txBody>
          <a:bodyPr wrap="square" lIns="0" tIns="0" rIns="0" bIns="0" anchor="t">
            <a:spAutoFit/>
          </a:bodyPr>
          <a:lstStyle/>
          <a:p>
            <a:pPr algn="l"/>
            <a:r>
              <a:rPr sz="1200" b="1">
                <a:solidFill>
                  <a:srgbClr val="C9D3E3"/>
                </a:solidFill>
                <a:latin typeface="Arial"/>
              </a:rPr>
              <a:t>RETURN ON AD SPEND</a:t>
            </a:r>
          </a:p>
        </p:txBody>
      </p:sp>
      <p:sp>
        <p:nvSpPr>
          <p:cNvPr id="27" name="TextBox 26"/>
          <p:cNvSpPr txBox="1"/>
          <p:nvPr/>
        </p:nvSpPr>
        <p:spPr>
          <a:xfrm>
            <a:off x="8447836" y="4480560"/>
            <a:ext cx="2875178" cy="822960"/>
          </a:xfrm>
          <a:prstGeom prst="rect">
            <a:avLst/>
          </a:prstGeom>
          <a:noFill/>
        </p:spPr>
        <p:txBody>
          <a:bodyPr wrap="square" lIns="0" tIns="0" rIns="0" bIns="0" anchor="t">
            <a:spAutoFit/>
          </a:bodyPr>
          <a:lstStyle/>
          <a:p>
            <a:pPr algn="l"/>
            <a:r>
              <a:rPr sz="4800" b="1">
                <a:solidFill>
                  <a:srgbClr val="F2A65A"/>
                </a:solidFill>
                <a:latin typeface="Arial"/>
              </a:rPr>
              <a:t>4.8x</a:t>
            </a:r>
          </a:p>
        </p:txBody>
      </p:sp>
      <p:sp>
        <p:nvSpPr>
          <p:cNvPr id="28" name="TextBox 27"/>
          <p:cNvSpPr txBox="1"/>
          <p:nvPr/>
        </p:nvSpPr>
        <p:spPr>
          <a:xfrm>
            <a:off x="8447836" y="5394960"/>
            <a:ext cx="2875178" cy="365760"/>
          </a:xfrm>
          <a:prstGeom prst="rect">
            <a:avLst/>
          </a:prstGeom>
          <a:noFill/>
        </p:spPr>
        <p:txBody>
          <a:bodyPr wrap="square" lIns="0" tIns="0" rIns="0" bIns="0" anchor="t">
            <a:spAutoFit/>
          </a:bodyPr>
          <a:lstStyle/>
          <a:p>
            <a:pPr algn="l"/>
            <a:r>
              <a:rPr sz="1400" b="0">
                <a:solidFill>
                  <a:srgbClr val="C9D3E3"/>
                </a:solidFill>
                <a:latin typeface="Arial"/>
              </a:rPr>
              <a:t>All closed revenue ÷ ad spend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itle"/>
          <p:cNvSpPr txBox="1"/>
          <p:nvPr/>
        </p:nvSpPr>
        <p:spPr>
          <a:xfrm>
            <a:off x="548640" y="411480"/>
            <a:ext cx="11094415" cy="430887"/>
          </a:xfrm>
          <a:prstGeom prst="rect">
            <a:avLst/>
          </a:prstGeom>
          <a:noFill/>
        </p:spPr>
        <p:txBody>
          <a:bodyPr wrap="square" lIns="0" tIns="0" rIns="0" bIns="0">
            <a:spAutoFit/>
          </a:bodyPr>
          <a:lstStyle/>
          <a:p>
            <a:pPr algn="ctr"/>
            <a:r>
              <a:rPr lang="en-US" sz="2800" b="1" dirty="0">
                <a:solidFill>
                  <a:srgbClr val="14213D"/>
                </a:solidFill>
                <a:latin typeface="Arial"/>
              </a:rPr>
              <a:t>Total Company </a:t>
            </a:r>
            <a:r>
              <a:rPr sz="2800" b="1" dirty="0">
                <a:solidFill>
                  <a:srgbClr val="14213D"/>
                </a:solidFill>
                <a:latin typeface="Arial"/>
              </a:rPr>
              <a:t>Residential Growth</a:t>
            </a:r>
          </a:p>
        </p:txBody>
      </p:sp>
      <p:sp>
        <p:nvSpPr>
          <p:cNvPr id="3" name="Subtitle"/>
          <p:cNvSpPr txBox="1"/>
          <p:nvPr/>
        </p:nvSpPr>
        <p:spPr>
          <a:xfrm>
            <a:off x="228599" y="956667"/>
            <a:ext cx="11094415" cy="276999"/>
          </a:xfrm>
          <a:prstGeom prst="rect">
            <a:avLst/>
          </a:prstGeom>
          <a:noFill/>
        </p:spPr>
        <p:txBody>
          <a:bodyPr wrap="square" lIns="0" tIns="0" rIns="0" bIns="0">
            <a:spAutoFit/>
          </a:bodyPr>
          <a:lstStyle/>
          <a:p>
            <a:pPr algn="ctr"/>
            <a:r>
              <a:rPr sz="1800" b="1" dirty="0">
                <a:solidFill>
                  <a:srgbClr val="1F6676"/>
                </a:solidFill>
                <a:latin typeface="Arial"/>
              </a:rPr>
              <a:t>Jan 1 – Oct 23, 2026</a:t>
            </a:r>
          </a:p>
        </p:txBody>
      </p:sp>
      <p:sp>
        <p:nvSpPr>
          <p:cNvPr id="4" name="Stat Total Charleston &amp; Myrtle Beach Revenue"/>
          <p:cNvSpPr/>
          <p:nvPr/>
        </p:nvSpPr>
        <p:spPr>
          <a:xfrm>
            <a:off x="548640" y="1874519"/>
            <a:ext cx="3515258" cy="2560320"/>
          </a:xfrm>
          <a:prstGeom prst="roundRect">
            <a:avLst>
              <a:gd name="adj" fmla="val 5000"/>
            </a:avLst>
          </a:prstGeom>
          <a:solidFill>
            <a:srgbClr val="FFFFFF"/>
          </a:solidFill>
          <a:ln w="9525">
            <a:solidFill>
              <a:srgbClr val="E2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
          <p:cNvSpPr txBox="1"/>
          <p:nvPr/>
        </p:nvSpPr>
        <p:spPr>
          <a:xfrm>
            <a:off x="868680" y="2194560"/>
            <a:ext cx="2875178" cy="548640"/>
          </a:xfrm>
          <a:prstGeom prst="rect">
            <a:avLst/>
          </a:prstGeom>
          <a:noFill/>
        </p:spPr>
        <p:txBody>
          <a:bodyPr wrap="square" lIns="0" tIns="0" rIns="0" bIns="0">
            <a:spAutoFit/>
          </a:bodyPr>
          <a:lstStyle/>
          <a:p>
            <a:pPr algn="l"/>
            <a:r>
              <a:rPr sz="1200" b="1">
                <a:solidFill>
                  <a:srgbClr val="5A6478"/>
                </a:solidFill>
                <a:latin typeface="Arial"/>
              </a:rPr>
              <a:t>TOTAL CHARLESTON &amp; MYRTLE BEACH REVENUE</a:t>
            </a:r>
          </a:p>
        </p:txBody>
      </p:sp>
      <p:sp>
        <p:nvSpPr>
          <p:cNvPr id="6" name="Text"/>
          <p:cNvSpPr txBox="1"/>
          <p:nvPr/>
        </p:nvSpPr>
        <p:spPr>
          <a:xfrm>
            <a:off x="868680" y="2926079"/>
            <a:ext cx="2875178" cy="914400"/>
          </a:xfrm>
          <a:prstGeom prst="rect">
            <a:avLst/>
          </a:prstGeom>
          <a:noFill/>
        </p:spPr>
        <p:txBody>
          <a:bodyPr wrap="square" lIns="0" tIns="0" rIns="0" bIns="0">
            <a:spAutoFit/>
          </a:bodyPr>
          <a:lstStyle/>
          <a:p>
            <a:pPr algn="l"/>
            <a:r>
              <a:rPr sz="4000" b="1">
                <a:solidFill>
                  <a:srgbClr val="14213D"/>
                </a:solidFill>
                <a:latin typeface="Arial"/>
              </a:rPr>
              <a:t>$5,228,176</a:t>
            </a:r>
          </a:p>
        </p:txBody>
      </p:sp>
      <p:sp>
        <p:nvSpPr>
          <p:cNvPr id="7" name="Stat Total Company Marketing Revenue"/>
          <p:cNvSpPr/>
          <p:nvPr/>
        </p:nvSpPr>
        <p:spPr>
          <a:xfrm>
            <a:off x="4338218" y="1874519"/>
            <a:ext cx="3515258" cy="2560320"/>
          </a:xfrm>
          <a:prstGeom prst="roundRect">
            <a:avLst>
              <a:gd name="adj" fmla="val 5000"/>
            </a:avLst>
          </a:prstGeom>
          <a:solidFill>
            <a:srgbClr val="FFFFFF"/>
          </a:solidFill>
          <a:ln w="9525">
            <a:solidFill>
              <a:srgbClr val="E2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
          <p:cNvSpPr txBox="1"/>
          <p:nvPr/>
        </p:nvSpPr>
        <p:spPr>
          <a:xfrm>
            <a:off x="4658258" y="2194560"/>
            <a:ext cx="2875178" cy="548640"/>
          </a:xfrm>
          <a:prstGeom prst="rect">
            <a:avLst/>
          </a:prstGeom>
          <a:noFill/>
        </p:spPr>
        <p:txBody>
          <a:bodyPr wrap="square" lIns="0" tIns="0" rIns="0" bIns="0">
            <a:spAutoFit/>
          </a:bodyPr>
          <a:lstStyle/>
          <a:p>
            <a:pPr algn="l"/>
            <a:r>
              <a:rPr sz="1200" b="1">
                <a:solidFill>
                  <a:srgbClr val="5A6478"/>
                </a:solidFill>
                <a:latin typeface="Arial"/>
              </a:rPr>
              <a:t>TOTAL COMPANY MARKETING REVENUE</a:t>
            </a:r>
          </a:p>
        </p:txBody>
      </p:sp>
      <p:sp>
        <p:nvSpPr>
          <p:cNvPr id="9" name="Text"/>
          <p:cNvSpPr txBox="1"/>
          <p:nvPr/>
        </p:nvSpPr>
        <p:spPr>
          <a:xfrm>
            <a:off x="4658258" y="2926079"/>
            <a:ext cx="2875178" cy="914400"/>
          </a:xfrm>
          <a:prstGeom prst="rect">
            <a:avLst/>
          </a:prstGeom>
          <a:noFill/>
        </p:spPr>
        <p:txBody>
          <a:bodyPr wrap="square" lIns="0" tIns="0" rIns="0" bIns="0">
            <a:spAutoFit/>
          </a:bodyPr>
          <a:lstStyle/>
          <a:p>
            <a:pPr algn="l"/>
            <a:r>
              <a:rPr sz="4000" b="1">
                <a:solidFill>
                  <a:srgbClr val="14213D"/>
                </a:solidFill>
                <a:latin typeface="Arial"/>
              </a:rPr>
              <a:t>$1,404,507</a:t>
            </a:r>
          </a:p>
        </p:txBody>
      </p:sp>
      <p:sp>
        <p:nvSpPr>
          <p:cNvPr id="10" name="Stat Marketing Contribution"/>
          <p:cNvSpPr/>
          <p:nvPr/>
        </p:nvSpPr>
        <p:spPr>
          <a:xfrm>
            <a:off x="8127796" y="1874519"/>
            <a:ext cx="3515258" cy="2560320"/>
          </a:xfrm>
          <a:prstGeom prst="roundRect">
            <a:avLst>
              <a:gd name="adj" fmla="val 5000"/>
            </a:avLst>
          </a:prstGeom>
          <a:solidFill>
            <a:srgbClr val="14213D"/>
          </a:solidFill>
          <a:ln w="9525">
            <a:solidFill>
              <a:srgbClr val="142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
          <p:cNvSpPr txBox="1"/>
          <p:nvPr/>
        </p:nvSpPr>
        <p:spPr>
          <a:xfrm>
            <a:off x="8447836" y="2194560"/>
            <a:ext cx="2875178" cy="548640"/>
          </a:xfrm>
          <a:prstGeom prst="rect">
            <a:avLst/>
          </a:prstGeom>
          <a:noFill/>
        </p:spPr>
        <p:txBody>
          <a:bodyPr wrap="square" lIns="0" tIns="0" rIns="0" bIns="0">
            <a:spAutoFit/>
          </a:bodyPr>
          <a:lstStyle/>
          <a:p>
            <a:pPr algn="l"/>
            <a:r>
              <a:rPr sz="1200" b="1">
                <a:solidFill>
                  <a:srgbClr val="C9D3E3"/>
                </a:solidFill>
                <a:latin typeface="Arial"/>
              </a:rPr>
              <a:t>MARKETING CONTRIBUTION</a:t>
            </a:r>
          </a:p>
        </p:txBody>
      </p:sp>
      <p:sp>
        <p:nvSpPr>
          <p:cNvPr id="12" name="Text"/>
          <p:cNvSpPr txBox="1"/>
          <p:nvPr/>
        </p:nvSpPr>
        <p:spPr>
          <a:xfrm>
            <a:off x="8447836" y="2926079"/>
            <a:ext cx="2875178" cy="914400"/>
          </a:xfrm>
          <a:prstGeom prst="rect">
            <a:avLst/>
          </a:prstGeom>
          <a:noFill/>
        </p:spPr>
        <p:txBody>
          <a:bodyPr wrap="square" lIns="0" tIns="0" rIns="0" bIns="0">
            <a:spAutoFit/>
          </a:bodyPr>
          <a:lstStyle/>
          <a:p>
            <a:pPr algn="l"/>
            <a:r>
              <a:rPr sz="4000" b="1">
                <a:solidFill>
                  <a:srgbClr val="F2A65A"/>
                </a:solidFill>
                <a:latin typeface="Arial"/>
              </a:rPr>
              <a:t>27%</a:t>
            </a:r>
          </a:p>
        </p:txBody>
      </p:sp>
      <p:sp>
        <p:nvSpPr>
          <p:cNvPr id="15" name="Page number"/>
          <p:cNvSpPr txBox="1"/>
          <p:nvPr/>
        </p:nvSpPr>
        <p:spPr>
          <a:xfrm>
            <a:off x="11094415" y="6355080"/>
            <a:ext cx="548640" cy="274320"/>
          </a:xfrm>
          <a:prstGeom prst="rect">
            <a:avLst/>
          </a:prstGeom>
          <a:noFill/>
        </p:spPr>
        <p:txBody>
          <a:bodyPr wrap="square" lIns="0" tIns="0" rIns="0" bIns="0">
            <a:spAutoFit/>
          </a:bodyPr>
          <a:lstStyle/>
          <a:p>
            <a:pPr algn="r"/>
            <a:r>
              <a:rPr sz="1000" b="0">
                <a:solidFill>
                  <a:srgbClr val="5A6478"/>
                </a:solidFill>
                <a:latin typeface="Arial"/>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itle"/>
          <p:cNvSpPr txBox="1"/>
          <p:nvPr/>
        </p:nvSpPr>
        <p:spPr>
          <a:xfrm>
            <a:off x="457200" y="411480"/>
            <a:ext cx="11185855" cy="430887"/>
          </a:xfrm>
          <a:prstGeom prst="rect">
            <a:avLst/>
          </a:prstGeom>
          <a:noFill/>
        </p:spPr>
        <p:txBody>
          <a:bodyPr wrap="square" lIns="0" tIns="0" rIns="0" bIns="0">
            <a:spAutoFit/>
          </a:bodyPr>
          <a:lstStyle/>
          <a:p>
            <a:pPr algn="ctr"/>
            <a:r>
              <a:rPr sz="2800" b="1" dirty="0">
                <a:solidFill>
                  <a:srgbClr val="14213D"/>
                </a:solidFill>
                <a:latin typeface="Arial"/>
              </a:rPr>
              <a:t>Charleston Marketing</a:t>
            </a:r>
          </a:p>
        </p:txBody>
      </p:sp>
      <p:sp>
        <p:nvSpPr>
          <p:cNvPr id="3" name="Subtitle"/>
          <p:cNvSpPr txBox="1"/>
          <p:nvPr/>
        </p:nvSpPr>
        <p:spPr>
          <a:xfrm>
            <a:off x="548640" y="960120"/>
            <a:ext cx="11094415" cy="276999"/>
          </a:xfrm>
          <a:prstGeom prst="rect">
            <a:avLst/>
          </a:prstGeom>
          <a:noFill/>
        </p:spPr>
        <p:txBody>
          <a:bodyPr wrap="square" lIns="0" tIns="0" rIns="0" bIns="0">
            <a:spAutoFit/>
          </a:bodyPr>
          <a:lstStyle/>
          <a:p>
            <a:pPr algn="ctr"/>
            <a:r>
              <a:rPr sz="1800" b="1" dirty="0">
                <a:solidFill>
                  <a:srgbClr val="1F6676"/>
                </a:solidFill>
                <a:latin typeface="Arial"/>
              </a:rPr>
              <a:t>ROI Marketing</a:t>
            </a:r>
          </a:p>
        </p:txBody>
      </p:sp>
      <p:sp>
        <p:nvSpPr>
          <p:cNvPr id="4" name="Period"/>
          <p:cNvSpPr txBox="1"/>
          <p:nvPr/>
        </p:nvSpPr>
        <p:spPr>
          <a:xfrm>
            <a:off x="548640" y="1371600"/>
            <a:ext cx="11094415" cy="215444"/>
          </a:xfrm>
          <a:prstGeom prst="rect">
            <a:avLst/>
          </a:prstGeom>
          <a:noFill/>
        </p:spPr>
        <p:txBody>
          <a:bodyPr wrap="square" lIns="0" tIns="0" rIns="0" bIns="0">
            <a:spAutoFit/>
          </a:bodyPr>
          <a:lstStyle/>
          <a:p>
            <a:pPr algn="ctr"/>
            <a:r>
              <a:rPr sz="1400" b="1" dirty="0">
                <a:solidFill>
                  <a:srgbClr val="5A6478"/>
                </a:solidFill>
                <a:latin typeface="Arial"/>
              </a:rPr>
              <a:t>APRIL – SEPTEMBER 2026</a:t>
            </a:r>
          </a:p>
        </p:txBody>
      </p:sp>
      <p:sp>
        <p:nvSpPr>
          <p:cNvPr id="5" name="Stat Ad Spend"/>
          <p:cNvSpPr/>
          <p:nvPr/>
        </p:nvSpPr>
        <p:spPr>
          <a:xfrm>
            <a:off x="548640" y="1874519"/>
            <a:ext cx="3515258" cy="1828800"/>
          </a:xfrm>
          <a:prstGeom prst="roundRect">
            <a:avLst>
              <a:gd name="adj" fmla="val 5000"/>
            </a:avLst>
          </a:prstGeom>
          <a:solidFill>
            <a:srgbClr val="FFFFFF"/>
          </a:solidFill>
          <a:ln w="9525">
            <a:solidFill>
              <a:srgbClr val="E2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
          <p:cNvSpPr txBox="1"/>
          <p:nvPr/>
        </p:nvSpPr>
        <p:spPr>
          <a:xfrm>
            <a:off x="868680" y="2148839"/>
            <a:ext cx="2875178" cy="274320"/>
          </a:xfrm>
          <a:prstGeom prst="rect">
            <a:avLst/>
          </a:prstGeom>
          <a:noFill/>
        </p:spPr>
        <p:txBody>
          <a:bodyPr wrap="square" lIns="0" tIns="0" rIns="0" bIns="0">
            <a:spAutoFit/>
          </a:bodyPr>
          <a:lstStyle/>
          <a:p>
            <a:pPr algn="l"/>
            <a:r>
              <a:rPr sz="1200" b="1">
                <a:solidFill>
                  <a:srgbClr val="5A6478"/>
                </a:solidFill>
                <a:latin typeface="Arial"/>
              </a:rPr>
              <a:t>AD SPEND</a:t>
            </a:r>
          </a:p>
        </p:txBody>
      </p:sp>
      <p:sp>
        <p:nvSpPr>
          <p:cNvPr id="7" name="Text"/>
          <p:cNvSpPr txBox="1"/>
          <p:nvPr/>
        </p:nvSpPr>
        <p:spPr>
          <a:xfrm>
            <a:off x="868680" y="2560320"/>
            <a:ext cx="2875178" cy="822960"/>
          </a:xfrm>
          <a:prstGeom prst="rect">
            <a:avLst/>
          </a:prstGeom>
          <a:noFill/>
        </p:spPr>
        <p:txBody>
          <a:bodyPr wrap="square" lIns="0" tIns="0" rIns="0" bIns="0">
            <a:spAutoFit/>
          </a:bodyPr>
          <a:lstStyle/>
          <a:p>
            <a:pPr algn="l"/>
            <a:r>
              <a:rPr sz="4400" b="1">
                <a:solidFill>
                  <a:srgbClr val="14213D"/>
                </a:solidFill>
                <a:latin typeface="Arial"/>
              </a:rPr>
              <a:t>$144,496</a:t>
            </a:r>
          </a:p>
        </p:txBody>
      </p:sp>
      <p:sp>
        <p:nvSpPr>
          <p:cNvPr id="8" name="Stat Booked Jobs"/>
          <p:cNvSpPr/>
          <p:nvPr/>
        </p:nvSpPr>
        <p:spPr>
          <a:xfrm>
            <a:off x="4338218" y="1874519"/>
            <a:ext cx="3515258" cy="1828800"/>
          </a:xfrm>
          <a:prstGeom prst="roundRect">
            <a:avLst>
              <a:gd name="adj" fmla="val 5000"/>
            </a:avLst>
          </a:prstGeom>
          <a:solidFill>
            <a:srgbClr val="FFFFFF"/>
          </a:solidFill>
          <a:ln w="9525">
            <a:solidFill>
              <a:srgbClr val="E2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
          <p:cNvSpPr txBox="1"/>
          <p:nvPr/>
        </p:nvSpPr>
        <p:spPr>
          <a:xfrm>
            <a:off x="4658258" y="2148839"/>
            <a:ext cx="2875178" cy="274320"/>
          </a:xfrm>
          <a:prstGeom prst="rect">
            <a:avLst/>
          </a:prstGeom>
          <a:noFill/>
        </p:spPr>
        <p:txBody>
          <a:bodyPr wrap="square" lIns="0" tIns="0" rIns="0" bIns="0">
            <a:spAutoFit/>
          </a:bodyPr>
          <a:lstStyle/>
          <a:p>
            <a:pPr algn="l"/>
            <a:r>
              <a:rPr sz="1200" b="1">
                <a:solidFill>
                  <a:srgbClr val="5A6478"/>
                </a:solidFill>
                <a:latin typeface="Arial"/>
              </a:rPr>
              <a:t>BOOKED JOBS</a:t>
            </a:r>
          </a:p>
        </p:txBody>
      </p:sp>
      <p:sp>
        <p:nvSpPr>
          <p:cNvPr id="10" name="Text"/>
          <p:cNvSpPr txBox="1"/>
          <p:nvPr/>
        </p:nvSpPr>
        <p:spPr>
          <a:xfrm>
            <a:off x="4658258" y="2560320"/>
            <a:ext cx="2875178" cy="822960"/>
          </a:xfrm>
          <a:prstGeom prst="rect">
            <a:avLst/>
          </a:prstGeom>
          <a:noFill/>
        </p:spPr>
        <p:txBody>
          <a:bodyPr wrap="square" lIns="0" tIns="0" rIns="0" bIns="0">
            <a:spAutoFit/>
          </a:bodyPr>
          <a:lstStyle/>
          <a:p>
            <a:pPr algn="l"/>
            <a:r>
              <a:rPr sz="4400" b="1">
                <a:solidFill>
                  <a:srgbClr val="14213D"/>
                </a:solidFill>
                <a:latin typeface="Arial"/>
              </a:rPr>
              <a:t>346</a:t>
            </a:r>
          </a:p>
        </p:txBody>
      </p:sp>
      <p:sp>
        <p:nvSpPr>
          <p:cNvPr id="11" name="Stat Revenue"/>
          <p:cNvSpPr/>
          <p:nvPr/>
        </p:nvSpPr>
        <p:spPr>
          <a:xfrm>
            <a:off x="8127796" y="1874519"/>
            <a:ext cx="3515258" cy="1828800"/>
          </a:xfrm>
          <a:prstGeom prst="roundRect">
            <a:avLst>
              <a:gd name="adj" fmla="val 5000"/>
            </a:avLst>
          </a:prstGeom>
          <a:solidFill>
            <a:srgbClr val="FFFFFF"/>
          </a:solidFill>
          <a:ln w="9525">
            <a:solidFill>
              <a:srgbClr val="E2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
          <p:cNvSpPr txBox="1"/>
          <p:nvPr/>
        </p:nvSpPr>
        <p:spPr>
          <a:xfrm>
            <a:off x="8447836" y="2148839"/>
            <a:ext cx="2875178" cy="274320"/>
          </a:xfrm>
          <a:prstGeom prst="rect">
            <a:avLst/>
          </a:prstGeom>
          <a:noFill/>
        </p:spPr>
        <p:txBody>
          <a:bodyPr wrap="square" lIns="0" tIns="0" rIns="0" bIns="0">
            <a:spAutoFit/>
          </a:bodyPr>
          <a:lstStyle/>
          <a:p>
            <a:pPr algn="l"/>
            <a:r>
              <a:rPr sz="1200" b="1">
                <a:solidFill>
                  <a:srgbClr val="5A6478"/>
                </a:solidFill>
                <a:latin typeface="Arial"/>
              </a:rPr>
              <a:t>REVENUE</a:t>
            </a:r>
          </a:p>
        </p:txBody>
      </p:sp>
      <p:sp>
        <p:nvSpPr>
          <p:cNvPr id="13" name="Text"/>
          <p:cNvSpPr txBox="1"/>
          <p:nvPr/>
        </p:nvSpPr>
        <p:spPr>
          <a:xfrm>
            <a:off x="8447836" y="2560320"/>
            <a:ext cx="2875178" cy="822960"/>
          </a:xfrm>
          <a:prstGeom prst="rect">
            <a:avLst/>
          </a:prstGeom>
          <a:noFill/>
        </p:spPr>
        <p:txBody>
          <a:bodyPr wrap="square" lIns="0" tIns="0" rIns="0" bIns="0">
            <a:spAutoFit/>
          </a:bodyPr>
          <a:lstStyle/>
          <a:p>
            <a:pPr algn="l"/>
            <a:r>
              <a:rPr sz="4400" b="1">
                <a:solidFill>
                  <a:srgbClr val="14213D"/>
                </a:solidFill>
                <a:latin typeface="Arial"/>
              </a:rPr>
              <a:t>$244,807</a:t>
            </a:r>
          </a:p>
        </p:txBody>
      </p:sp>
      <p:sp>
        <p:nvSpPr>
          <p:cNvPr id="14" name="Stat Qualified Leads"/>
          <p:cNvSpPr/>
          <p:nvPr/>
        </p:nvSpPr>
        <p:spPr>
          <a:xfrm>
            <a:off x="548640" y="3977639"/>
            <a:ext cx="5410047" cy="1828800"/>
          </a:xfrm>
          <a:prstGeom prst="roundRect">
            <a:avLst>
              <a:gd name="adj" fmla="val 5000"/>
            </a:avLst>
          </a:prstGeom>
          <a:solidFill>
            <a:srgbClr val="14213D"/>
          </a:solidFill>
          <a:ln w="9525">
            <a:solidFill>
              <a:srgbClr val="142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
          <p:cNvSpPr txBox="1"/>
          <p:nvPr/>
        </p:nvSpPr>
        <p:spPr>
          <a:xfrm>
            <a:off x="868680" y="4251959"/>
            <a:ext cx="4769967" cy="274320"/>
          </a:xfrm>
          <a:prstGeom prst="rect">
            <a:avLst/>
          </a:prstGeom>
          <a:noFill/>
        </p:spPr>
        <p:txBody>
          <a:bodyPr wrap="square" lIns="0" tIns="0" rIns="0" bIns="0">
            <a:spAutoFit/>
          </a:bodyPr>
          <a:lstStyle/>
          <a:p>
            <a:pPr algn="l"/>
            <a:r>
              <a:rPr sz="1200" b="1">
                <a:solidFill>
                  <a:srgbClr val="C9D3E3"/>
                </a:solidFill>
                <a:latin typeface="Arial"/>
              </a:rPr>
              <a:t>QUALIFIED LEADS</a:t>
            </a:r>
          </a:p>
        </p:txBody>
      </p:sp>
      <p:sp>
        <p:nvSpPr>
          <p:cNvPr id="16" name="Text"/>
          <p:cNvSpPr txBox="1"/>
          <p:nvPr/>
        </p:nvSpPr>
        <p:spPr>
          <a:xfrm>
            <a:off x="868680" y="4663440"/>
            <a:ext cx="4769967" cy="822960"/>
          </a:xfrm>
          <a:prstGeom prst="rect">
            <a:avLst/>
          </a:prstGeom>
          <a:noFill/>
        </p:spPr>
        <p:txBody>
          <a:bodyPr wrap="square" lIns="0" tIns="0" rIns="0" bIns="0">
            <a:spAutoFit/>
          </a:bodyPr>
          <a:lstStyle/>
          <a:p>
            <a:pPr algn="l"/>
            <a:r>
              <a:rPr sz="4400" b="1">
                <a:solidFill>
                  <a:srgbClr val="F7F6F2"/>
                </a:solidFill>
                <a:latin typeface="Arial"/>
              </a:rPr>
              <a:t>969</a:t>
            </a:r>
          </a:p>
        </p:txBody>
      </p:sp>
      <p:sp>
        <p:nvSpPr>
          <p:cNvPr id="17" name="Stat Cost Per Lead"/>
          <p:cNvSpPr/>
          <p:nvPr/>
        </p:nvSpPr>
        <p:spPr>
          <a:xfrm>
            <a:off x="6233007" y="3977639"/>
            <a:ext cx="5410047" cy="1828800"/>
          </a:xfrm>
          <a:prstGeom prst="roundRect">
            <a:avLst>
              <a:gd name="adj" fmla="val 5000"/>
            </a:avLst>
          </a:prstGeom>
          <a:solidFill>
            <a:srgbClr val="14213D"/>
          </a:solidFill>
          <a:ln w="9525">
            <a:solidFill>
              <a:srgbClr val="142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
          <p:cNvSpPr txBox="1"/>
          <p:nvPr/>
        </p:nvSpPr>
        <p:spPr>
          <a:xfrm>
            <a:off x="6553047" y="4251959"/>
            <a:ext cx="4769967" cy="274320"/>
          </a:xfrm>
          <a:prstGeom prst="rect">
            <a:avLst/>
          </a:prstGeom>
          <a:noFill/>
        </p:spPr>
        <p:txBody>
          <a:bodyPr wrap="square" lIns="0" tIns="0" rIns="0" bIns="0">
            <a:spAutoFit/>
          </a:bodyPr>
          <a:lstStyle/>
          <a:p>
            <a:pPr algn="l"/>
            <a:r>
              <a:rPr sz="1200" b="1">
                <a:solidFill>
                  <a:srgbClr val="C9D3E3"/>
                </a:solidFill>
                <a:latin typeface="Arial"/>
              </a:rPr>
              <a:t>COST PER LEAD</a:t>
            </a:r>
          </a:p>
        </p:txBody>
      </p:sp>
      <p:sp>
        <p:nvSpPr>
          <p:cNvPr id="19" name="Text"/>
          <p:cNvSpPr txBox="1"/>
          <p:nvPr/>
        </p:nvSpPr>
        <p:spPr>
          <a:xfrm>
            <a:off x="6553047" y="4663440"/>
            <a:ext cx="4769967" cy="822960"/>
          </a:xfrm>
          <a:prstGeom prst="rect">
            <a:avLst/>
          </a:prstGeom>
          <a:noFill/>
        </p:spPr>
        <p:txBody>
          <a:bodyPr wrap="square" lIns="0" tIns="0" rIns="0" bIns="0">
            <a:spAutoFit/>
          </a:bodyPr>
          <a:lstStyle/>
          <a:p>
            <a:pPr algn="l"/>
            <a:r>
              <a:rPr sz="4400" b="1">
                <a:solidFill>
                  <a:srgbClr val="F2A65A"/>
                </a:solidFill>
                <a:latin typeface="Arial"/>
              </a:rPr>
              <a:t>$149</a:t>
            </a:r>
          </a:p>
        </p:txBody>
      </p:sp>
      <p:sp>
        <p:nvSpPr>
          <p:cNvPr id="21" name="Page number"/>
          <p:cNvSpPr txBox="1"/>
          <p:nvPr/>
        </p:nvSpPr>
        <p:spPr>
          <a:xfrm>
            <a:off x="11094415" y="6355080"/>
            <a:ext cx="548640" cy="274320"/>
          </a:xfrm>
          <a:prstGeom prst="rect">
            <a:avLst/>
          </a:prstGeom>
          <a:noFill/>
        </p:spPr>
        <p:txBody>
          <a:bodyPr wrap="square" lIns="0" tIns="0" rIns="0" bIns="0">
            <a:spAutoFit/>
          </a:bodyPr>
          <a:lstStyle/>
          <a:p>
            <a:pPr algn="r"/>
            <a:r>
              <a:rPr sz="1000" b="0">
                <a:solidFill>
                  <a:srgbClr val="5A6478"/>
                </a:solidFill>
                <a:latin typeface="Arial"/>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itle"/>
          <p:cNvSpPr txBox="1"/>
          <p:nvPr/>
        </p:nvSpPr>
        <p:spPr>
          <a:xfrm>
            <a:off x="548640" y="411480"/>
            <a:ext cx="11094415" cy="430887"/>
          </a:xfrm>
          <a:prstGeom prst="rect">
            <a:avLst/>
          </a:prstGeom>
          <a:noFill/>
        </p:spPr>
        <p:txBody>
          <a:bodyPr wrap="square" lIns="0" tIns="0" rIns="0" bIns="0">
            <a:spAutoFit/>
          </a:bodyPr>
          <a:lstStyle/>
          <a:p>
            <a:pPr algn="ctr"/>
            <a:r>
              <a:rPr lang="en-US" sz="2800" b="1" dirty="0">
                <a:solidFill>
                  <a:srgbClr val="14213D"/>
                </a:solidFill>
                <a:latin typeface="Arial"/>
              </a:rPr>
              <a:t>Coastal Air Plus Myrtle Beach</a:t>
            </a:r>
            <a:r>
              <a:rPr sz="2800" b="1" dirty="0">
                <a:solidFill>
                  <a:srgbClr val="14213D"/>
                </a:solidFill>
                <a:latin typeface="Arial"/>
              </a:rPr>
              <a:t> Marketing</a:t>
            </a:r>
          </a:p>
        </p:txBody>
      </p:sp>
      <p:sp>
        <p:nvSpPr>
          <p:cNvPr id="3" name="Stat Ad Spend"/>
          <p:cNvSpPr/>
          <p:nvPr/>
        </p:nvSpPr>
        <p:spPr>
          <a:xfrm>
            <a:off x="548640" y="1874519"/>
            <a:ext cx="3515258" cy="2377440"/>
          </a:xfrm>
          <a:prstGeom prst="roundRect">
            <a:avLst>
              <a:gd name="adj" fmla="val 5000"/>
            </a:avLst>
          </a:prstGeom>
          <a:solidFill>
            <a:srgbClr val="FFFFFF"/>
          </a:solidFill>
          <a:ln w="9525">
            <a:solidFill>
              <a:srgbClr val="E2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
          <p:cNvSpPr txBox="1"/>
          <p:nvPr/>
        </p:nvSpPr>
        <p:spPr>
          <a:xfrm>
            <a:off x="868680" y="2240279"/>
            <a:ext cx="2875178" cy="274320"/>
          </a:xfrm>
          <a:prstGeom prst="rect">
            <a:avLst/>
          </a:prstGeom>
          <a:noFill/>
        </p:spPr>
        <p:txBody>
          <a:bodyPr wrap="square" lIns="0" tIns="0" rIns="0" bIns="0">
            <a:spAutoFit/>
          </a:bodyPr>
          <a:lstStyle/>
          <a:p>
            <a:pPr algn="l"/>
            <a:r>
              <a:rPr sz="1200" b="1">
                <a:solidFill>
                  <a:srgbClr val="5A6478"/>
                </a:solidFill>
                <a:latin typeface="Arial"/>
              </a:rPr>
              <a:t>AD SPEND</a:t>
            </a:r>
          </a:p>
        </p:txBody>
      </p:sp>
      <p:sp>
        <p:nvSpPr>
          <p:cNvPr id="5" name="Text"/>
          <p:cNvSpPr txBox="1"/>
          <p:nvPr/>
        </p:nvSpPr>
        <p:spPr>
          <a:xfrm>
            <a:off x="868680" y="2743200"/>
            <a:ext cx="2875178" cy="914400"/>
          </a:xfrm>
          <a:prstGeom prst="rect">
            <a:avLst/>
          </a:prstGeom>
          <a:noFill/>
        </p:spPr>
        <p:txBody>
          <a:bodyPr wrap="square" lIns="0" tIns="0" rIns="0" bIns="0">
            <a:spAutoFit/>
          </a:bodyPr>
          <a:lstStyle/>
          <a:p>
            <a:pPr algn="l"/>
            <a:r>
              <a:rPr sz="4800" b="1">
                <a:solidFill>
                  <a:srgbClr val="14213D"/>
                </a:solidFill>
                <a:latin typeface="Arial"/>
              </a:rPr>
              <a:t>$139,811</a:t>
            </a:r>
          </a:p>
        </p:txBody>
      </p:sp>
      <p:sp>
        <p:nvSpPr>
          <p:cNvPr id="6" name="Stat Booked Jobs"/>
          <p:cNvSpPr/>
          <p:nvPr/>
        </p:nvSpPr>
        <p:spPr>
          <a:xfrm>
            <a:off x="4338218" y="1874519"/>
            <a:ext cx="3515258" cy="2377440"/>
          </a:xfrm>
          <a:prstGeom prst="roundRect">
            <a:avLst>
              <a:gd name="adj" fmla="val 5000"/>
            </a:avLst>
          </a:prstGeom>
          <a:solidFill>
            <a:srgbClr val="FFFFFF"/>
          </a:solidFill>
          <a:ln w="9525">
            <a:solidFill>
              <a:srgbClr val="E2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
          <p:cNvSpPr txBox="1"/>
          <p:nvPr/>
        </p:nvSpPr>
        <p:spPr>
          <a:xfrm>
            <a:off x="4658258" y="2240279"/>
            <a:ext cx="2875178" cy="274320"/>
          </a:xfrm>
          <a:prstGeom prst="rect">
            <a:avLst/>
          </a:prstGeom>
          <a:noFill/>
        </p:spPr>
        <p:txBody>
          <a:bodyPr wrap="square" lIns="0" tIns="0" rIns="0" bIns="0">
            <a:spAutoFit/>
          </a:bodyPr>
          <a:lstStyle/>
          <a:p>
            <a:pPr algn="l"/>
            <a:r>
              <a:rPr sz="1200" b="1">
                <a:solidFill>
                  <a:srgbClr val="5A6478"/>
                </a:solidFill>
                <a:latin typeface="Arial"/>
              </a:rPr>
              <a:t>BOOKED JOBS</a:t>
            </a:r>
          </a:p>
        </p:txBody>
      </p:sp>
      <p:sp>
        <p:nvSpPr>
          <p:cNvPr id="8" name="Text"/>
          <p:cNvSpPr txBox="1"/>
          <p:nvPr/>
        </p:nvSpPr>
        <p:spPr>
          <a:xfrm>
            <a:off x="4658258" y="2743200"/>
            <a:ext cx="2875178" cy="914400"/>
          </a:xfrm>
          <a:prstGeom prst="rect">
            <a:avLst/>
          </a:prstGeom>
          <a:noFill/>
        </p:spPr>
        <p:txBody>
          <a:bodyPr wrap="square" lIns="0" tIns="0" rIns="0" bIns="0">
            <a:spAutoFit/>
          </a:bodyPr>
          <a:lstStyle/>
          <a:p>
            <a:pPr algn="l"/>
            <a:r>
              <a:rPr sz="4800" b="1">
                <a:solidFill>
                  <a:srgbClr val="14213D"/>
                </a:solidFill>
                <a:latin typeface="Arial"/>
              </a:rPr>
              <a:t>555</a:t>
            </a:r>
          </a:p>
        </p:txBody>
      </p:sp>
      <p:sp>
        <p:nvSpPr>
          <p:cNvPr id="9" name="Stat Revenue"/>
          <p:cNvSpPr/>
          <p:nvPr/>
        </p:nvSpPr>
        <p:spPr>
          <a:xfrm>
            <a:off x="8127796" y="1874519"/>
            <a:ext cx="3515258" cy="2377440"/>
          </a:xfrm>
          <a:prstGeom prst="roundRect">
            <a:avLst>
              <a:gd name="adj" fmla="val 5000"/>
            </a:avLst>
          </a:prstGeom>
          <a:solidFill>
            <a:srgbClr val="14213D"/>
          </a:solidFill>
          <a:ln w="9525">
            <a:solidFill>
              <a:srgbClr val="142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
          <p:cNvSpPr txBox="1"/>
          <p:nvPr/>
        </p:nvSpPr>
        <p:spPr>
          <a:xfrm>
            <a:off x="8447836" y="2240279"/>
            <a:ext cx="2875178" cy="274320"/>
          </a:xfrm>
          <a:prstGeom prst="rect">
            <a:avLst/>
          </a:prstGeom>
          <a:noFill/>
        </p:spPr>
        <p:txBody>
          <a:bodyPr wrap="square" lIns="0" tIns="0" rIns="0" bIns="0">
            <a:spAutoFit/>
          </a:bodyPr>
          <a:lstStyle/>
          <a:p>
            <a:pPr algn="l"/>
            <a:r>
              <a:rPr sz="1200" b="1">
                <a:solidFill>
                  <a:srgbClr val="C9D3E3"/>
                </a:solidFill>
                <a:latin typeface="Arial"/>
              </a:rPr>
              <a:t>REVENUE</a:t>
            </a:r>
          </a:p>
        </p:txBody>
      </p:sp>
      <p:sp>
        <p:nvSpPr>
          <p:cNvPr id="11" name="Text"/>
          <p:cNvSpPr txBox="1"/>
          <p:nvPr/>
        </p:nvSpPr>
        <p:spPr>
          <a:xfrm>
            <a:off x="8447836" y="2743200"/>
            <a:ext cx="2875178" cy="914400"/>
          </a:xfrm>
          <a:prstGeom prst="rect">
            <a:avLst/>
          </a:prstGeom>
          <a:noFill/>
        </p:spPr>
        <p:txBody>
          <a:bodyPr wrap="square" lIns="0" tIns="0" rIns="0" bIns="0">
            <a:spAutoFit/>
          </a:bodyPr>
          <a:lstStyle/>
          <a:p>
            <a:pPr algn="l"/>
            <a:r>
              <a:rPr sz="4800" b="1">
                <a:solidFill>
                  <a:srgbClr val="F2A65A"/>
                </a:solidFill>
                <a:latin typeface="Arial"/>
              </a:rPr>
              <a:t>$650,259</a:t>
            </a:r>
          </a:p>
        </p:txBody>
      </p:sp>
      <p:sp>
        <p:nvSpPr>
          <p:cNvPr id="12" name="Footer"/>
          <p:cNvSpPr txBox="1"/>
          <p:nvPr/>
        </p:nvSpPr>
        <p:spPr>
          <a:xfrm>
            <a:off x="548640" y="6355080"/>
            <a:ext cx="10180015" cy="274320"/>
          </a:xfrm>
          <a:prstGeom prst="rect">
            <a:avLst/>
          </a:prstGeom>
          <a:noFill/>
        </p:spPr>
        <p:txBody>
          <a:bodyPr wrap="square" lIns="0" tIns="0" rIns="0" bIns="0">
            <a:spAutoFit/>
          </a:bodyPr>
          <a:lstStyle/>
          <a:p>
            <a:pPr algn="l"/>
            <a:r>
              <a:rPr sz="1000" b="0">
                <a:solidFill>
                  <a:srgbClr val="5A6478"/>
                </a:solidFill>
                <a:latin typeface="Arial"/>
              </a:rPr>
              <a:t>Source: CAP Marketing · figures as provided</a:t>
            </a:r>
          </a:p>
        </p:txBody>
      </p:sp>
      <p:sp>
        <p:nvSpPr>
          <p:cNvPr id="13" name="Page number"/>
          <p:cNvSpPr txBox="1"/>
          <p:nvPr/>
        </p:nvSpPr>
        <p:spPr>
          <a:xfrm>
            <a:off x="11094415" y="6355080"/>
            <a:ext cx="548640" cy="274320"/>
          </a:xfrm>
          <a:prstGeom prst="rect">
            <a:avLst/>
          </a:prstGeom>
          <a:noFill/>
        </p:spPr>
        <p:txBody>
          <a:bodyPr wrap="square" lIns="0" tIns="0" rIns="0" bIns="0">
            <a:spAutoFit/>
          </a:bodyPr>
          <a:lstStyle/>
          <a:p>
            <a:pPr algn="r"/>
            <a:r>
              <a:rPr sz="1000" b="0">
                <a:solidFill>
                  <a:srgbClr val="5A6478"/>
                </a:solidFill>
                <a:latin typeface="Arial"/>
              </a:rPr>
              <a:t>8</a:t>
            </a:r>
          </a:p>
        </p:txBody>
      </p:sp>
      <p:sp>
        <p:nvSpPr>
          <p:cNvPr id="14" name="Period">
            <a:extLst>
              <a:ext uri="{FF2B5EF4-FFF2-40B4-BE49-F238E27FC236}">
                <a16:creationId xmlns:a16="http://schemas.microsoft.com/office/drawing/2014/main" id="{1A9F255E-C928-4E81-23E8-6C8779D0D56C}"/>
              </a:ext>
            </a:extLst>
          </p:cNvPr>
          <p:cNvSpPr txBox="1"/>
          <p:nvPr/>
        </p:nvSpPr>
        <p:spPr>
          <a:xfrm>
            <a:off x="548640" y="1081444"/>
            <a:ext cx="11094415" cy="184666"/>
          </a:xfrm>
          <a:prstGeom prst="rect">
            <a:avLst/>
          </a:prstGeom>
          <a:noFill/>
        </p:spPr>
        <p:txBody>
          <a:bodyPr wrap="square" lIns="0" tIns="0" rIns="0" bIns="0">
            <a:spAutoFit/>
          </a:bodyPr>
          <a:lstStyle/>
          <a:p>
            <a:pPr algn="ctr"/>
            <a:r>
              <a:rPr sz="1200" b="1" dirty="0">
                <a:solidFill>
                  <a:srgbClr val="5A6478"/>
                </a:solidFill>
                <a:latin typeface="Arial"/>
              </a:rPr>
              <a:t>APRIL – SEPTEMBER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itle"/>
          <p:cNvSpPr txBox="1"/>
          <p:nvPr/>
        </p:nvSpPr>
        <p:spPr>
          <a:xfrm>
            <a:off x="666206" y="411480"/>
            <a:ext cx="11094415" cy="430887"/>
          </a:xfrm>
          <a:prstGeom prst="rect">
            <a:avLst/>
          </a:prstGeom>
          <a:noFill/>
        </p:spPr>
        <p:txBody>
          <a:bodyPr wrap="square" lIns="0" tIns="0" rIns="0" bIns="0" anchor="t">
            <a:spAutoFit/>
          </a:bodyPr>
          <a:lstStyle/>
          <a:p>
            <a:pPr algn="ctr"/>
            <a:r>
              <a:rPr lang="en-US" sz="2800" b="1" dirty="0">
                <a:solidFill>
                  <a:srgbClr val="14213D"/>
                </a:solidFill>
                <a:latin typeface="Arial"/>
              </a:rPr>
              <a:t>Charleston vs. Myrtle Beach April – September </a:t>
            </a:r>
            <a:endParaRPr sz="2800" b="1" dirty="0">
              <a:solidFill>
                <a:srgbClr val="14213D"/>
              </a:solidFill>
              <a:latin typeface="Arial"/>
            </a:endParaRPr>
          </a:p>
        </p:txBody>
      </p:sp>
      <p:sp>
        <p:nvSpPr>
          <p:cNvPr id="4" name="Page number"/>
          <p:cNvSpPr txBox="1"/>
          <p:nvPr/>
        </p:nvSpPr>
        <p:spPr>
          <a:xfrm>
            <a:off x="11094415" y="6355080"/>
            <a:ext cx="548640" cy="274320"/>
          </a:xfrm>
          <a:prstGeom prst="rect">
            <a:avLst/>
          </a:prstGeom>
          <a:noFill/>
        </p:spPr>
        <p:txBody>
          <a:bodyPr wrap="square" lIns="0" tIns="0" rIns="0" bIns="0" anchor="t">
            <a:spAutoFit/>
          </a:bodyPr>
          <a:lstStyle/>
          <a:p>
            <a:pPr algn="r"/>
            <a:r>
              <a:rPr sz="1000" b="0">
                <a:solidFill>
                  <a:srgbClr val="5A6478"/>
                </a:solidFill>
                <a:latin typeface="Arial"/>
              </a:rPr>
              <a:t>9</a:t>
            </a:r>
          </a:p>
        </p:txBody>
      </p:sp>
      <p:graphicFrame>
        <p:nvGraphicFramePr>
          <p:cNvPr id="5" name="Market comparison table"/>
          <p:cNvGraphicFramePr>
            <a:graphicFrameLocks noGrp="1"/>
          </p:cNvGraphicFramePr>
          <p:nvPr>
            <p:extLst>
              <p:ext uri="{D42A27DB-BD31-4B8C-83A1-F6EECF244321}">
                <p14:modId xmlns:p14="http://schemas.microsoft.com/office/powerpoint/2010/main" val="2503133861"/>
              </p:ext>
            </p:extLst>
          </p:nvPr>
        </p:nvGraphicFramePr>
        <p:xfrm>
          <a:off x="548640" y="1417320"/>
          <a:ext cx="11094415" cy="4206240"/>
        </p:xfrm>
        <a:graphic>
          <a:graphicData uri="http://schemas.openxmlformats.org/drawingml/2006/table">
            <a:tbl>
              <a:tblPr firstRow="1">
                <a:tableStyleId>{5C22544A-7EE6-4342-B048-85BDC9FD1C3A}</a:tableStyleId>
              </a:tblPr>
              <a:tblGrid>
                <a:gridCol w="3594415">
                  <a:extLst>
                    <a:ext uri="{9D8B030D-6E8A-4147-A177-3AD203B41FA5}">
                      <a16:colId xmlns:a16="http://schemas.microsoft.com/office/drawing/2014/main" val="20000"/>
                    </a:ext>
                  </a:extLst>
                </a:gridCol>
                <a:gridCol w="2500000">
                  <a:extLst>
                    <a:ext uri="{9D8B030D-6E8A-4147-A177-3AD203B41FA5}">
                      <a16:colId xmlns:a16="http://schemas.microsoft.com/office/drawing/2014/main" val="20001"/>
                    </a:ext>
                  </a:extLst>
                </a:gridCol>
                <a:gridCol w="2500000">
                  <a:extLst>
                    <a:ext uri="{9D8B030D-6E8A-4147-A177-3AD203B41FA5}">
                      <a16:colId xmlns:a16="http://schemas.microsoft.com/office/drawing/2014/main" val="20002"/>
                    </a:ext>
                  </a:extLst>
                </a:gridCol>
                <a:gridCol w="2500000">
                  <a:extLst>
                    <a:ext uri="{9D8B030D-6E8A-4147-A177-3AD203B41FA5}">
                      <a16:colId xmlns:a16="http://schemas.microsoft.com/office/drawing/2014/main" val="20003"/>
                    </a:ext>
                  </a:extLst>
                </a:gridCol>
              </a:tblGrid>
              <a:tr h="420624">
                <a:tc>
                  <a:txBody>
                    <a:bodyPr/>
                    <a:lstStyle/>
                    <a:p>
                      <a:pPr algn="l"/>
                      <a:r>
                        <a:rPr sz="1600" b="1">
                          <a:solidFill>
                            <a:srgbClr val="FFFFFF"/>
                          </a:solidFill>
                          <a:latin typeface="Arial"/>
                        </a:rPr>
                        <a:t>Apr – Sep 2026</a:t>
                      </a:r>
                    </a:p>
                  </a:txBody>
                  <a:tcPr marL="73152" marR="73152" marT="27432" marB="27432" anchor="ctr">
                    <a:solidFill>
                      <a:srgbClr val="14213D"/>
                    </a:solidFill>
                  </a:tcPr>
                </a:tc>
                <a:tc>
                  <a:txBody>
                    <a:bodyPr/>
                    <a:lstStyle/>
                    <a:p>
                      <a:pPr algn="r"/>
                      <a:r>
                        <a:rPr sz="1600" b="1">
                          <a:solidFill>
                            <a:srgbClr val="FFFFFF"/>
                          </a:solidFill>
                          <a:latin typeface="Arial"/>
                        </a:rPr>
                        <a:t>Charleston</a:t>
                      </a:r>
                    </a:p>
                  </a:txBody>
                  <a:tcPr marL="73152" marR="73152" marT="27432" marB="27432" anchor="ctr">
                    <a:solidFill>
                      <a:srgbClr val="14213D"/>
                    </a:solidFill>
                  </a:tcPr>
                </a:tc>
                <a:tc>
                  <a:txBody>
                    <a:bodyPr/>
                    <a:lstStyle/>
                    <a:p>
                      <a:pPr algn="r"/>
                      <a:r>
                        <a:rPr lang="en-US" sz="1600" b="1" dirty="0">
                          <a:solidFill>
                            <a:srgbClr val="FFFFFF"/>
                          </a:solidFill>
                          <a:latin typeface="Arial"/>
                        </a:rPr>
                        <a:t>Myr</a:t>
                      </a:r>
                      <a:r>
                        <a:rPr sz="1600" b="1" dirty="0">
                          <a:solidFill>
                            <a:srgbClr val="FFFFFF"/>
                          </a:solidFill>
                          <a:latin typeface="Arial"/>
                        </a:rPr>
                        <a:t>t</a:t>
                      </a:r>
                      <a:r>
                        <a:rPr lang="en-US" sz="1600" b="1" dirty="0">
                          <a:solidFill>
                            <a:srgbClr val="FFFFFF"/>
                          </a:solidFill>
                          <a:latin typeface="Arial"/>
                        </a:rPr>
                        <a:t>le Beach </a:t>
                      </a:r>
                      <a:endParaRPr sz="1600" b="1" dirty="0">
                        <a:solidFill>
                          <a:srgbClr val="FFFFFF"/>
                        </a:solidFill>
                        <a:latin typeface="Arial"/>
                      </a:endParaRPr>
                    </a:p>
                  </a:txBody>
                  <a:tcPr marL="73152" marR="73152" marT="27432" marB="27432" anchor="ctr">
                    <a:solidFill>
                      <a:srgbClr val="14213D"/>
                    </a:solidFill>
                  </a:tcPr>
                </a:tc>
                <a:tc>
                  <a:txBody>
                    <a:bodyPr/>
                    <a:lstStyle/>
                    <a:p>
                      <a:pPr algn="r"/>
                      <a:r>
                        <a:rPr sz="1600" b="1" dirty="0">
                          <a:solidFill>
                            <a:srgbClr val="FFFFFF"/>
                          </a:solidFill>
                          <a:latin typeface="Arial"/>
                        </a:rPr>
                        <a:t>Myrtle Beach</a:t>
                      </a:r>
                      <a:r>
                        <a:rPr lang="en-US" sz="1600" b="1" dirty="0">
                          <a:solidFill>
                            <a:srgbClr val="FFFFFF"/>
                          </a:solidFill>
                          <a:latin typeface="Arial"/>
                        </a:rPr>
                        <a:t> </a:t>
                      </a:r>
                      <a:r>
                        <a:rPr lang="en-US" sz="1600" b="1" dirty="0" err="1">
                          <a:solidFill>
                            <a:srgbClr val="FFFFFF"/>
                          </a:solidFill>
                          <a:latin typeface="Arial"/>
                        </a:rPr>
                        <a:t>wtih</a:t>
                      </a:r>
                      <a:r>
                        <a:rPr lang="en-US" sz="1600" b="1" dirty="0">
                          <a:solidFill>
                            <a:srgbClr val="FFFFFF"/>
                          </a:solidFill>
                          <a:latin typeface="Arial"/>
                        </a:rPr>
                        <a:t> LSA</a:t>
                      </a:r>
                      <a:endParaRPr sz="1600" b="1" dirty="0">
                        <a:solidFill>
                          <a:srgbClr val="FFFFFF"/>
                        </a:solidFill>
                        <a:latin typeface="Arial"/>
                      </a:endParaRPr>
                    </a:p>
                  </a:txBody>
                  <a:tcPr marL="73152" marR="73152" marT="27432" marB="27432" anchor="ctr">
                    <a:solidFill>
                      <a:srgbClr val="14213D"/>
                    </a:solidFill>
                  </a:tcPr>
                </a:tc>
                <a:extLst>
                  <a:ext uri="{0D108BD9-81ED-4DB2-BD59-A6C34878D82A}">
                    <a16:rowId xmlns:a16="http://schemas.microsoft.com/office/drawing/2014/main" val="10000"/>
                  </a:ext>
                </a:extLst>
              </a:tr>
              <a:tr h="420624">
                <a:tc>
                  <a:txBody>
                    <a:bodyPr/>
                    <a:lstStyle/>
                    <a:p>
                      <a:pPr algn="l"/>
                      <a:r>
                        <a:rPr sz="1600" b="0">
                          <a:solidFill>
                            <a:srgbClr val="14213D"/>
                          </a:solidFill>
                          <a:latin typeface="Arial"/>
                        </a:rPr>
                        <a:t>Agency</a:t>
                      </a:r>
                    </a:p>
                  </a:txBody>
                  <a:tcPr marL="73152" marR="73152" marT="27432" marB="27432" anchor="ctr">
                    <a:solidFill>
                      <a:srgbClr val="FFFFFF"/>
                    </a:solidFill>
                  </a:tcPr>
                </a:tc>
                <a:tc>
                  <a:txBody>
                    <a:bodyPr/>
                    <a:lstStyle/>
                    <a:p>
                      <a:pPr algn="r"/>
                      <a:r>
                        <a:rPr sz="1600" b="0">
                          <a:solidFill>
                            <a:srgbClr val="14213D"/>
                          </a:solidFill>
                          <a:latin typeface="Arial"/>
                        </a:rPr>
                        <a:t>ROI Marketing</a:t>
                      </a:r>
                    </a:p>
                  </a:txBody>
                  <a:tcPr marL="73152" marR="73152" marT="27432" marB="27432" anchor="ctr">
                    <a:solidFill>
                      <a:srgbClr val="FFFFFF"/>
                    </a:solidFill>
                  </a:tcPr>
                </a:tc>
                <a:tc>
                  <a:txBody>
                    <a:bodyPr/>
                    <a:lstStyle/>
                    <a:p>
                      <a:pPr algn="r"/>
                      <a:r>
                        <a:rPr lang="en-US" sz="1600" b="0" dirty="0">
                          <a:solidFill>
                            <a:srgbClr val="14213D"/>
                          </a:solidFill>
                          <a:latin typeface="Arial"/>
                        </a:rPr>
                        <a:t>CAP Marketing </a:t>
                      </a:r>
                      <a:endParaRPr sz="1600" b="0" dirty="0">
                        <a:solidFill>
                          <a:srgbClr val="14213D"/>
                        </a:solidFill>
                        <a:latin typeface="Arial"/>
                      </a:endParaRPr>
                    </a:p>
                  </a:txBody>
                  <a:tcPr marL="73152" marR="73152" marT="27432" marB="27432" anchor="ctr">
                    <a:solidFill>
                      <a:srgbClr val="FFFFFF"/>
                    </a:solidFill>
                  </a:tcPr>
                </a:tc>
                <a:tc>
                  <a:txBody>
                    <a:bodyPr/>
                    <a:lstStyle/>
                    <a:p>
                      <a:pPr algn="r"/>
                      <a:r>
                        <a:rPr sz="1600" b="0">
                          <a:solidFill>
                            <a:srgbClr val="14213D"/>
                          </a:solidFill>
                          <a:latin typeface="Arial"/>
                        </a:rPr>
                        <a:t>CAP Marketing</a:t>
                      </a:r>
                    </a:p>
                  </a:txBody>
                  <a:tcPr marL="73152" marR="73152" marT="27432" marB="27432" anchor="ctr">
                    <a:solidFill>
                      <a:srgbClr val="FFFFFF"/>
                    </a:solidFill>
                  </a:tcPr>
                </a:tc>
                <a:extLst>
                  <a:ext uri="{0D108BD9-81ED-4DB2-BD59-A6C34878D82A}">
                    <a16:rowId xmlns:a16="http://schemas.microsoft.com/office/drawing/2014/main" val="10001"/>
                  </a:ext>
                </a:extLst>
              </a:tr>
              <a:tr h="420624">
                <a:tc>
                  <a:txBody>
                    <a:bodyPr/>
                    <a:lstStyle/>
                    <a:p>
                      <a:pPr algn="l"/>
                      <a:r>
                        <a:rPr sz="1600" b="0">
                          <a:solidFill>
                            <a:srgbClr val="14213D"/>
                          </a:solidFill>
                          <a:latin typeface="Arial"/>
                        </a:rPr>
                        <a:t>Ad spend</a:t>
                      </a:r>
                    </a:p>
                  </a:txBody>
                  <a:tcPr marL="73152" marR="73152" marT="27432" marB="27432" anchor="ctr">
                    <a:solidFill>
                      <a:srgbClr val="F7F6F2"/>
                    </a:solidFill>
                  </a:tcPr>
                </a:tc>
                <a:tc>
                  <a:txBody>
                    <a:bodyPr/>
                    <a:lstStyle/>
                    <a:p>
                      <a:pPr algn="r"/>
                      <a:r>
                        <a:rPr sz="1600" b="0">
                          <a:solidFill>
                            <a:srgbClr val="14213D"/>
                          </a:solidFill>
                          <a:latin typeface="Arial"/>
                        </a:rPr>
                        <a:t>$144,496</a:t>
                      </a:r>
                    </a:p>
                  </a:txBody>
                  <a:tcPr marL="73152" marR="73152" marT="27432" marB="27432" anchor="ctr">
                    <a:solidFill>
                      <a:srgbClr val="F7F6F2"/>
                    </a:solidFill>
                  </a:tcPr>
                </a:tc>
                <a:tc>
                  <a:txBody>
                    <a:bodyPr/>
                    <a:lstStyle/>
                    <a:p>
                      <a:pPr algn="r"/>
                      <a:r>
                        <a:rPr sz="1600" b="0">
                          <a:solidFill>
                            <a:srgbClr val="14213D"/>
                          </a:solidFill>
                          <a:latin typeface="Arial"/>
                        </a:rPr>
                        <a:t>$111,861</a:t>
                      </a:r>
                    </a:p>
                  </a:txBody>
                  <a:tcPr marL="73152" marR="73152" marT="27432" marB="27432" anchor="ctr">
                    <a:solidFill>
                      <a:srgbClr val="F7F6F2"/>
                    </a:solidFill>
                  </a:tcPr>
                </a:tc>
                <a:tc>
                  <a:txBody>
                    <a:bodyPr/>
                    <a:lstStyle/>
                    <a:p>
                      <a:pPr algn="r"/>
                      <a:r>
                        <a:rPr sz="1600" b="0">
                          <a:solidFill>
                            <a:srgbClr val="14213D"/>
                          </a:solidFill>
                          <a:latin typeface="Arial"/>
                        </a:rPr>
                        <a:t>$139,811</a:t>
                      </a:r>
                    </a:p>
                  </a:txBody>
                  <a:tcPr marL="73152" marR="73152" marT="27432" marB="27432" anchor="ctr">
                    <a:solidFill>
                      <a:srgbClr val="F7F6F2"/>
                    </a:solidFill>
                  </a:tcPr>
                </a:tc>
                <a:extLst>
                  <a:ext uri="{0D108BD9-81ED-4DB2-BD59-A6C34878D82A}">
                    <a16:rowId xmlns:a16="http://schemas.microsoft.com/office/drawing/2014/main" val="10002"/>
                  </a:ext>
                </a:extLst>
              </a:tr>
              <a:tr h="420624">
                <a:tc>
                  <a:txBody>
                    <a:bodyPr/>
                    <a:lstStyle/>
                    <a:p>
                      <a:pPr algn="l"/>
                      <a:r>
                        <a:rPr sz="1600" b="0">
                          <a:solidFill>
                            <a:srgbClr val="14213D"/>
                          </a:solidFill>
                          <a:latin typeface="Arial"/>
                        </a:rPr>
                        <a:t>Leads</a:t>
                      </a:r>
                    </a:p>
                  </a:txBody>
                  <a:tcPr marL="73152" marR="73152" marT="27432" marB="27432" anchor="ctr">
                    <a:solidFill>
                      <a:srgbClr val="FFFFFF"/>
                    </a:solidFill>
                  </a:tcPr>
                </a:tc>
                <a:tc>
                  <a:txBody>
                    <a:bodyPr/>
                    <a:lstStyle/>
                    <a:p>
                      <a:pPr algn="r"/>
                      <a:r>
                        <a:rPr sz="1600" b="0">
                          <a:solidFill>
                            <a:srgbClr val="14213D"/>
                          </a:solidFill>
                          <a:latin typeface="Arial"/>
                        </a:rPr>
                        <a:t>969</a:t>
                      </a:r>
                    </a:p>
                  </a:txBody>
                  <a:tcPr marL="73152" marR="73152" marT="27432" marB="27432" anchor="ctr">
                    <a:solidFill>
                      <a:srgbClr val="FFFFFF"/>
                    </a:solidFill>
                  </a:tcPr>
                </a:tc>
                <a:tc>
                  <a:txBody>
                    <a:bodyPr/>
                    <a:lstStyle/>
                    <a:p>
                      <a:pPr algn="r"/>
                      <a:r>
                        <a:rPr sz="1600" b="0">
                          <a:solidFill>
                            <a:srgbClr val="14213D"/>
                          </a:solidFill>
                          <a:latin typeface="Arial"/>
                        </a:rPr>
                        <a:t>1,978</a:t>
                      </a:r>
                    </a:p>
                  </a:txBody>
                  <a:tcPr marL="73152" marR="73152" marT="27432" marB="27432" anchor="ctr">
                    <a:solidFill>
                      <a:srgbClr val="FFFFFF"/>
                    </a:solidFill>
                  </a:tcPr>
                </a:tc>
                <a:tc>
                  <a:txBody>
                    <a:bodyPr/>
                    <a:lstStyle/>
                    <a:p>
                      <a:pPr algn="r"/>
                      <a:r>
                        <a:rPr sz="1600" b="0">
                          <a:solidFill>
                            <a:srgbClr val="14213D"/>
                          </a:solidFill>
                          <a:latin typeface="Arial"/>
                        </a:rPr>
                        <a:t>Not reported</a:t>
                      </a:r>
                    </a:p>
                  </a:txBody>
                  <a:tcPr marL="73152" marR="73152" marT="27432" marB="27432" anchor="ctr">
                    <a:solidFill>
                      <a:srgbClr val="FFFFFF"/>
                    </a:solidFill>
                  </a:tcPr>
                </a:tc>
                <a:extLst>
                  <a:ext uri="{0D108BD9-81ED-4DB2-BD59-A6C34878D82A}">
                    <a16:rowId xmlns:a16="http://schemas.microsoft.com/office/drawing/2014/main" val="10003"/>
                  </a:ext>
                </a:extLst>
              </a:tr>
              <a:tr h="420624">
                <a:tc>
                  <a:txBody>
                    <a:bodyPr/>
                    <a:lstStyle/>
                    <a:p>
                      <a:pPr algn="l"/>
                      <a:r>
                        <a:rPr sz="1600" b="0">
                          <a:solidFill>
                            <a:srgbClr val="14213D"/>
                          </a:solidFill>
                          <a:latin typeface="Arial"/>
                        </a:rPr>
                        <a:t>Cost per lead</a:t>
                      </a:r>
                    </a:p>
                  </a:txBody>
                  <a:tcPr marL="73152" marR="73152" marT="27432" marB="27432" anchor="ctr">
                    <a:solidFill>
                      <a:srgbClr val="F7F6F2"/>
                    </a:solidFill>
                  </a:tcPr>
                </a:tc>
                <a:tc>
                  <a:txBody>
                    <a:bodyPr/>
                    <a:lstStyle/>
                    <a:p>
                      <a:pPr algn="r"/>
                      <a:r>
                        <a:rPr sz="1600" b="0">
                          <a:solidFill>
                            <a:srgbClr val="14213D"/>
                          </a:solidFill>
                          <a:latin typeface="Arial"/>
                        </a:rPr>
                        <a:t>$149</a:t>
                      </a:r>
                    </a:p>
                  </a:txBody>
                  <a:tcPr marL="73152" marR="73152" marT="27432" marB="27432" anchor="ctr">
                    <a:solidFill>
                      <a:srgbClr val="F7F6F2"/>
                    </a:solidFill>
                  </a:tcPr>
                </a:tc>
                <a:tc>
                  <a:txBody>
                    <a:bodyPr/>
                    <a:lstStyle/>
                    <a:p>
                      <a:pPr algn="r"/>
                      <a:r>
                        <a:rPr sz="1600" b="0">
                          <a:solidFill>
                            <a:srgbClr val="14213D"/>
                          </a:solidFill>
                          <a:latin typeface="Arial"/>
                        </a:rPr>
                        <a:t>$57</a:t>
                      </a:r>
                    </a:p>
                  </a:txBody>
                  <a:tcPr marL="73152" marR="73152" marT="27432" marB="27432" anchor="ctr">
                    <a:solidFill>
                      <a:srgbClr val="F7F6F2"/>
                    </a:solidFill>
                  </a:tcPr>
                </a:tc>
                <a:tc>
                  <a:txBody>
                    <a:bodyPr/>
                    <a:lstStyle/>
                    <a:p>
                      <a:pPr algn="r"/>
                      <a:r>
                        <a:rPr sz="1600" b="0">
                          <a:solidFill>
                            <a:srgbClr val="14213D"/>
                          </a:solidFill>
                          <a:latin typeface="Arial"/>
                        </a:rPr>
                        <a:t>Not reported</a:t>
                      </a:r>
                    </a:p>
                  </a:txBody>
                  <a:tcPr marL="73152" marR="73152" marT="27432" marB="27432" anchor="ctr">
                    <a:solidFill>
                      <a:srgbClr val="F7F6F2"/>
                    </a:solidFill>
                  </a:tcPr>
                </a:tc>
                <a:extLst>
                  <a:ext uri="{0D108BD9-81ED-4DB2-BD59-A6C34878D82A}">
                    <a16:rowId xmlns:a16="http://schemas.microsoft.com/office/drawing/2014/main" val="10004"/>
                  </a:ext>
                </a:extLst>
              </a:tr>
              <a:tr h="420624">
                <a:tc>
                  <a:txBody>
                    <a:bodyPr/>
                    <a:lstStyle/>
                    <a:p>
                      <a:pPr algn="l"/>
                      <a:r>
                        <a:rPr sz="1600" b="0">
                          <a:solidFill>
                            <a:srgbClr val="14213D"/>
                          </a:solidFill>
                          <a:latin typeface="Arial"/>
                        </a:rPr>
                        <a:t>Booked jobs</a:t>
                      </a:r>
                    </a:p>
                  </a:txBody>
                  <a:tcPr marL="73152" marR="73152" marT="27432" marB="27432" anchor="ctr">
                    <a:solidFill>
                      <a:srgbClr val="FFFFFF"/>
                    </a:solidFill>
                  </a:tcPr>
                </a:tc>
                <a:tc>
                  <a:txBody>
                    <a:bodyPr/>
                    <a:lstStyle/>
                    <a:p>
                      <a:pPr algn="r"/>
                      <a:r>
                        <a:rPr sz="1600" b="0">
                          <a:solidFill>
                            <a:srgbClr val="14213D"/>
                          </a:solidFill>
                          <a:latin typeface="Arial"/>
                        </a:rPr>
                        <a:t>346</a:t>
                      </a:r>
                    </a:p>
                  </a:txBody>
                  <a:tcPr marL="73152" marR="73152" marT="27432" marB="27432" anchor="ctr">
                    <a:solidFill>
                      <a:srgbClr val="FFFFFF"/>
                    </a:solidFill>
                  </a:tcPr>
                </a:tc>
                <a:tc>
                  <a:txBody>
                    <a:bodyPr/>
                    <a:lstStyle/>
                    <a:p>
                      <a:pPr algn="r"/>
                      <a:r>
                        <a:rPr sz="1600" b="0">
                          <a:solidFill>
                            <a:srgbClr val="14213D"/>
                          </a:solidFill>
                          <a:latin typeface="Arial"/>
                        </a:rPr>
                        <a:t>Not reported</a:t>
                      </a:r>
                    </a:p>
                  </a:txBody>
                  <a:tcPr marL="73152" marR="73152" marT="27432" marB="27432" anchor="ctr">
                    <a:solidFill>
                      <a:srgbClr val="FFFFFF"/>
                    </a:solidFill>
                  </a:tcPr>
                </a:tc>
                <a:tc>
                  <a:txBody>
                    <a:bodyPr/>
                    <a:lstStyle/>
                    <a:p>
                      <a:pPr algn="r"/>
                      <a:r>
                        <a:rPr sz="1600" b="0">
                          <a:solidFill>
                            <a:srgbClr val="14213D"/>
                          </a:solidFill>
                          <a:latin typeface="Arial"/>
                        </a:rPr>
                        <a:t>555</a:t>
                      </a:r>
                    </a:p>
                  </a:txBody>
                  <a:tcPr marL="73152" marR="73152" marT="27432" marB="27432" anchor="ctr">
                    <a:solidFill>
                      <a:srgbClr val="FFFFFF"/>
                    </a:solidFill>
                  </a:tcPr>
                </a:tc>
                <a:extLst>
                  <a:ext uri="{0D108BD9-81ED-4DB2-BD59-A6C34878D82A}">
                    <a16:rowId xmlns:a16="http://schemas.microsoft.com/office/drawing/2014/main" val="10005"/>
                  </a:ext>
                </a:extLst>
              </a:tr>
              <a:tr h="420624">
                <a:tc>
                  <a:txBody>
                    <a:bodyPr/>
                    <a:lstStyle/>
                    <a:p>
                      <a:pPr algn="l"/>
                      <a:r>
                        <a:rPr sz="1600" b="0">
                          <a:solidFill>
                            <a:srgbClr val="14213D"/>
                          </a:solidFill>
                          <a:latin typeface="Arial"/>
                        </a:rPr>
                        <a:t>Cost per booked job</a:t>
                      </a:r>
                    </a:p>
                  </a:txBody>
                  <a:tcPr marL="73152" marR="73152" marT="27432" marB="27432" anchor="ctr">
                    <a:solidFill>
                      <a:srgbClr val="F7F6F2"/>
                    </a:solidFill>
                  </a:tcPr>
                </a:tc>
                <a:tc>
                  <a:txBody>
                    <a:bodyPr/>
                    <a:lstStyle/>
                    <a:p>
                      <a:pPr algn="r"/>
                      <a:r>
                        <a:rPr sz="1600" b="0">
                          <a:solidFill>
                            <a:srgbClr val="14213D"/>
                          </a:solidFill>
                          <a:latin typeface="Arial"/>
                        </a:rPr>
                        <a:t>$418</a:t>
                      </a:r>
                    </a:p>
                  </a:txBody>
                  <a:tcPr marL="73152" marR="73152" marT="27432" marB="27432" anchor="ctr">
                    <a:solidFill>
                      <a:srgbClr val="F7F6F2"/>
                    </a:solidFill>
                  </a:tcPr>
                </a:tc>
                <a:tc>
                  <a:txBody>
                    <a:bodyPr/>
                    <a:lstStyle/>
                    <a:p>
                      <a:pPr algn="r"/>
                      <a:r>
                        <a:rPr sz="1600" b="0">
                          <a:solidFill>
                            <a:srgbClr val="14213D"/>
                          </a:solidFill>
                          <a:latin typeface="Arial"/>
                        </a:rPr>
                        <a:t>—</a:t>
                      </a:r>
                    </a:p>
                  </a:txBody>
                  <a:tcPr marL="73152" marR="73152" marT="27432" marB="27432" anchor="ctr">
                    <a:solidFill>
                      <a:srgbClr val="F7F6F2"/>
                    </a:solidFill>
                  </a:tcPr>
                </a:tc>
                <a:tc>
                  <a:txBody>
                    <a:bodyPr/>
                    <a:lstStyle/>
                    <a:p>
                      <a:pPr algn="r"/>
                      <a:r>
                        <a:rPr sz="1600" b="0">
                          <a:solidFill>
                            <a:srgbClr val="14213D"/>
                          </a:solidFill>
                          <a:latin typeface="Arial"/>
                        </a:rPr>
                        <a:t>$252</a:t>
                      </a:r>
                    </a:p>
                  </a:txBody>
                  <a:tcPr marL="73152" marR="73152" marT="27432" marB="27432" anchor="ctr">
                    <a:solidFill>
                      <a:srgbClr val="F7F6F2"/>
                    </a:solidFill>
                  </a:tcPr>
                </a:tc>
                <a:extLst>
                  <a:ext uri="{0D108BD9-81ED-4DB2-BD59-A6C34878D82A}">
                    <a16:rowId xmlns:a16="http://schemas.microsoft.com/office/drawing/2014/main" val="10006"/>
                  </a:ext>
                </a:extLst>
              </a:tr>
              <a:tr h="420624">
                <a:tc>
                  <a:txBody>
                    <a:bodyPr/>
                    <a:lstStyle/>
                    <a:p>
                      <a:pPr algn="l"/>
                      <a:r>
                        <a:rPr sz="1600" b="0">
                          <a:solidFill>
                            <a:srgbClr val="14213D"/>
                          </a:solidFill>
                          <a:latin typeface="Arial"/>
                        </a:rPr>
                        <a:t>Revenue</a:t>
                      </a:r>
                    </a:p>
                  </a:txBody>
                  <a:tcPr marL="73152" marR="73152" marT="27432" marB="27432" anchor="ctr">
                    <a:solidFill>
                      <a:srgbClr val="FFFFFF"/>
                    </a:solidFill>
                  </a:tcPr>
                </a:tc>
                <a:tc>
                  <a:txBody>
                    <a:bodyPr/>
                    <a:lstStyle/>
                    <a:p>
                      <a:pPr algn="r"/>
                      <a:r>
                        <a:rPr sz="1600" b="0">
                          <a:solidFill>
                            <a:srgbClr val="14213D"/>
                          </a:solidFill>
                          <a:latin typeface="Arial"/>
                        </a:rPr>
                        <a:t>$244,807</a:t>
                      </a:r>
                    </a:p>
                  </a:txBody>
                  <a:tcPr marL="73152" marR="73152" marT="27432" marB="27432" anchor="ctr">
                    <a:solidFill>
                      <a:srgbClr val="FFFFFF"/>
                    </a:solidFill>
                  </a:tcPr>
                </a:tc>
                <a:tc>
                  <a:txBody>
                    <a:bodyPr/>
                    <a:lstStyle/>
                    <a:p>
                      <a:pPr algn="r"/>
                      <a:r>
                        <a:rPr sz="1600" b="0">
                          <a:solidFill>
                            <a:srgbClr val="14213D"/>
                          </a:solidFill>
                          <a:latin typeface="Arial"/>
                        </a:rPr>
                        <a:t>$494,671</a:t>
                      </a:r>
                    </a:p>
                  </a:txBody>
                  <a:tcPr marL="73152" marR="73152" marT="27432" marB="27432" anchor="ctr">
                    <a:solidFill>
                      <a:srgbClr val="FFFFFF"/>
                    </a:solidFill>
                  </a:tcPr>
                </a:tc>
                <a:tc>
                  <a:txBody>
                    <a:bodyPr/>
                    <a:lstStyle/>
                    <a:p>
                      <a:pPr algn="r"/>
                      <a:r>
                        <a:rPr sz="1600" b="0">
                          <a:solidFill>
                            <a:srgbClr val="14213D"/>
                          </a:solidFill>
                          <a:latin typeface="Arial"/>
                        </a:rPr>
                        <a:t>$650,259</a:t>
                      </a:r>
                    </a:p>
                  </a:txBody>
                  <a:tcPr marL="73152" marR="73152" marT="27432" marB="27432" anchor="ctr">
                    <a:solidFill>
                      <a:srgbClr val="FFFFFF"/>
                    </a:solidFill>
                  </a:tcPr>
                </a:tc>
                <a:extLst>
                  <a:ext uri="{0D108BD9-81ED-4DB2-BD59-A6C34878D82A}">
                    <a16:rowId xmlns:a16="http://schemas.microsoft.com/office/drawing/2014/main" val="10007"/>
                  </a:ext>
                </a:extLst>
              </a:tr>
              <a:tr h="420624">
                <a:tc>
                  <a:txBody>
                    <a:bodyPr/>
                    <a:lstStyle/>
                    <a:p>
                      <a:pPr algn="l"/>
                      <a:r>
                        <a:rPr sz="1600" b="0">
                          <a:solidFill>
                            <a:srgbClr val="14213D"/>
                          </a:solidFill>
                          <a:latin typeface="Arial"/>
                        </a:rPr>
                        <a:t>Revenue per booked job</a:t>
                      </a:r>
                    </a:p>
                  </a:txBody>
                  <a:tcPr marL="73152" marR="73152" marT="27432" marB="27432" anchor="ctr">
                    <a:solidFill>
                      <a:srgbClr val="F7F6F2"/>
                    </a:solidFill>
                  </a:tcPr>
                </a:tc>
                <a:tc>
                  <a:txBody>
                    <a:bodyPr/>
                    <a:lstStyle/>
                    <a:p>
                      <a:pPr algn="r"/>
                      <a:r>
                        <a:rPr sz="1600" b="0">
                          <a:solidFill>
                            <a:srgbClr val="14213D"/>
                          </a:solidFill>
                          <a:latin typeface="Arial"/>
                        </a:rPr>
                        <a:t>$708</a:t>
                      </a:r>
                    </a:p>
                  </a:txBody>
                  <a:tcPr marL="73152" marR="73152" marT="27432" marB="27432" anchor="ctr">
                    <a:solidFill>
                      <a:srgbClr val="F7F6F2"/>
                    </a:solidFill>
                  </a:tcPr>
                </a:tc>
                <a:tc>
                  <a:txBody>
                    <a:bodyPr/>
                    <a:lstStyle/>
                    <a:p>
                      <a:pPr algn="r"/>
                      <a:r>
                        <a:rPr sz="1600" b="0">
                          <a:solidFill>
                            <a:srgbClr val="14213D"/>
                          </a:solidFill>
                          <a:latin typeface="Arial"/>
                        </a:rPr>
                        <a:t>—</a:t>
                      </a:r>
                    </a:p>
                  </a:txBody>
                  <a:tcPr marL="73152" marR="73152" marT="27432" marB="27432" anchor="ctr">
                    <a:solidFill>
                      <a:srgbClr val="F7F6F2"/>
                    </a:solidFill>
                  </a:tcPr>
                </a:tc>
                <a:tc>
                  <a:txBody>
                    <a:bodyPr/>
                    <a:lstStyle/>
                    <a:p>
                      <a:pPr algn="r"/>
                      <a:r>
                        <a:rPr sz="1600" b="0">
                          <a:solidFill>
                            <a:srgbClr val="14213D"/>
                          </a:solidFill>
                          <a:latin typeface="Arial"/>
                        </a:rPr>
                        <a:t>$1,172</a:t>
                      </a:r>
                    </a:p>
                  </a:txBody>
                  <a:tcPr marL="73152" marR="73152" marT="27432" marB="27432" anchor="ctr">
                    <a:solidFill>
                      <a:srgbClr val="F7F6F2"/>
                    </a:solidFill>
                  </a:tcPr>
                </a:tc>
                <a:extLst>
                  <a:ext uri="{0D108BD9-81ED-4DB2-BD59-A6C34878D82A}">
                    <a16:rowId xmlns:a16="http://schemas.microsoft.com/office/drawing/2014/main" val="10008"/>
                  </a:ext>
                </a:extLst>
              </a:tr>
              <a:tr h="420624">
                <a:tc>
                  <a:txBody>
                    <a:bodyPr/>
                    <a:lstStyle/>
                    <a:p>
                      <a:pPr algn="l"/>
                      <a:r>
                        <a:rPr sz="1600" b="1">
                          <a:solidFill>
                            <a:srgbClr val="14213D"/>
                          </a:solidFill>
                          <a:latin typeface="Arial"/>
                        </a:rPr>
                        <a:t>Return on ad spend</a:t>
                      </a:r>
                    </a:p>
                  </a:txBody>
                  <a:tcPr marL="73152" marR="73152" marT="27432" marB="27432" anchor="ctr">
                    <a:solidFill>
                      <a:srgbClr val="E8ECF3"/>
                    </a:solidFill>
                  </a:tcPr>
                </a:tc>
                <a:tc>
                  <a:txBody>
                    <a:bodyPr/>
                    <a:lstStyle/>
                    <a:p>
                      <a:pPr algn="r"/>
                      <a:r>
                        <a:rPr sz="1600" b="1">
                          <a:solidFill>
                            <a:srgbClr val="14213D"/>
                          </a:solidFill>
                          <a:latin typeface="Arial"/>
                        </a:rPr>
                        <a:t>1.69x</a:t>
                      </a:r>
                    </a:p>
                  </a:txBody>
                  <a:tcPr marL="73152" marR="73152" marT="27432" marB="27432" anchor="ctr">
                    <a:solidFill>
                      <a:srgbClr val="E8ECF3"/>
                    </a:solidFill>
                  </a:tcPr>
                </a:tc>
                <a:tc>
                  <a:txBody>
                    <a:bodyPr/>
                    <a:lstStyle/>
                    <a:p>
                      <a:pPr algn="r"/>
                      <a:r>
                        <a:rPr sz="1600" b="1">
                          <a:solidFill>
                            <a:srgbClr val="14213D"/>
                          </a:solidFill>
                          <a:latin typeface="Arial"/>
                        </a:rPr>
                        <a:t>4.42x</a:t>
                      </a:r>
                    </a:p>
                  </a:txBody>
                  <a:tcPr marL="73152" marR="73152" marT="27432" marB="27432" anchor="ctr">
                    <a:solidFill>
                      <a:srgbClr val="E8ECF3"/>
                    </a:solidFill>
                  </a:tcPr>
                </a:tc>
                <a:tc>
                  <a:txBody>
                    <a:bodyPr/>
                    <a:lstStyle/>
                    <a:p>
                      <a:pPr algn="r"/>
                      <a:r>
                        <a:rPr sz="1600" b="1" dirty="0">
                          <a:solidFill>
                            <a:srgbClr val="14213D"/>
                          </a:solidFill>
                          <a:latin typeface="Arial"/>
                        </a:rPr>
                        <a:t>4.65x</a:t>
                      </a:r>
                    </a:p>
                  </a:txBody>
                  <a:tcPr marL="73152" marR="73152" marT="27432" marB="27432" anchor="ctr">
                    <a:solidFill>
                      <a:srgbClr val="E8ECF3"/>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3" name="Title"/>
          <p:cNvSpPr txBox="1"/>
          <p:nvPr/>
        </p:nvSpPr>
        <p:spPr>
          <a:xfrm>
            <a:off x="548640" y="2926080"/>
            <a:ext cx="11094415" cy="830997"/>
          </a:xfrm>
          <a:prstGeom prst="rect">
            <a:avLst/>
          </a:prstGeom>
          <a:noFill/>
        </p:spPr>
        <p:txBody>
          <a:bodyPr wrap="square" lIns="0" tIns="0" rIns="0" bIns="0" anchor="t">
            <a:spAutoFit/>
          </a:bodyPr>
          <a:lstStyle/>
          <a:p>
            <a:pPr algn="ctr"/>
            <a:r>
              <a:rPr lang="en-US" sz="5400" b="1" dirty="0">
                <a:solidFill>
                  <a:srgbClr val="F7F6F2"/>
                </a:solidFill>
                <a:latin typeface="Arial"/>
              </a:rPr>
              <a:t>Digital Advertising</a:t>
            </a:r>
          </a:p>
        </p:txBody>
      </p:sp>
      <p:sp>
        <p:nvSpPr>
          <p:cNvPr id="5" name="Page number"/>
          <p:cNvSpPr txBox="1"/>
          <p:nvPr/>
        </p:nvSpPr>
        <p:spPr>
          <a:xfrm>
            <a:off x="11094415" y="6355080"/>
            <a:ext cx="548640" cy="274320"/>
          </a:xfrm>
          <a:prstGeom prst="rect">
            <a:avLst/>
          </a:prstGeom>
          <a:noFill/>
        </p:spPr>
        <p:txBody>
          <a:bodyPr wrap="square" lIns="0" tIns="0" rIns="0" bIns="0" anchor="t">
            <a:spAutoFit/>
          </a:bodyPr>
          <a:lstStyle/>
          <a:p>
            <a:pPr algn="r"/>
            <a:r>
              <a:rPr lang="en-US" sz="1000" b="0">
                <a:solidFill>
                  <a:srgbClr val="9FB0C9"/>
                </a:solidFill>
                <a:latin typeface="Arial"/>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itle"/>
          <p:cNvSpPr txBox="1"/>
          <p:nvPr/>
        </p:nvSpPr>
        <p:spPr>
          <a:xfrm>
            <a:off x="548640" y="411480"/>
            <a:ext cx="11094415" cy="430887"/>
          </a:xfrm>
          <a:prstGeom prst="rect">
            <a:avLst/>
          </a:prstGeom>
          <a:noFill/>
        </p:spPr>
        <p:txBody>
          <a:bodyPr wrap="square" lIns="0" tIns="0" rIns="0" bIns="0" anchor="t">
            <a:spAutoFit/>
          </a:bodyPr>
          <a:lstStyle/>
          <a:p>
            <a:pPr algn="ctr"/>
            <a:r>
              <a:rPr sz="2800" b="1" dirty="0">
                <a:solidFill>
                  <a:srgbClr val="14213D"/>
                </a:solidFill>
                <a:latin typeface="Arial"/>
              </a:rPr>
              <a:t>Organic drives 43% of closed revenue, advertising 40%</a:t>
            </a:r>
          </a:p>
        </p:txBody>
      </p:sp>
      <p:sp>
        <p:nvSpPr>
          <p:cNvPr id="4" name="Page number"/>
          <p:cNvSpPr txBox="1"/>
          <p:nvPr/>
        </p:nvSpPr>
        <p:spPr>
          <a:xfrm>
            <a:off x="11094415" y="6355080"/>
            <a:ext cx="548640" cy="274320"/>
          </a:xfrm>
          <a:prstGeom prst="rect">
            <a:avLst/>
          </a:prstGeom>
          <a:noFill/>
        </p:spPr>
        <p:txBody>
          <a:bodyPr wrap="square" lIns="0" tIns="0" rIns="0" bIns="0" anchor="t">
            <a:spAutoFit/>
          </a:bodyPr>
          <a:lstStyle/>
          <a:p>
            <a:pPr algn="r"/>
            <a:r>
              <a:rPr sz="1000" b="0">
                <a:solidFill>
                  <a:srgbClr val="5A6478"/>
                </a:solidFill>
                <a:latin typeface="Arial"/>
              </a:rPr>
              <a:t>11</a:t>
            </a:r>
          </a:p>
        </p:txBody>
      </p:sp>
      <p:graphicFrame>
        <p:nvGraphicFramePr>
          <p:cNvPr id="5" name="Channel table"/>
          <p:cNvGraphicFramePr>
            <a:graphicFrameLocks noGrp="1"/>
          </p:cNvGraphicFramePr>
          <p:nvPr/>
        </p:nvGraphicFramePr>
        <p:xfrm>
          <a:off x="548640" y="1417320"/>
          <a:ext cx="11094415" cy="3870960"/>
        </p:xfrm>
        <a:graphic>
          <a:graphicData uri="http://schemas.openxmlformats.org/drawingml/2006/table">
            <a:tbl>
              <a:tblPr firstRow="1">
                <a:tableStyleId>{5C22544A-7EE6-4342-B048-85BDC9FD1C3A}</a:tableStyleId>
              </a:tblPr>
              <a:tblGrid>
                <a:gridCol w="26974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218895">
                  <a:extLst>
                    <a:ext uri="{9D8B030D-6E8A-4147-A177-3AD203B41FA5}">
                      <a16:colId xmlns:a16="http://schemas.microsoft.com/office/drawing/2014/main" val="20006"/>
                    </a:ext>
                  </a:extLst>
                </a:gridCol>
              </a:tblGrid>
              <a:tr h="475488">
                <a:tc>
                  <a:txBody>
                    <a:bodyPr/>
                    <a:lstStyle/>
                    <a:p>
                      <a:pPr algn="l"/>
                      <a:r>
                        <a:rPr sz="1600" b="1">
                          <a:solidFill>
                            <a:srgbClr val="FFFFFF"/>
                          </a:solidFill>
                          <a:latin typeface="Arial"/>
                        </a:rPr>
                        <a:t>Channel</a:t>
                      </a:r>
                    </a:p>
                  </a:txBody>
                  <a:tcPr marL="73152" marR="73152" marT="27432" marB="27432" anchor="ctr">
                    <a:solidFill>
                      <a:srgbClr val="14213D"/>
                    </a:solidFill>
                  </a:tcPr>
                </a:tc>
                <a:tc>
                  <a:txBody>
                    <a:bodyPr/>
                    <a:lstStyle/>
                    <a:p>
                      <a:pPr algn="r"/>
                      <a:r>
                        <a:rPr sz="1600" b="1">
                          <a:solidFill>
                            <a:srgbClr val="FFFFFF"/>
                          </a:solidFill>
                          <a:latin typeface="Arial"/>
                        </a:rPr>
                        <a:t>Spend</a:t>
                      </a:r>
                    </a:p>
                  </a:txBody>
                  <a:tcPr marL="73152" marR="73152" marT="27432" marB="27432" anchor="ctr">
                    <a:solidFill>
                      <a:srgbClr val="14213D"/>
                    </a:solidFill>
                  </a:tcPr>
                </a:tc>
                <a:tc>
                  <a:txBody>
                    <a:bodyPr/>
                    <a:lstStyle/>
                    <a:p>
                      <a:pPr algn="r"/>
                      <a:r>
                        <a:rPr sz="1600" b="1">
                          <a:solidFill>
                            <a:srgbClr val="FFFFFF"/>
                          </a:solidFill>
                          <a:latin typeface="Arial"/>
                        </a:rPr>
                        <a:t>Conversions</a:t>
                      </a:r>
                    </a:p>
                  </a:txBody>
                  <a:tcPr marL="73152" marR="73152" marT="27432" marB="27432" anchor="ctr">
                    <a:solidFill>
                      <a:srgbClr val="14213D"/>
                    </a:solidFill>
                  </a:tcPr>
                </a:tc>
                <a:tc>
                  <a:txBody>
                    <a:bodyPr/>
                    <a:lstStyle/>
                    <a:p>
                      <a:pPr algn="r"/>
                      <a:r>
                        <a:rPr sz="1600" b="1">
                          <a:solidFill>
                            <a:srgbClr val="FFFFFF"/>
                          </a:solidFill>
                          <a:latin typeface="Arial"/>
                        </a:rPr>
                        <a:t>Unique leads</a:t>
                      </a:r>
                    </a:p>
                  </a:txBody>
                  <a:tcPr marL="73152" marR="73152" marT="27432" marB="27432" anchor="ctr">
                    <a:solidFill>
                      <a:srgbClr val="14213D"/>
                    </a:solidFill>
                  </a:tcPr>
                </a:tc>
                <a:tc>
                  <a:txBody>
                    <a:bodyPr/>
                    <a:lstStyle/>
                    <a:p>
                      <a:pPr algn="r"/>
                      <a:r>
                        <a:rPr sz="1600" b="1">
                          <a:solidFill>
                            <a:srgbClr val="FFFFFF"/>
                          </a:solidFill>
                          <a:latin typeface="Arial"/>
                        </a:rPr>
                        <a:t>Closed revenue</a:t>
                      </a:r>
                    </a:p>
                  </a:txBody>
                  <a:tcPr marL="73152" marR="73152" marT="27432" marB="27432" anchor="ctr">
                    <a:solidFill>
                      <a:srgbClr val="14213D"/>
                    </a:solidFill>
                  </a:tcPr>
                </a:tc>
                <a:tc>
                  <a:txBody>
                    <a:bodyPr/>
                    <a:lstStyle/>
                    <a:p>
                      <a:pPr algn="r"/>
                      <a:r>
                        <a:rPr sz="1600" b="1">
                          <a:solidFill>
                            <a:srgbClr val="FFFFFF"/>
                          </a:solidFill>
                          <a:latin typeface="Arial"/>
                        </a:rPr>
                        <a:t>Share</a:t>
                      </a:r>
                    </a:p>
                  </a:txBody>
                  <a:tcPr marL="73152" marR="73152" marT="27432" marB="27432" anchor="ctr">
                    <a:solidFill>
                      <a:srgbClr val="14213D"/>
                    </a:solidFill>
                  </a:tcPr>
                </a:tc>
                <a:tc>
                  <a:txBody>
                    <a:bodyPr/>
                    <a:lstStyle/>
                    <a:p>
                      <a:pPr algn="r"/>
                      <a:r>
                        <a:rPr sz="1600" b="1">
                          <a:solidFill>
                            <a:srgbClr val="FFFFFF"/>
                          </a:solidFill>
                          <a:latin typeface="Arial"/>
                        </a:rPr>
                        <a:t>ROAS</a:t>
                      </a:r>
                    </a:p>
                  </a:txBody>
                  <a:tcPr marL="73152" marR="73152" marT="27432" marB="27432" anchor="ctr">
                    <a:solidFill>
                      <a:srgbClr val="14213D"/>
                    </a:solidFill>
                  </a:tcPr>
                </a:tc>
                <a:extLst>
                  <a:ext uri="{0D108BD9-81ED-4DB2-BD59-A6C34878D82A}">
                    <a16:rowId xmlns:a16="http://schemas.microsoft.com/office/drawing/2014/main" val="10000"/>
                  </a:ext>
                </a:extLst>
              </a:tr>
              <a:tr h="475488">
                <a:tc>
                  <a:txBody>
                    <a:bodyPr/>
                    <a:lstStyle/>
                    <a:p>
                      <a:pPr algn="l"/>
                      <a:r>
                        <a:rPr sz="1600" b="0">
                          <a:solidFill>
                            <a:srgbClr val="14213D"/>
                          </a:solidFill>
                          <a:latin typeface="Arial"/>
                        </a:rPr>
                        <a:t>Organic</a:t>
                      </a:r>
                    </a:p>
                  </a:txBody>
                  <a:tcPr marL="73152" marR="73152" marT="27432" marB="27432" anchor="ctr">
                    <a:solidFill>
                      <a:srgbClr val="FFFFFF"/>
                    </a:solidFill>
                  </a:tcPr>
                </a:tc>
                <a:tc>
                  <a:txBody>
                    <a:bodyPr/>
                    <a:lstStyle/>
                    <a:p>
                      <a:pPr algn="r"/>
                      <a:r>
                        <a:rPr sz="1600" b="0">
                          <a:solidFill>
                            <a:srgbClr val="14213D"/>
                          </a:solidFill>
                          <a:latin typeface="Arial"/>
                        </a:rPr>
                        <a:t>—</a:t>
                      </a:r>
                    </a:p>
                  </a:txBody>
                  <a:tcPr marL="73152" marR="73152" marT="27432" marB="27432" anchor="ctr">
                    <a:solidFill>
                      <a:srgbClr val="FFFFFF"/>
                    </a:solidFill>
                  </a:tcPr>
                </a:tc>
                <a:tc>
                  <a:txBody>
                    <a:bodyPr/>
                    <a:lstStyle/>
                    <a:p>
                      <a:pPr algn="r"/>
                      <a:r>
                        <a:rPr sz="1600" b="0">
                          <a:solidFill>
                            <a:srgbClr val="14213D"/>
                          </a:solidFill>
                          <a:latin typeface="Arial"/>
                        </a:rPr>
                        <a:t>1,609</a:t>
                      </a:r>
                    </a:p>
                  </a:txBody>
                  <a:tcPr marL="73152" marR="73152" marT="27432" marB="27432" anchor="ctr">
                    <a:solidFill>
                      <a:srgbClr val="FFFFFF"/>
                    </a:solidFill>
                  </a:tcPr>
                </a:tc>
                <a:tc>
                  <a:txBody>
                    <a:bodyPr/>
                    <a:lstStyle/>
                    <a:p>
                      <a:pPr algn="r"/>
                      <a:r>
                        <a:rPr sz="1600" b="0">
                          <a:solidFill>
                            <a:srgbClr val="14213D"/>
                          </a:solidFill>
                          <a:latin typeface="Arial"/>
                        </a:rPr>
                        <a:t>1,140</a:t>
                      </a:r>
                    </a:p>
                  </a:txBody>
                  <a:tcPr marL="73152" marR="73152" marT="27432" marB="27432" anchor="ctr">
                    <a:solidFill>
                      <a:srgbClr val="FFFFFF"/>
                    </a:solidFill>
                  </a:tcPr>
                </a:tc>
                <a:tc>
                  <a:txBody>
                    <a:bodyPr/>
                    <a:lstStyle/>
                    <a:p>
                      <a:pPr algn="r"/>
                      <a:r>
                        <a:rPr sz="1600" b="0">
                          <a:solidFill>
                            <a:srgbClr val="14213D"/>
                          </a:solidFill>
                          <a:latin typeface="Arial"/>
                        </a:rPr>
                        <a:t>$351,993</a:t>
                      </a:r>
                    </a:p>
                  </a:txBody>
                  <a:tcPr marL="73152" marR="73152" marT="27432" marB="27432" anchor="ctr">
                    <a:solidFill>
                      <a:srgbClr val="FFFFFF"/>
                    </a:solidFill>
                  </a:tcPr>
                </a:tc>
                <a:tc>
                  <a:txBody>
                    <a:bodyPr/>
                    <a:lstStyle/>
                    <a:p>
                      <a:pPr algn="r"/>
                      <a:r>
                        <a:rPr sz="1600" b="0">
                          <a:solidFill>
                            <a:srgbClr val="14213D"/>
                          </a:solidFill>
                          <a:latin typeface="Arial"/>
                        </a:rPr>
                        <a:t>42.8%</a:t>
                      </a:r>
                    </a:p>
                  </a:txBody>
                  <a:tcPr marL="73152" marR="73152" marT="27432" marB="27432" anchor="ctr">
                    <a:solidFill>
                      <a:srgbClr val="FFFFFF"/>
                    </a:solidFill>
                  </a:tcPr>
                </a:tc>
                <a:tc>
                  <a:txBody>
                    <a:bodyPr/>
                    <a:lstStyle/>
                    <a:p>
                      <a:pPr algn="r"/>
                      <a:r>
                        <a:rPr sz="1600" b="0">
                          <a:solidFill>
                            <a:srgbClr val="14213D"/>
                          </a:solidFill>
                          <a:latin typeface="Arial"/>
                        </a:rPr>
                        <a:t>—</a:t>
                      </a:r>
                    </a:p>
                  </a:txBody>
                  <a:tcPr marL="73152" marR="73152" marT="27432" marB="27432" anchor="ctr">
                    <a:solidFill>
                      <a:srgbClr val="FFFFFF"/>
                    </a:solidFill>
                  </a:tcPr>
                </a:tc>
                <a:extLst>
                  <a:ext uri="{0D108BD9-81ED-4DB2-BD59-A6C34878D82A}">
                    <a16:rowId xmlns:a16="http://schemas.microsoft.com/office/drawing/2014/main" val="10001"/>
                  </a:ext>
                </a:extLst>
              </a:tr>
              <a:tr h="475488">
                <a:tc>
                  <a:txBody>
                    <a:bodyPr/>
                    <a:lstStyle/>
                    <a:p>
                      <a:pPr algn="l"/>
                      <a:r>
                        <a:rPr sz="1600" b="0">
                          <a:solidFill>
                            <a:srgbClr val="14213D"/>
                          </a:solidFill>
                          <a:latin typeface="Arial"/>
                        </a:rPr>
                        <a:t>Advertising</a:t>
                      </a:r>
                    </a:p>
                  </a:txBody>
                  <a:tcPr marL="73152" marR="73152" marT="27432" marB="27432" anchor="ctr">
                    <a:solidFill>
                      <a:srgbClr val="F7F6F2"/>
                    </a:solidFill>
                  </a:tcPr>
                </a:tc>
                <a:tc>
                  <a:txBody>
                    <a:bodyPr/>
                    <a:lstStyle/>
                    <a:p>
                      <a:pPr algn="r"/>
                      <a:r>
                        <a:rPr sz="1600" b="0">
                          <a:solidFill>
                            <a:srgbClr val="14213D"/>
                          </a:solidFill>
                          <a:latin typeface="Arial"/>
                        </a:rPr>
                        <a:t>$177,204</a:t>
                      </a:r>
                    </a:p>
                  </a:txBody>
                  <a:tcPr marL="73152" marR="73152" marT="27432" marB="27432" anchor="ctr">
                    <a:solidFill>
                      <a:srgbClr val="F7F6F2"/>
                    </a:solidFill>
                  </a:tcPr>
                </a:tc>
                <a:tc>
                  <a:txBody>
                    <a:bodyPr/>
                    <a:lstStyle/>
                    <a:p>
                      <a:pPr algn="r"/>
                      <a:r>
                        <a:rPr sz="1600" b="0">
                          <a:solidFill>
                            <a:srgbClr val="14213D"/>
                          </a:solidFill>
                          <a:latin typeface="Arial"/>
                        </a:rPr>
                        <a:t>2,331</a:t>
                      </a:r>
                    </a:p>
                  </a:txBody>
                  <a:tcPr marL="73152" marR="73152" marT="27432" marB="27432" anchor="ctr">
                    <a:solidFill>
                      <a:srgbClr val="F7F6F2"/>
                    </a:solidFill>
                  </a:tcPr>
                </a:tc>
                <a:tc>
                  <a:txBody>
                    <a:bodyPr/>
                    <a:lstStyle/>
                    <a:p>
                      <a:pPr algn="r"/>
                      <a:r>
                        <a:rPr sz="1600" b="0">
                          <a:solidFill>
                            <a:srgbClr val="14213D"/>
                          </a:solidFill>
                          <a:latin typeface="Arial"/>
                        </a:rPr>
                        <a:t>1,843</a:t>
                      </a:r>
                    </a:p>
                  </a:txBody>
                  <a:tcPr marL="73152" marR="73152" marT="27432" marB="27432" anchor="ctr">
                    <a:solidFill>
                      <a:srgbClr val="F7F6F2"/>
                    </a:solidFill>
                  </a:tcPr>
                </a:tc>
                <a:tc>
                  <a:txBody>
                    <a:bodyPr/>
                    <a:lstStyle/>
                    <a:p>
                      <a:pPr algn="r"/>
                      <a:r>
                        <a:rPr sz="1600" b="0">
                          <a:solidFill>
                            <a:srgbClr val="14213D"/>
                          </a:solidFill>
                          <a:latin typeface="Arial"/>
                        </a:rPr>
                        <a:t>$331,017</a:t>
                      </a:r>
                    </a:p>
                  </a:txBody>
                  <a:tcPr marL="73152" marR="73152" marT="27432" marB="27432" anchor="ctr">
                    <a:solidFill>
                      <a:srgbClr val="F7F6F2"/>
                    </a:solidFill>
                  </a:tcPr>
                </a:tc>
                <a:tc>
                  <a:txBody>
                    <a:bodyPr/>
                    <a:lstStyle/>
                    <a:p>
                      <a:pPr algn="r"/>
                      <a:r>
                        <a:rPr sz="1600" b="0">
                          <a:solidFill>
                            <a:srgbClr val="14213D"/>
                          </a:solidFill>
                          <a:latin typeface="Arial"/>
                        </a:rPr>
                        <a:t>40.3%</a:t>
                      </a:r>
                    </a:p>
                  </a:txBody>
                  <a:tcPr marL="73152" marR="73152" marT="27432" marB="27432" anchor="ctr">
                    <a:solidFill>
                      <a:srgbClr val="F7F6F2"/>
                    </a:solidFill>
                  </a:tcPr>
                </a:tc>
                <a:tc>
                  <a:txBody>
                    <a:bodyPr/>
                    <a:lstStyle/>
                    <a:p>
                      <a:pPr algn="r"/>
                      <a:r>
                        <a:rPr sz="1600" b="0">
                          <a:solidFill>
                            <a:srgbClr val="14213D"/>
                          </a:solidFill>
                          <a:latin typeface="Arial"/>
                        </a:rPr>
                        <a:t>—</a:t>
                      </a:r>
                    </a:p>
                  </a:txBody>
                  <a:tcPr marL="73152" marR="73152" marT="27432" marB="27432" anchor="ctr">
                    <a:solidFill>
                      <a:srgbClr val="F7F6F2"/>
                    </a:solidFill>
                  </a:tcPr>
                </a:tc>
                <a:extLst>
                  <a:ext uri="{0D108BD9-81ED-4DB2-BD59-A6C34878D82A}">
                    <a16:rowId xmlns:a16="http://schemas.microsoft.com/office/drawing/2014/main" val="10002"/>
                  </a:ext>
                </a:extLst>
              </a:tr>
              <a:tr h="475488">
                <a:tc>
                  <a:txBody>
                    <a:bodyPr/>
                    <a:lstStyle/>
                    <a:p>
                      <a:pPr algn="l"/>
                      <a:r>
                        <a:rPr sz="1600" b="0">
                          <a:solidFill>
                            <a:srgbClr val="14213D"/>
                          </a:solidFill>
                          <a:latin typeface="Arial"/>
                        </a:rPr>
                        <a:t>Other</a:t>
                      </a:r>
                    </a:p>
                  </a:txBody>
                  <a:tcPr marL="73152" marR="73152" marT="27432" marB="27432" anchor="ctr">
                    <a:solidFill>
                      <a:srgbClr val="FFFFFF"/>
                    </a:solidFill>
                  </a:tcPr>
                </a:tc>
                <a:tc>
                  <a:txBody>
                    <a:bodyPr/>
                    <a:lstStyle/>
                    <a:p>
                      <a:pPr algn="r"/>
                      <a:r>
                        <a:rPr sz="1600" b="0">
                          <a:solidFill>
                            <a:srgbClr val="14213D"/>
                          </a:solidFill>
                          <a:latin typeface="Arial"/>
                        </a:rPr>
                        <a:t>—</a:t>
                      </a:r>
                    </a:p>
                  </a:txBody>
                  <a:tcPr marL="73152" marR="73152" marT="27432" marB="27432" anchor="ctr">
                    <a:solidFill>
                      <a:srgbClr val="FFFFFF"/>
                    </a:solidFill>
                  </a:tcPr>
                </a:tc>
                <a:tc>
                  <a:txBody>
                    <a:bodyPr/>
                    <a:lstStyle/>
                    <a:p>
                      <a:pPr algn="r"/>
                      <a:r>
                        <a:rPr sz="1600" b="0">
                          <a:solidFill>
                            <a:srgbClr val="14213D"/>
                          </a:solidFill>
                          <a:latin typeface="Arial"/>
                        </a:rPr>
                        <a:t>888</a:t>
                      </a:r>
                    </a:p>
                  </a:txBody>
                  <a:tcPr marL="73152" marR="73152" marT="27432" marB="27432" anchor="ctr">
                    <a:solidFill>
                      <a:srgbClr val="FFFFFF"/>
                    </a:solidFill>
                  </a:tcPr>
                </a:tc>
                <a:tc>
                  <a:txBody>
                    <a:bodyPr/>
                    <a:lstStyle/>
                    <a:p>
                      <a:pPr algn="r"/>
                      <a:r>
                        <a:rPr sz="1600" b="0">
                          <a:solidFill>
                            <a:srgbClr val="14213D"/>
                          </a:solidFill>
                          <a:latin typeface="Arial"/>
                        </a:rPr>
                        <a:t>520</a:t>
                      </a:r>
                    </a:p>
                  </a:txBody>
                  <a:tcPr marL="73152" marR="73152" marT="27432" marB="27432" anchor="ctr">
                    <a:solidFill>
                      <a:srgbClr val="FFFFFF"/>
                    </a:solidFill>
                  </a:tcPr>
                </a:tc>
                <a:tc>
                  <a:txBody>
                    <a:bodyPr/>
                    <a:lstStyle/>
                    <a:p>
                      <a:pPr algn="r"/>
                      <a:r>
                        <a:rPr sz="1600" b="0">
                          <a:solidFill>
                            <a:srgbClr val="14213D"/>
                          </a:solidFill>
                          <a:latin typeface="Arial"/>
                        </a:rPr>
                        <a:t>$120,728</a:t>
                      </a:r>
                    </a:p>
                  </a:txBody>
                  <a:tcPr marL="73152" marR="73152" marT="27432" marB="27432" anchor="ctr">
                    <a:solidFill>
                      <a:srgbClr val="FFFFFF"/>
                    </a:solidFill>
                  </a:tcPr>
                </a:tc>
                <a:tc>
                  <a:txBody>
                    <a:bodyPr/>
                    <a:lstStyle/>
                    <a:p>
                      <a:pPr algn="r"/>
                      <a:r>
                        <a:rPr sz="1600" b="0">
                          <a:solidFill>
                            <a:srgbClr val="14213D"/>
                          </a:solidFill>
                          <a:latin typeface="Arial"/>
                        </a:rPr>
                        <a:t>14.7%</a:t>
                      </a:r>
                    </a:p>
                  </a:txBody>
                  <a:tcPr marL="73152" marR="73152" marT="27432" marB="27432" anchor="ctr">
                    <a:solidFill>
                      <a:srgbClr val="FFFFFF"/>
                    </a:solidFill>
                  </a:tcPr>
                </a:tc>
                <a:tc>
                  <a:txBody>
                    <a:bodyPr/>
                    <a:lstStyle/>
                    <a:p>
                      <a:pPr algn="r"/>
                      <a:r>
                        <a:rPr sz="1600" b="0">
                          <a:solidFill>
                            <a:srgbClr val="14213D"/>
                          </a:solidFill>
                          <a:latin typeface="Arial"/>
                        </a:rPr>
                        <a:t>—</a:t>
                      </a:r>
                    </a:p>
                  </a:txBody>
                  <a:tcPr marL="73152" marR="73152" marT="27432" marB="27432" anchor="ctr">
                    <a:solidFill>
                      <a:srgbClr val="FFFFFF"/>
                    </a:solidFill>
                  </a:tcPr>
                </a:tc>
                <a:extLst>
                  <a:ext uri="{0D108BD9-81ED-4DB2-BD59-A6C34878D82A}">
                    <a16:rowId xmlns:a16="http://schemas.microsoft.com/office/drawing/2014/main" val="10003"/>
                  </a:ext>
                </a:extLst>
              </a:tr>
              <a:tr h="475488">
                <a:tc>
                  <a:txBody>
                    <a:bodyPr/>
                    <a:lstStyle/>
                    <a:p>
                      <a:pPr algn="l"/>
                      <a:r>
                        <a:rPr sz="1600" b="0">
                          <a:solidFill>
                            <a:srgbClr val="14213D"/>
                          </a:solidFill>
                          <a:latin typeface="Arial"/>
                        </a:rPr>
                        <a:t>Direct</a:t>
                      </a:r>
                    </a:p>
                  </a:txBody>
                  <a:tcPr marL="73152" marR="73152" marT="27432" marB="27432" anchor="ctr">
                    <a:solidFill>
                      <a:srgbClr val="F7F6F2"/>
                    </a:solidFill>
                  </a:tcPr>
                </a:tc>
                <a:tc>
                  <a:txBody>
                    <a:bodyPr/>
                    <a:lstStyle/>
                    <a:p>
                      <a:pPr algn="r"/>
                      <a:r>
                        <a:rPr sz="1600" b="0">
                          <a:solidFill>
                            <a:srgbClr val="14213D"/>
                          </a:solidFill>
                          <a:latin typeface="Arial"/>
                        </a:rPr>
                        <a:t>—</a:t>
                      </a:r>
                    </a:p>
                  </a:txBody>
                  <a:tcPr marL="73152" marR="73152" marT="27432" marB="27432" anchor="ctr">
                    <a:solidFill>
                      <a:srgbClr val="F7F6F2"/>
                    </a:solidFill>
                  </a:tcPr>
                </a:tc>
                <a:tc>
                  <a:txBody>
                    <a:bodyPr/>
                    <a:lstStyle/>
                    <a:p>
                      <a:pPr algn="r"/>
                      <a:r>
                        <a:rPr sz="1600" b="0">
                          <a:solidFill>
                            <a:srgbClr val="14213D"/>
                          </a:solidFill>
                          <a:latin typeface="Arial"/>
                        </a:rPr>
                        <a:t>192</a:t>
                      </a:r>
                    </a:p>
                  </a:txBody>
                  <a:tcPr marL="73152" marR="73152" marT="27432" marB="27432" anchor="ctr">
                    <a:solidFill>
                      <a:srgbClr val="F7F6F2"/>
                    </a:solidFill>
                  </a:tcPr>
                </a:tc>
                <a:tc>
                  <a:txBody>
                    <a:bodyPr/>
                    <a:lstStyle/>
                    <a:p>
                      <a:pPr algn="r"/>
                      <a:r>
                        <a:rPr sz="1600" b="0">
                          <a:solidFill>
                            <a:srgbClr val="14213D"/>
                          </a:solidFill>
                          <a:latin typeface="Arial"/>
                        </a:rPr>
                        <a:t>111</a:t>
                      </a:r>
                    </a:p>
                  </a:txBody>
                  <a:tcPr marL="73152" marR="73152" marT="27432" marB="27432" anchor="ctr">
                    <a:solidFill>
                      <a:srgbClr val="F7F6F2"/>
                    </a:solidFill>
                  </a:tcPr>
                </a:tc>
                <a:tc>
                  <a:txBody>
                    <a:bodyPr/>
                    <a:lstStyle/>
                    <a:p>
                      <a:pPr algn="r"/>
                      <a:r>
                        <a:rPr sz="1600" b="0">
                          <a:solidFill>
                            <a:srgbClr val="14213D"/>
                          </a:solidFill>
                          <a:latin typeface="Arial"/>
                        </a:rPr>
                        <a:t>$17,147</a:t>
                      </a:r>
                    </a:p>
                  </a:txBody>
                  <a:tcPr marL="73152" marR="73152" marT="27432" marB="27432" anchor="ctr">
                    <a:solidFill>
                      <a:srgbClr val="F7F6F2"/>
                    </a:solidFill>
                  </a:tcPr>
                </a:tc>
                <a:tc>
                  <a:txBody>
                    <a:bodyPr/>
                    <a:lstStyle/>
                    <a:p>
                      <a:pPr algn="r"/>
                      <a:r>
                        <a:rPr sz="1600" b="0">
                          <a:solidFill>
                            <a:srgbClr val="14213D"/>
                          </a:solidFill>
                          <a:latin typeface="Arial"/>
                        </a:rPr>
                        <a:t>2.1%</a:t>
                      </a:r>
                    </a:p>
                  </a:txBody>
                  <a:tcPr marL="73152" marR="73152" marT="27432" marB="27432" anchor="ctr">
                    <a:solidFill>
                      <a:srgbClr val="F7F6F2"/>
                    </a:solidFill>
                  </a:tcPr>
                </a:tc>
                <a:tc>
                  <a:txBody>
                    <a:bodyPr/>
                    <a:lstStyle/>
                    <a:p>
                      <a:pPr algn="r"/>
                      <a:r>
                        <a:rPr sz="1600" b="0">
                          <a:solidFill>
                            <a:srgbClr val="14213D"/>
                          </a:solidFill>
                          <a:latin typeface="Arial"/>
                        </a:rPr>
                        <a:t>—</a:t>
                      </a:r>
                    </a:p>
                  </a:txBody>
                  <a:tcPr marL="73152" marR="73152" marT="27432" marB="27432" anchor="ctr">
                    <a:solidFill>
                      <a:srgbClr val="F7F6F2"/>
                    </a:solidFill>
                  </a:tcPr>
                </a:tc>
                <a:extLst>
                  <a:ext uri="{0D108BD9-81ED-4DB2-BD59-A6C34878D82A}">
                    <a16:rowId xmlns:a16="http://schemas.microsoft.com/office/drawing/2014/main" val="10004"/>
                  </a:ext>
                </a:extLst>
              </a:tr>
              <a:tr h="475488">
                <a:tc>
                  <a:txBody>
                    <a:bodyPr/>
                    <a:lstStyle/>
                    <a:p>
                      <a:pPr algn="l"/>
                      <a:r>
                        <a:rPr sz="1600" b="0">
                          <a:solidFill>
                            <a:srgbClr val="14213D"/>
                          </a:solidFill>
                          <a:latin typeface="Arial"/>
                        </a:rPr>
                        <a:t>Direct Marketing</a:t>
                      </a:r>
                    </a:p>
                  </a:txBody>
                  <a:tcPr marL="73152" marR="73152" marT="27432" marB="27432" anchor="ctr">
                    <a:solidFill>
                      <a:srgbClr val="FFFFFF"/>
                    </a:solidFill>
                  </a:tcPr>
                </a:tc>
                <a:tc>
                  <a:txBody>
                    <a:bodyPr/>
                    <a:lstStyle/>
                    <a:p>
                      <a:pPr algn="r"/>
                      <a:r>
                        <a:rPr sz="1600" b="0">
                          <a:solidFill>
                            <a:srgbClr val="14213D"/>
                          </a:solidFill>
                          <a:latin typeface="Arial"/>
                        </a:rPr>
                        <a:t>—</a:t>
                      </a:r>
                    </a:p>
                  </a:txBody>
                  <a:tcPr marL="73152" marR="73152" marT="27432" marB="27432" anchor="ctr">
                    <a:solidFill>
                      <a:srgbClr val="FFFFFF"/>
                    </a:solidFill>
                  </a:tcPr>
                </a:tc>
                <a:tc>
                  <a:txBody>
                    <a:bodyPr/>
                    <a:lstStyle/>
                    <a:p>
                      <a:pPr algn="r"/>
                      <a:r>
                        <a:rPr sz="1600" b="0">
                          <a:solidFill>
                            <a:srgbClr val="14213D"/>
                          </a:solidFill>
                          <a:latin typeface="Arial"/>
                        </a:rPr>
                        <a:t>10</a:t>
                      </a:r>
                    </a:p>
                  </a:txBody>
                  <a:tcPr marL="73152" marR="73152" marT="27432" marB="27432" anchor="ctr">
                    <a:solidFill>
                      <a:srgbClr val="FFFFFF"/>
                    </a:solidFill>
                  </a:tcPr>
                </a:tc>
                <a:tc>
                  <a:txBody>
                    <a:bodyPr/>
                    <a:lstStyle/>
                    <a:p>
                      <a:pPr algn="r"/>
                      <a:r>
                        <a:rPr sz="1600" b="0">
                          <a:solidFill>
                            <a:srgbClr val="14213D"/>
                          </a:solidFill>
                          <a:latin typeface="Arial"/>
                        </a:rPr>
                        <a:t>9</a:t>
                      </a:r>
                    </a:p>
                  </a:txBody>
                  <a:tcPr marL="73152" marR="73152" marT="27432" marB="27432" anchor="ctr">
                    <a:solidFill>
                      <a:srgbClr val="FFFFFF"/>
                    </a:solidFill>
                  </a:tcPr>
                </a:tc>
                <a:tc>
                  <a:txBody>
                    <a:bodyPr/>
                    <a:lstStyle/>
                    <a:p>
                      <a:pPr algn="r"/>
                      <a:r>
                        <a:rPr sz="1600" b="0">
                          <a:solidFill>
                            <a:srgbClr val="14213D"/>
                          </a:solidFill>
                          <a:latin typeface="Arial"/>
                        </a:rPr>
                        <a:t>$1,177</a:t>
                      </a:r>
                    </a:p>
                  </a:txBody>
                  <a:tcPr marL="73152" marR="73152" marT="27432" marB="27432" anchor="ctr">
                    <a:solidFill>
                      <a:srgbClr val="FFFFFF"/>
                    </a:solidFill>
                  </a:tcPr>
                </a:tc>
                <a:tc>
                  <a:txBody>
                    <a:bodyPr/>
                    <a:lstStyle/>
                    <a:p>
                      <a:pPr algn="r"/>
                      <a:r>
                        <a:rPr sz="1600" b="0">
                          <a:solidFill>
                            <a:srgbClr val="14213D"/>
                          </a:solidFill>
                          <a:latin typeface="Arial"/>
                        </a:rPr>
                        <a:t>0.1%</a:t>
                      </a:r>
                    </a:p>
                  </a:txBody>
                  <a:tcPr marL="73152" marR="73152" marT="27432" marB="27432" anchor="ctr">
                    <a:solidFill>
                      <a:srgbClr val="FFFFFF"/>
                    </a:solidFill>
                  </a:tcPr>
                </a:tc>
                <a:tc>
                  <a:txBody>
                    <a:bodyPr/>
                    <a:lstStyle/>
                    <a:p>
                      <a:pPr algn="r"/>
                      <a:r>
                        <a:rPr sz="1600" b="0">
                          <a:solidFill>
                            <a:srgbClr val="14213D"/>
                          </a:solidFill>
                          <a:latin typeface="Arial"/>
                        </a:rPr>
                        <a:t>—</a:t>
                      </a:r>
                    </a:p>
                  </a:txBody>
                  <a:tcPr marL="73152" marR="73152" marT="27432" marB="27432" anchor="ctr">
                    <a:solidFill>
                      <a:srgbClr val="FFFFFF"/>
                    </a:solidFill>
                  </a:tcPr>
                </a:tc>
                <a:extLst>
                  <a:ext uri="{0D108BD9-81ED-4DB2-BD59-A6C34878D82A}">
                    <a16:rowId xmlns:a16="http://schemas.microsoft.com/office/drawing/2014/main" val="10005"/>
                  </a:ext>
                </a:extLst>
              </a:tr>
              <a:tr h="475488">
                <a:tc>
                  <a:txBody>
                    <a:bodyPr/>
                    <a:lstStyle/>
                    <a:p>
                      <a:pPr algn="l"/>
                      <a:r>
                        <a:rPr sz="1600" b="0">
                          <a:solidFill>
                            <a:srgbClr val="14213D"/>
                          </a:solidFill>
                          <a:latin typeface="Arial"/>
                        </a:rPr>
                        <a:t>Artificial Intelligence</a:t>
                      </a:r>
                    </a:p>
                  </a:txBody>
                  <a:tcPr marL="73152" marR="73152" marT="27432" marB="27432" anchor="ctr">
                    <a:solidFill>
                      <a:srgbClr val="F7F6F2"/>
                    </a:solidFill>
                  </a:tcPr>
                </a:tc>
                <a:tc>
                  <a:txBody>
                    <a:bodyPr/>
                    <a:lstStyle/>
                    <a:p>
                      <a:pPr algn="r"/>
                      <a:r>
                        <a:rPr sz="1600" b="0">
                          <a:solidFill>
                            <a:srgbClr val="14213D"/>
                          </a:solidFill>
                          <a:latin typeface="Arial"/>
                        </a:rPr>
                        <a:t>—</a:t>
                      </a:r>
                    </a:p>
                  </a:txBody>
                  <a:tcPr marL="73152" marR="73152" marT="27432" marB="27432" anchor="ctr">
                    <a:solidFill>
                      <a:srgbClr val="F7F6F2"/>
                    </a:solidFill>
                  </a:tcPr>
                </a:tc>
                <a:tc>
                  <a:txBody>
                    <a:bodyPr/>
                    <a:lstStyle/>
                    <a:p>
                      <a:pPr algn="r"/>
                      <a:r>
                        <a:rPr sz="1600" b="0">
                          <a:solidFill>
                            <a:srgbClr val="14213D"/>
                          </a:solidFill>
                          <a:latin typeface="Arial"/>
                        </a:rPr>
                        <a:t>10</a:t>
                      </a:r>
                    </a:p>
                  </a:txBody>
                  <a:tcPr marL="73152" marR="73152" marT="27432" marB="27432" anchor="ctr">
                    <a:solidFill>
                      <a:srgbClr val="F7F6F2"/>
                    </a:solidFill>
                  </a:tcPr>
                </a:tc>
                <a:tc>
                  <a:txBody>
                    <a:bodyPr/>
                    <a:lstStyle/>
                    <a:p>
                      <a:pPr algn="r"/>
                      <a:r>
                        <a:rPr sz="1600" b="0">
                          <a:solidFill>
                            <a:srgbClr val="14213D"/>
                          </a:solidFill>
                          <a:latin typeface="Arial"/>
                        </a:rPr>
                        <a:t>8</a:t>
                      </a:r>
                    </a:p>
                  </a:txBody>
                  <a:tcPr marL="73152" marR="73152" marT="27432" marB="27432" anchor="ctr">
                    <a:solidFill>
                      <a:srgbClr val="F7F6F2"/>
                    </a:solidFill>
                  </a:tcPr>
                </a:tc>
                <a:tc>
                  <a:txBody>
                    <a:bodyPr/>
                    <a:lstStyle/>
                    <a:p>
                      <a:pPr algn="r"/>
                      <a:r>
                        <a:rPr sz="1600" b="0">
                          <a:solidFill>
                            <a:srgbClr val="14213D"/>
                          </a:solidFill>
                          <a:latin typeface="Arial"/>
                        </a:rPr>
                        <a:t>$0</a:t>
                      </a:r>
                    </a:p>
                  </a:txBody>
                  <a:tcPr marL="73152" marR="73152" marT="27432" marB="27432" anchor="ctr">
                    <a:solidFill>
                      <a:srgbClr val="F7F6F2"/>
                    </a:solidFill>
                  </a:tcPr>
                </a:tc>
                <a:tc>
                  <a:txBody>
                    <a:bodyPr/>
                    <a:lstStyle/>
                    <a:p>
                      <a:pPr algn="r"/>
                      <a:r>
                        <a:rPr sz="1600" b="0">
                          <a:solidFill>
                            <a:srgbClr val="14213D"/>
                          </a:solidFill>
                          <a:latin typeface="Arial"/>
                        </a:rPr>
                        <a:t>0.0%</a:t>
                      </a:r>
                    </a:p>
                  </a:txBody>
                  <a:tcPr marL="73152" marR="73152" marT="27432" marB="27432" anchor="ctr">
                    <a:solidFill>
                      <a:srgbClr val="F7F6F2"/>
                    </a:solidFill>
                  </a:tcPr>
                </a:tc>
                <a:tc>
                  <a:txBody>
                    <a:bodyPr/>
                    <a:lstStyle/>
                    <a:p>
                      <a:pPr algn="r"/>
                      <a:r>
                        <a:rPr sz="1600" b="0">
                          <a:solidFill>
                            <a:srgbClr val="14213D"/>
                          </a:solidFill>
                          <a:latin typeface="Arial"/>
                        </a:rPr>
                        <a:t>—</a:t>
                      </a:r>
                    </a:p>
                  </a:txBody>
                  <a:tcPr marL="73152" marR="73152" marT="27432" marB="27432" anchor="ctr">
                    <a:solidFill>
                      <a:srgbClr val="F7F6F2"/>
                    </a:solidFill>
                  </a:tcPr>
                </a:tc>
                <a:extLst>
                  <a:ext uri="{0D108BD9-81ED-4DB2-BD59-A6C34878D82A}">
                    <a16:rowId xmlns:a16="http://schemas.microsoft.com/office/drawing/2014/main" val="10006"/>
                  </a:ext>
                </a:extLst>
              </a:tr>
              <a:tr h="475488">
                <a:tc>
                  <a:txBody>
                    <a:bodyPr/>
                    <a:lstStyle/>
                    <a:p>
                      <a:pPr algn="l"/>
                      <a:r>
                        <a:rPr sz="1600" b="1">
                          <a:solidFill>
                            <a:srgbClr val="14213D"/>
                          </a:solidFill>
                          <a:latin typeface="Arial"/>
                        </a:rPr>
                        <a:t>Total</a:t>
                      </a:r>
                    </a:p>
                  </a:txBody>
                  <a:tcPr marL="73152" marR="73152" marT="27432" marB="27432" anchor="ctr">
                    <a:solidFill>
                      <a:srgbClr val="E8ECF3"/>
                    </a:solidFill>
                  </a:tcPr>
                </a:tc>
                <a:tc>
                  <a:txBody>
                    <a:bodyPr/>
                    <a:lstStyle/>
                    <a:p>
                      <a:pPr algn="r"/>
                      <a:r>
                        <a:rPr sz="1600" b="1">
                          <a:solidFill>
                            <a:srgbClr val="14213D"/>
                          </a:solidFill>
                          <a:latin typeface="Arial"/>
                        </a:rPr>
                        <a:t>$177,204</a:t>
                      </a:r>
                    </a:p>
                  </a:txBody>
                  <a:tcPr marL="73152" marR="73152" marT="27432" marB="27432" anchor="ctr">
                    <a:solidFill>
                      <a:srgbClr val="E8ECF3"/>
                    </a:solidFill>
                  </a:tcPr>
                </a:tc>
                <a:tc>
                  <a:txBody>
                    <a:bodyPr/>
                    <a:lstStyle/>
                    <a:p>
                      <a:pPr algn="r"/>
                      <a:r>
                        <a:rPr sz="1600" b="1">
                          <a:solidFill>
                            <a:srgbClr val="14213D"/>
                          </a:solidFill>
                          <a:latin typeface="Arial"/>
                        </a:rPr>
                        <a:t>5,040</a:t>
                      </a:r>
                    </a:p>
                  </a:txBody>
                  <a:tcPr marL="73152" marR="73152" marT="27432" marB="27432" anchor="ctr">
                    <a:solidFill>
                      <a:srgbClr val="E8ECF3"/>
                    </a:solidFill>
                  </a:tcPr>
                </a:tc>
                <a:tc>
                  <a:txBody>
                    <a:bodyPr/>
                    <a:lstStyle/>
                    <a:p>
                      <a:pPr algn="r"/>
                      <a:r>
                        <a:rPr sz="1600" b="1">
                          <a:solidFill>
                            <a:srgbClr val="14213D"/>
                          </a:solidFill>
                          <a:latin typeface="Arial"/>
                        </a:rPr>
                        <a:t>3,631</a:t>
                      </a:r>
                    </a:p>
                  </a:txBody>
                  <a:tcPr marL="73152" marR="73152" marT="27432" marB="27432" anchor="ctr">
                    <a:solidFill>
                      <a:srgbClr val="E8ECF3"/>
                    </a:solidFill>
                  </a:tcPr>
                </a:tc>
                <a:tc>
                  <a:txBody>
                    <a:bodyPr/>
                    <a:lstStyle/>
                    <a:p>
                      <a:pPr algn="r"/>
                      <a:r>
                        <a:rPr sz="1600" b="1">
                          <a:solidFill>
                            <a:srgbClr val="14213D"/>
                          </a:solidFill>
                          <a:latin typeface="Arial"/>
                        </a:rPr>
                        <a:t>$822,061</a:t>
                      </a:r>
                    </a:p>
                  </a:txBody>
                  <a:tcPr marL="73152" marR="73152" marT="27432" marB="27432" anchor="ctr">
                    <a:solidFill>
                      <a:srgbClr val="E8ECF3"/>
                    </a:solidFill>
                  </a:tcPr>
                </a:tc>
                <a:tc>
                  <a:txBody>
                    <a:bodyPr/>
                    <a:lstStyle/>
                    <a:p>
                      <a:pPr algn="r"/>
                      <a:r>
                        <a:rPr sz="1600" b="1">
                          <a:solidFill>
                            <a:srgbClr val="14213D"/>
                          </a:solidFill>
                          <a:latin typeface="Arial"/>
                        </a:rPr>
                        <a:t>100%</a:t>
                      </a:r>
                    </a:p>
                  </a:txBody>
                  <a:tcPr marL="73152" marR="73152" marT="27432" marB="27432" anchor="ctr">
                    <a:solidFill>
                      <a:srgbClr val="E8ECF3"/>
                    </a:solidFill>
                  </a:tcPr>
                </a:tc>
                <a:tc>
                  <a:txBody>
                    <a:bodyPr/>
                    <a:lstStyle/>
                    <a:p>
                      <a:pPr algn="r"/>
                      <a:r>
                        <a:rPr sz="1600" b="1">
                          <a:solidFill>
                            <a:srgbClr val="14213D"/>
                          </a:solidFill>
                          <a:latin typeface="Arial"/>
                        </a:rPr>
                        <a:t>4.64x</a:t>
                      </a:r>
                    </a:p>
                  </a:txBody>
                  <a:tcPr marL="73152" marR="73152" marT="27432" marB="27432" anchor="ctr">
                    <a:solidFill>
                      <a:srgbClr val="E8ECF3"/>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itle"/>
          <p:cNvSpPr txBox="1"/>
          <p:nvPr/>
        </p:nvSpPr>
        <p:spPr>
          <a:xfrm>
            <a:off x="365760" y="78938"/>
            <a:ext cx="11094415" cy="1292662"/>
          </a:xfrm>
          <a:prstGeom prst="rect">
            <a:avLst/>
          </a:prstGeom>
          <a:noFill/>
        </p:spPr>
        <p:txBody>
          <a:bodyPr wrap="square" lIns="0" tIns="0" rIns="0" bIns="0" anchor="t">
            <a:spAutoFit/>
          </a:bodyPr>
          <a:lstStyle/>
          <a:p>
            <a:pPr algn="ctr"/>
            <a:r>
              <a:rPr lang="en-US" sz="2800" b="1" dirty="0">
                <a:solidFill>
                  <a:srgbClr val="14213D"/>
                </a:solidFill>
                <a:latin typeface="Arial"/>
              </a:rPr>
              <a:t>Coastal Air Plus Marketing Revenue</a:t>
            </a:r>
          </a:p>
          <a:p>
            <a:pPr algn="ctr"/>
            <a:r>
              <a:rPr lang="en-US" sz="2800" b="1" dirty="0">
                <a:solidFill>
                  <a:srgbClr val="14213D"/>
                </a:solidFill>
                <a:latin typeface="Arial"/>
              </a:rPr>
              <a:t>January – September </a:t>
            </a:r>
          </a:p>
          <a:p>
            <a:pPr algn="ctr"/>
            <a:r>
              <a:rPr lang="en-US" sz="2800" b="1" dirty="0">
                <a:solidFill>
                  <a:srgbClr val="14213D"/>
                </a:solidFill>
                <a:latin typeface="Arial"/>
              </a:rPr>
              <a:t>Does Not Include Charleston </a:t>
            </a:r>
            <a:endParaRPr sz="2800" b="1" dirty="0">
              <a:solidFill>
                <a:srgbClr val="14213D"/>
              </a:solidFill>
              <a:latin typeface="Arial"/>
            </a:endParaRPr>
          </a:p>
        </p:txBody>
      </p:sp>
      <p:sp>
        <p:nvSpPr>
          <p:cNvPr id="3" name="Footer"/>
          <p:cNvSpPr txBox="1"/>
          <p:nvPr/>
        </p:nvSpPr>
        <p:spPr>
          <a:xfrm>
            <a:off x="548640" y="6355080"/>
            <a:ext cx="10180015" cy="274320"/>
          </a:xfrm>
          <a:prstGeom prst="rect">
            <a:avLst/>
          </a:prstGeom>
          <a:noFill/>
        </p:spPr>
        <p:txBody>
          <a:bodyPr wrap="square" lIns="0" tIns="0" rIns="0" bIns="0" anchor="t">
            <a:spAutoFit/>
          </a:bodyPr>
          <a:lstStyle/>
          <a:p>
            <a:pPr algn="l"/>
            <a:r>
              <a:rPr sz="1000" b="0">
                <a:solidFill>
                  <a:srgbClr val="5A6478"/>
                </a:solidFill>
                <a:latin typeface="Arial"/>
              </a:rPr>
              <a:t>Source: SearchLight export · Jan 1 – Oct 25, 2026</a:t>
            </a:r>
          </a:p>
        </p:txBody>
      </p:sp>
      <p:sp>
        <p:nvSpPr>
          <p:cNvPr id="4" name="Page number"/>
          <p:cNvSpPr txBox="1"/>
          <p:nvPr/>
        </p:nvSpPr>
        <p:spPr>
          <a:xfrm>
            <a:off x="11094415" y="6355080"/>
            <a:ext cx="548640" cy="274320"/>
          </a:xfrm>
          <a:prstGeom prst="rect">
            <a:avLst/>
          </a:prstGeom>
          <a:noFill/>
        </p:spPr>
        <p:txBody>
          <a:bodyPr wrap="square" lIns="0" tIns="0" rIns="0" bIns="0" anchor="t">
            <a:spAutoFit/>
          </a:bodyPr>
          <a:lstStyle/>
          <a:p>
            <a:pPr algn="r"/>
            <a:r>
              <a:rPr sz="1000" b="0">
                <a:solidFill>
                  <a:srgbClr val="5A6478"/>
                </a:solidFill>
                <a:latin typeface="Arial"/>
              </a:rPr>
              <a:t>12</a:t>
            </a:r>
          </a:p>
        </p:txBody>
      </p:sp>
      <p:sp>
        <p:nvSpPr>
          <p:cNvPr id="5" name="Layer Tracked marketing"/>
          <p:cNvSpPr/>
          <p:nvPr/>
        </p:nvSpPr>
        <p:spPr>
          <a:xfrm>
            <a:off x="548640" y="1417320"/>
            <a:ext cx="11094415" cy="1234440"/>
          </a:xfrm>
          <a:prstGeom prst="roundRect">
            <a:avLst>
              <a:gd name="adj" fmla="val 5000"/>
            </a:avLst>
          </a:prstGeom>
          <a:solidFill>
            <a:srgbClr val="FFFFFF"/>
          </a:solidFill>
          <a:ln w="9525">
            <a:solidFill>
              <a:srgbClr val="E2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645920"/>
            <a:ext cx="3657600" cy="365760"/>
          </a:xfrm>
          <a:prstGeom prst="rect">
            <a:avLst/>
          </a:prstGeom>
          <a:noFill/>
        </p:spPr>
        <p:txBody>
          <a:bodyPr wrap="square" lIns="0" tIns="0" rIns="0" bIns="0" anchor="t">
            <a:spAutoFit/>
          </a:bodyPr>
          <a:lstStyle/>
          <a:p>
            <a:pPr algn="l"/>
            <a:r>
              <a:rPr sz="1800" b="1">
                <a:solidFill>
                  <a:srgbClr val="14213D"/>
                </a:solidFill>
                <a:latin typeface="Arial"/>
              </a:rPr>
              <a:t>Tracked marketing</a:t>
            </a:r>
          </a:p>
        </p:txBody>
      </p:sp>
      <p:sp>
        <p:nvSpPr>
          <p:cNvPr id="7" name="TextBox 6"/>
          <p:cNvSpPr txBox="1"/>
          <p:nvPr/>
        </p:nvSpPr>
        <p:spPr>
          <a:xfrm>
            <a:off x="868680" y="2057400"/>
            <a:ext cx="3657600" cy="457200"/>
          </a:xfrm>
          <a:prstGeom prst="rect">
            <a:avLst/>
          </a:prstGeom>
          <a:noFill/>
        </p:spPr>
        <p:txBody>
          <a:bodyPr wrap="square" lIns="0" tIns="0" rIns="0" bIns="0" anchor="t">
            <a:spAutoFit/>
          </a:bodyPr>
          <a:lstStyle/>
          <a:p>
            <a:pPr algn="l"/>
            <a:r>
              <a:rPr sz="2800" b="1">
                <a:solidFill>
                  <a:srgbClr val="14213D"/>
                </a:solidFill>
                <a:latin typeface="Arial"/>
              </a:rPr>
              <a:t>$822,061</a:t>
            </a:r>
          </a:p>
        </p:txBody>
      </p:sp>
      <p:sp>
        <p:nvSpPr>
          <p:cNvPr id="8" name="TextBox 7"/>
          <p:cNvSpPr txBox="1"/>
          <p:nvPr/>
        </p:nvSpPr>
        <p:spPr>
          <a:xfrm>
            <a:off x="4754879" y="1691640"/>
            <a:ext cx="6522415" cy="822960"/>
          </a:xfrm>
          <a:prstGeom prst="rect">
            <a:avLst/>
          </a:prstGeom>
          <a:noFill/>
        </p:spPr>
        <p:txBody>
          <a:bodyPr wrap="square" lIns="0" tIns="0" rIns="0" bIns="0" anchor="t">
            <a:spAutoFit/>
          </a:bodyPr>
          <a:lstStyle/>
          <a:p>
            <a:pPr algn="l"/>
            <a:r>
              <a:rPr sz="1400" b="0">
                <a:solidFill>
                  <a:srgbClr val="4A5568"/>
                </a:solidFill>
                <a:latin typeface="Arial"/>
              </a:rPr>
              <a:t>Searchlight's number: revenue credited to a marketing campaign as the customer's first contact this year.</a:t>
            </a:r>
          </a:p>
        </p:txBody>
      </p:sp>
      <p:sp>
        <p:nvSpPr>
          <p:cNvPr id="9" name="Layer Brand-assisted (estimate)"/>
          <p:cNvSpPr/>
          <p:nvPr/>
        </p:nvSpPr>
        <p:spPr>
          <a:xfrm>
            <a:off x="548640" y="2880360"/>
            <a:ext cx="11094415" cy="1234440"/>
          </a:xfrm>
          <a:prstGeom prst="roundRect">
            <a:avLst>
              <a:gd name="adj" fmla="val 5000"/>
            </a:avLst>
          </a:prstGeom>
          <a:solidFill>
            <a:srgbClr val="FFFFFF"/>
          </a:solidFill>
          <a:ln w="9525">
            <a:solidFill>
              <a:srgbClr val="E2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3108960"/>
            <a:ext cx="3657600" cy="365760"/>
          </a:xfrm>
          <a:prstGeom prst="rect">
            <a:avLst/>
          </a:prstGeom>
          <a:noFill/>
        </p:spPr>
        <p:txBody>
          <a:bodyPr wrap="square" lIns="0" tIns="0" rIns="0" bIns="0" anchor="t">
            <a:spAutoFit/>
          </a:bodyPr>
          <a:lstStyle/>
          <a:p>
            <a:pPr algn="l"/>
            <a:r>
              <a:rPr sz="1800" b="1">
                <a:solidFill>
                  <a:srgbClr val="14213D"/>
                </a:solidFill>
                <a:latin typeface="Arial"/>
              </a:rPr>
              <a:t>Brand-assisted (estimate)</a:t>
            </a:r>
          </a:p>
        </p:txBody>
      </p:sp>
      <p:sp>
        <p:nvSpPr>
          <p:cNvPr id="11" name="TextBox 10"/>
          <p:cNvSpPr txBox="1"/>
          <p:nvPr/>
        </p:nvSpPr>
        <p:spPr>
          <a:xfrm>
            <a:off x="868680" y="3520440"/>
            <a:ext cx="3657600" cy="457200"/>
          </a:xfrm>
          <a:prstGeom prst="rect">
            <a:avLst/>
          </a:prstGeom>
          <a:noFill/>
        </p:spPr>
        <p:txBody>
          <a:bodyPr wrap="square" lIns="0" tIns="0" rIns="0" bIns="0" anchor="t">
            <a:spAutoFit/>
          </a:bodyPr>
          <a:lstStyle/>
          <a:p>
            <a:pPr algn="l"/>
            <a:r>
              <a:rPr sz="2800" b="1">
                <a:solidFill>
                  <a:srgbClr val="14213D"/>
                </a:solidFill>
                <a:latin typeface="Arial"/>
              </a:rPr>
              <a:t>$225,333</a:t>
            </a:r>
          </a:p>
        </p:txBody>
      </p:sp>
      <p:sp>
        <p:nvSpPr>
          <p:cNvPr id="12" name="TextBox 11"/>
          <p:cNvSpPr txBox="1"/>
          <p:nvPr/>
        </p:nvSpPr>
        <p:spPr>
          <a:xfrm>
            <a:off x="4754879" y="3154680"/>
            <a:ext cx="6522415" cy="822960"/>
          </a:xfrm>
          <a:prstGeom prst="rect">
            <a:avLst/>
          </a:prstGeom>
          <a:noFill/>
        </p:spPr>
        <p:txBody>
          <a:bodyPr wrap="square" lIns="0" tIns="0" rIns="0" bIns="0" anchor="t">
            <a:spAutoFit/>
          </a:bodyPr>
          <a:lstStyle/>
          <a:p>
            <a:pPr algn="l"/>
            <a:r>
              <a:rPr sz="1400" b="0">
                <a:solidFill>
                  <a:srgbClr val="4A5568"/>
                </a:solidFill>
                <a:latin typeface="Arial"/>
              </a:rPr>
              <a:t>Customers whose first contact was a call to the main phone line (Mainline, excluded from the report) who later came back through the website, Google listings or ads.</a:t>
            </a:r>
          </a:p>
        </p:txBody>
      </p:sp>
      <p:sp>
        <p:nvSpPr>
          <p:cNvPr id="13" name="Layer Marketing-influenced total"/>
          <p:cNvSpPr/>
          <p:nvPr/>
        </p:nvSpPr>
        <p:spPr>
          <a:xfrm>
            <a:off x="548640" y="4343400"/>
            <a:ext cx="11094415" cy="1234440"/>
          </a:xfrm>
          <a:prstGeom prst="roundRect">
            <a:avLst>
              <a:gd name="adj" fmla="val 5000"/>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4572000"/>
            <a:ext cx="3657600" cy="365760"/>
          </a:xfrm>
          <a:prstGeom prst="rect">
            <a:avLst/>
          </a:prstGeom>
          <a:noFill/>
        </p:spPr>
        <p:txBody>
          <a:bodyPr wrap="square" lIns="0" tIns="0" rIns="0" bIns="0" anchor="t">
            <a:spAutoFit/>
          </a:bodyPr>
          <a:lstStyle/>
          <a:p>
            <a:pPr algn="l"/>
            <a:r>
              <a:rPr sz="1800" b="1">
                <a:solidFill>
                  <a:srgbClr val="F7F6F2"/>
                </a:solidFill>
                <a:latin typeface="Arial"/>
              </a:rPr>
              <a:t>Marketing-influenced total</a:t>
            </a:r>
          </a:p>
        </p:txBody>
      </p:sp>
      <p:sp>
        <p:nvSpPr>
          <p:cNvPr id="15" name="TextBox 14"/>
          <p:cNvSpPr txBox="1"/>
          <p:nvPr/>
        </p:nvSpPr>
        <p:spPr>
          <a:xfrm>
            <a:off x="868680" y="4983480"/>
            <a:ext cx="3657600" cy="457200"/>
          </a:xfrm>
          <a:prstGeom prst="rect">
            <a:avLst/>
          </a:prstGeom>
          <a:noFill/>
        </p:spPr>
        <p:txBody>
          <a:bodyPr wrap="square" lIns="0" tIns="0" rIns="0" bIns="0" anchor="t">
            <a:spAutoFit/>
          </a:bodyPr>
          <a:lstStyle/>
          <a:p>
            <a:pPr algn="l"/>
            <a:r>
              <a:rPr sz="2800" b="1">
                <a:solidFill>
                  <a:srgbClr val="F2A65A"/>
                </a:solidFill>
                <a:latin typeface="Arial"/>
              </a:rPr>
              <a:t>$1,047,394</a:t>
            </a:r>
          </a:p>
        </p:txBody>
      </p:sp>
      <p:sp>
        <p:nvSpPr>
          <p:cNvPr id="16" name="TextBox 15"/>
          <p:cNvSpPr txBox="1"/>
          <p:nvPr/>
        </p:nvSpPr>
        <p:spPr>
          <a:xfrm>
            <a:off x="4754879" y="4617720"/>
            <a:ext cx="6522415" cy="822960"/>
          </a:xfrm>
          <a:prstGeom prst="rect">
            <a:avLst/>
          </a:prstGeom>
          <a:noFill/>
        </p:spPr>
        <p:txBody>
          <a:bodyPr wrap="square" lIns="0" tIns="0" rIns="0" bIns="0" anchor="t">
            <a:spAutoFit/>
          </a:bodyPr>
          <a:lstStyle/>
          <a:p>
            <a:pPr algn="l"/>
            <a:r>
              <a:rPr sz="1400" b="0">
                <a:solidFill>
                  <a:srgbClr val="C9D3E3"/>
                </a:solidFill>
                <a:latin typeface="Arial"/>
              </a:rPr>
              <a:t>Both layers together. Use the tracked number when it must match Searchlight exactly.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itle"/>
          <p:cNvSpPr txBox="1"/>
          <p:nvPr/>
        </p:nvSpPr>
        <p:spPr>
          <a:xfrm>
            <a:off x="548640" y="411480"/>
            <a:ext cx="11094415" cy="822960"/>
          </a:xfrm>
          <a:prstGeom prst="rect">
            <a:avLst/>
          </a:prstGeom>
          <a:noFill/>
        </p:spPr>
        <p:txBody>
          <a:bodyPr wrap="square" lIns="0" tIns="0" rIns="0" bIns="0" anchor="t">
            <a:spAutoFit/>
          </a:bodyPr>
          <a:lstStyle/>
          <a:p>
            <a:pPr algn="l"/>
            <a:r>
              <a:rPr sz="2800" b="1">
                <a:solidFill>
                  <a:srgbClr val="14213D"/>
                </a:solidFill>
                <a:latin typeface="Arial"/>
              </a:rPr>
              <a:t>Paid winners: brand search and Local Services Ads</a:t>
            </a:r>
          </a:p>
        </p:txBody>
      </p:sp>
      <p:sp>
        <p:nvSpPr>
          <p:cNvPr id="3" name="Footer"/>
          <p:cNvSpPr txBox="1"/>
          <p:nvPr/>
        </p:nvSpPr>
        <p:spPr>
          <a:xfrm>
            <a:off x="548640" y="6355080"/>
            <a:ext cx="10180015" cy="274320"/>
          </a:xfrm>
          <a:prstGeom prst="rect">
            <a:avLst/>
          </a:prstGeom>
          <a:noFill/>
        </p:spPr>
        <p:txBody>
          <a:bodyPr wrap="square" lIns="0" tIns="0" rIns="0" bIns="0" anchor="t">
            <a:spAutoFit/>
          </a:bodyPr>
          <a:lstStyle/>
          <a:p>
            <a:pPr algn="l"/>
            <a:r>
              <a:rPr sz="1000" b="0">
                <a:solidFill>
                  <a:srgbClr val="5A6478"/>
                </a:solidFill>
                <a:latin typeface="Arial"/>
              </a:rPr>
              <a:t>Source: Searchlight performance-by export · Jan 1 – Oct 23, 2026 · 46 retention, follow-up and Mainline campaigns excluded</a:t>
            </a:r>
          </a:p>
        </p:txBody>
      </p:sp>
      <p:sp>
        <p:nvSpPr>
          <p:cNvPr id="4" name="Page number"/>
          <p:cNvSpPr txBox="1"/>
          <p:nvPr/>
        </p:nvSpPr>
        <p:spPr>
          <a:xfrm>
            <a:off x="11094415" y="6355080"/>
            <a:ext cx="548640" cy="274320"/>
          </a:xfrm>
          <a:prstGeom prst="rect">
            <a:avLst/>
          </a:prstGeom>
          <a:noFill/>
        </p:spPr>
        <p:txBody>
          <a:bodyPr wrap="square" lIns="0" tIns="0" rIns="0" bIns="0" anchor="t">
            <a:spAutoFit/>
          </a:bodyPr>
          <a:lstStyle/>
          <a:p>
            <a:pPr algn="r"/>
            <a:r>
              <a:rPr sz="1000" b="0">
                <a:solidFill>
                  <a:srgbClr val="5A6478"/>
                </a:solidFill>
                <a:latin typeface="Arial"/>
              </a:rPr>
              <a:t>13</a:t>
            </a:r>
          </a:p>
        </p:txBody>
      </p:sp>
      <p:sp>
        <p:nvSpPr>
          <p:cNvPr id="5" name="Winner Brand Search"/>
          <p:cNvSpPr/>
          <p:nvPr/>
        </p:nvSpPr>
        <p:spPr>
          <a:xfrm>
            <a:off x="548640" y="1417320"/>
            <a:ext cx="3515258" cy="4572000"/>
          </a:xfrm>
          <a:prstGeom prst="roundRect">
            <a:avLst>
              <a:gd name="adj" fmla="val 5000"/>
            </a:avLst>
          </a:prstGeom>
          <a:solidFill>
            <a:srgbClr val="FFFFFF"/>
          </a:solidFill>
          <a:ln w="9525">
            <a:solidFill>
              <a:srgbClr val="E2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737360"/>
            <a:ext cx="2875178" cy="274320"/>
          </a:xfrm>
          <a:prstGeom prst="rect">
            <a:avLst/>
          </a:prstGeom>
          <a:noFill/>
        </p:spPr>
        <p:txBody>
          <a:bodyPr wrap="square" lIns="0" tIns="0" rIns="0" bIns="0" anchor="t">
            <a:spAutoFit/>
          </a:bodyPr>
          <a:lstStyle/>
          <a:p>
            <a:pPr algn="l"/>
            <a:r>
              <a:rPr sz="1200" b="1">
                <a:solidFill>
                  <a:srgbClr val="1F6676"/>
                </a:solidFill>
                <a:latin typeface="Arial"/>
              </a:rPr>
              <a:t>BRAND SEARCH</a:t>
            </a:r>
          </a:p>
        </p:txBody>
      </p:sp>
      <p:sp>
        <p:nvSpPr>
          <p:cNvPr id="7" name="TextBox 6"/>
          <p:cNvSpPr txBox="1"/>
          <p:nvPr/>
        </p:nvSpPr>
        <p:spPr>
          <a:xfrm>
            <a:off x="868680" y="2103120"/>
            <a:ext cx="2875178" cy="914400"/>
          </a:xfrm>
          <a:prstGeom prst="rect">
            <a:avLst/>
          </a:prstGeom>
          <a:noFill/>
        </p:spPr>
        <p:txBody>
          <a:bodyPr wrap="square" lIns="0" tIns="0" rIns="0" bIns="0" anchor="t">
            <a:spAutoFit/>
          </a:bodyPr>
          <a:lstStyle/>
          <a:p>
            <a:pPr algn="l"/>
            <a:r>
              <a:rPr sz="5400" b="1">
                <a:solidFill>
                  <a:srgbClr val="14213D"/>
                </a:solidFill>
                <a:latin typeface="Arial"/>
              </a:rPr>
              <a:t>9.4x</a:t>
            </a:r>
          </a:p>
        </p:txBody>
      </p:sp>
      <p:sp>
        <p:nvSpPr>
          <p:cNvPr id="8" name="TextBox 7"/>
          <p:cNvSpPr txBox="1"/>
          <p:nvPr/>
        </p:nvSpPr>
        <p:spPr>
          <a:xfrm>
            <a:off x="868680" y="3154680"/>
            <a:ext cx="2875178" cy="731520"/>
          </a:xfrm>
          <a:prstGeom prst="rect">
            <a:avLst/>
          </a:prstGeom>
          <a:noFill/>
        </p:spPr>
        <p:txBody>
          <a:bodyPr wrap="square" lIns="0" tIns="0" rIns="0" bIns="0" anchor="t">
            <a:spAutoFit/>
          </a:bodyPr>
          <a:lstStyle/>
          <a:p>
            <a:pPr algn="l"/>
            <a:r>
              <a:rPr sz="1600" b="1">
                <a:solidFill>
                  <a:srgbClr val="14213D"/>
                </a:solidFill>
                <a:latin typeface="Arial"/>
              </a:rPr>
              <a:t>PPC_Brand_Core_Myrtle-Beach</a:t>
            </a:r>
          </a:p>
        </p:txBody>
      </p:sp>
      <p:sp>
        <p:nvSpPr>
          <p:cNvPr id="9" name="TextBox 8"/>
          <p:cNvSpPr txBox="1"/>
          <p:nvPr/>
        </p:nvSpPr>
        <p:spPr>
          <a:xfrm>
            <a:off x="868680" y="4023360"/>
            <a:ext cx="2875178" cy="1645920"/>
          </a:xfrm>
          <a:prstGeom prst="rect">
            <a:avLst/>
          </a:prstGeom>
          <a:noFill/>
        </p:spPr>
        <p:txBody>
          <a:bodyPr wrap="square" lIns="0" tIns="0" rIns="0" bIns="0" anchor="t">
            <a:spAutoFit/>
          </a:bodyPr>
          <a:lstStyle/>
          <a:p>
            <a:pPr algn="l">
              <a:spcAft>
                <a:spcPts val="400"/>
              </a:spcAft>
            </a:pPr>
            <a:r>
              <a:rPr sz="1400" b="0">
                <a:solidFill>
                  <a:srgbClr val="4A5568"/>
                </a:solidFill>
                <a:latin typeface="Arial"/>
              </a:rPr>
              <a:t>$7,574 spend → $71,450 closed</a:t>
            </a:r>
          </a:p>
          <a:p>
            <a:pPr algn="l">
              <a:spcAft>
                <a:spcPts val="400"/>
              </a:spcAft>
            </a:pPr>
            <a:r>
              <a:rPr sz="1400" b="0">
                <a:solidFill>
                  <a:srgbClr val="4A5568"/>
                </a:solidFill>
                <a:latin typeface="Arial"/>
              </a:rPr>
              <a:t>161 unique leads · 78 booked jobs</a:t>
            </a:r>
          </a:p>
        </p:txBody>
      </p:sp>
      <p:sp>
        <p:nvSpPr>
          <p:cNvPr id="10" name="Winner Local Services Ads"/>
          <p:cNvSpPr/>
          <p:nvPr/>
        </p:nvSpPr>
        <p:spPr>
          <a:xfrm>
            <a:off x="4338218" y="1417320"/>
            <a:ext cx="3515258" cy="4572000"/>
          </a:xfrm>
          <a:prstGeom prst="roundRect">
            <a:avLst>
              <a:gd name="adj" fmla="val 5000"/>
            </a:avLst>
          </a:prstGeom>
          <a:solidFill>
            <a:srgbClr val="FFFFFF"/>
          </a:solidFill>
          <a:ln w="9525">
            <a:solidFill>
              <a:srgbClr val="E2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58258" y="1737360"/>
            <a:ext cx="2875178" cy="274320"/>
          </a:xfrm>
          <a:prstGeom prst="rect">
            <a:avLst/>
          </a:prstGeom>
          <a:noFill/>
        </p:spPr>
        <p:txBody>
          <a:bodyPr wrap="square" lIns="0" tIns="0" rIns="0" bIns="0" anchor="t">
            <a:spAutoFit/>
          </a:bodyPr>
          <a:lstStyle/>
          <a:p>
            <a:pPr algn="l"/>
            <a:r>
              <a:rPr sz="1200" b="1">
                <a:solidFill>
                  <a:srgbClr val="1F6676"/>
                </a:solidFill>
                <a:latin typeface="Arial"/>
              </a:rPr>
              <a:t>LOCAL SERVICES ADS</a:t>
            </a:r>
          </a:p>
        </p:txBody>
      </p:sp>
      <p:sp>
        <p:nvSpPr>
          <p:cNvPr id="12" name="TextBox 11"/>
          <p:cNvSpPr txBox="1"/>
          <p:nvPr/>
        </p:nvSpPr>
        <p:spPr>
          <a:xfrm>
            <a:off x="4658258" y="2103120"/>
            <a:ext cx="2875178" cy="914400"/>
          </a:xfrm>
          <a:prstGeom prst="rect">
            <a:avLst/>
          </a:prstGeom>
          <a:noFill/>
        </p:spPr>
        <p:txBody>
          <a:bodyPr wrap="square" lIns="0" tIns="0" rIns="0" bIns="0" anchor="t">
            <a:spAutoFit/>
          </a:bodyPr>
          <a:lstStyle/>
          <a:p>
            <a:pPr algn="l"/>
            <a:r>
              <a:rPr sz="5400" b="1">
                <a:solidFill>
                  <a:srgbClr val="14213D"/>
                </a:solidFill>
                <a:latin typeface="Arial"/>
              </a:rPr>
              <a:t>4.1x</a:t>
            </a:r>
          </a:p>
        </p:txBody>
      </p:sp>
      <p:sp>
        <p:nvSpPr>
          <p:cNvPr id="13" name="TextBox 12"/>
          <p:cNvSpPr txBox="1"/>
          <p:nvPr/>
        </p:nvSpPr>
        <p:spPr>
          <a:xfrm>
            <a:off x="4658258" y="3154680"/>
            <a:ext cx="2875178" cy="731520"/>
          </a:xfrm>
          <a:prstGeom prst="rect">
            <a:avLst/>
          </a:prstGeom>
          <a:noFill/>
        </p:spPr>
        <p:txBody>
          <a:bodyPr wrap="square" lIns="0" tIns="0" rIns="0" bIns="0" anchor="t">
            <a:spAutoFit/>
          </a:bodyPr>
          <a:lstStyle/>
          <a:p>
            <a:pPr algn="l"/>
            <a:r>
              <a:rPr sz="1600" b="1">
                <a:solidFill>
                  <a:srgbClr val="14213D"/>
                </a:solidFill>
                <a:latin typeface="Arial"/>
              </a:rPr>
              <a:t>Coastal Air Plus LSA (HVAC + Plumbing)</a:t>
            </a:r>
          </a:p>
        </p:txBody>
      </p:sp>
      <p:sp>
        <p:nvSpPr>
          <p:cNvPr id="14" name="TextBox 13"/>
          <p:cNvSpPr txBox="1"/>
          <p:nvPr/>
        </p:nvSpPr>
        <p:spPr>
          <a:xfrm>
            <a:off x="4658258" y="4023360"/>
            <a:ext cx="2875178" cy="1645920"/>
          </a:xfrm>
          <a:prstGeom prst="rect">
            <a:avLst/>
          </a:prstGeom>
          <a:noFill/>
        </p:spPr>
        <p:txBody>
          <a:bodyPr wrap="square" lIns="0" tIns="0" rIns="0" bIns="0" anchor="t">
            <a:spAutoFit/>
          </a:bodyPr>
          <a:lstStyle/>
          <a:p>
            <a:pPr algn="l">
              <a:spcAft>
                <a:spcPts val="400"/>
              </a:spcAft>
            </a:pPr>
            <a:r>
              <a:rPr sz="1400" b="0">
                <a:solidFill>
                  <a:srgbClr val="4A5568"/>
                </a:solidFill>
                <a:latin typeface="Arial"/>
              </a:rPr>
              <a:t>$35,969 spend → $145,887 closed</a:t>
            </a:r>
          </a:p>
          <a:p>
            <a:pPr algn="l">
              <a:spcAft>
                <a:spcPts val="400"/>
              </a:spcAft>
            </a:pPr>
            <a:r>
              <a:rPr sz="1400" b="0">
                <a:solidFill>
                  <a:srgbClr val="4A5568"/>
                </a:solidFill>
                <a:latin typeface="Arial"/>
              </a:rPr>
              <a:t>478 unique leads · 173 booked jobs</a:t>
            </a:r>
          </a:p>
          <a:p>
            <a:pPr algn="l">
              <a:spcAft>
                <a:spcPts val="400"/>
              </a:spcAft>
            </a:pPr>
            <a:r>
              <a:rPr sz="1400" b="0">
                <a:solidFill>
                  <a:srgbClr val="4A5568"/>
                </a:solidFill>
                <a:latin typeface="Arial"/>
              </a:rPr>
              <a:t>Plumbing LSA alone: 11.1x</a:t>
            </a:r>
          </a:p>
        </p:txBody>
      </p:sp>
      <p:sp>
        <p:nvSpPr>
          <p:cNvPr id="15" name="Winner Competitor Search"/>
          <p:cNvSpPr/>
          <p:nvPr/>
        </p:nvSpPr>
        <p:spPr>
          <a:xfrm>
            <a:off x="8127796" y="1417320"/>
            <a:ext cx="3515258" cy="4572000"/>
          </a:xfrm>
          <a:prstGeom prst="roundRect">
            <a:avLst>
              <a:gd name="adj" fmla="val 5000"/>
            </a:avLst>
          </a:prstGeom>
          <a:solidFill>
            <a:srgbClr val="FFFFFF"/>
          </a:solidFill>
          <a:ln w="9525">
            <a:solidFill>
              <a:srgbClr val="E2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47836" y="1737360"/>
            <a:ext cx="2875178" cy="274320"/>
          </a:xfrm>
          <a:prstGeom prst="rect">
            <a:avLst/>
          </a:prstGeom>
          <a:noFill/>
        </p:spPr>
        <p:txBody>
          <a:bodyPr wrap="square" lIns="0" tIns="0" rIns="0" bIns="0" anchor="t">
            <a:spAutoFit/>
          </a:bodyPr>
          <a:lstStyle/>
          <a:p>
            <a:pPr algn="l"/>
            <a:r>
              <a:rPr sz="1200" b="1">
                <a:solidFill>
                  <a:srgbClr val="1F6676"/>
                </a:solidFill>
                <a:latin typeface="Arial"/>
              </a:rPr>
              <a:t>COMPETITOR SEARCH</a:t>
            </a:r>
          </a:p>
        </p:txBody>
      </p:sp>
      <p:sp>
        <p:nvSpPr>
          <p:cNvPr id="17" name="TextBox 16"/>
          <p:cNvSpPr txBox="1"/>
          <p:nvPr/>
        </p:nvSpPr>
        <p:spPr>
          <a:xfrm>
            <a:off x="8447836" y="2103120"/>
            <a:ext cx="2875178" cy="914400"/>
          </a:xfrm>
          <a:prstGeom prst="rect">
            <a:avLst/>
          </a:prstGeom>
          <a:noFill/>
        </p:spPr>
        <p:txBody>
          <a:bodyPr wrap="square" lIns="0" tIns="0" rIns="0" bIns="0" anchor="t">
            <a:spAutoFit/>
          </a:bodyPr>
          <a:lstStyle/>
          <a:p>
            <a:pPr algn="l"/>
            <a:r>
              <a:rPr sz="5400" b="1">
                <a:solidFill>
                  <a:srgbClr val="14213D"/>
                </a:solidFill>
                <a:latin typeface="Arial"/>
              </a:rPr>
              <a:t>2.1x</a:t>
            </a:r>
          </a:p>
        </p:txBody>
      </p:sp>
      <p:sp>
        <p:nvSpPr>
          <p:cNvPr id="18" name="TextBox 17"/>
          <p:cNvSpPr txBox="1"/>
          <p:nvPr/>
        </p:nvSpPr>
        <p:spPr>
          <a:xfrm>
            <a:off x="8447836" y="3154680"/>
            <a:ext cx="2875178" cy="731520"/>
          </a:xfrm>
          <a:prstGeom prst="rect">
            <a:avLst/>
          </a:prstGeom>
          <a:noFill/>
        </p:spPr>
        <p:txBody>
          <a:bodyPr wrap="square" lIns="0" tIns="0" rIns="0" bIns="0" anchor="t">
            <a:spAutoFit/>
          </a:bodyPr>
          <a:lstStyle/>
          <a:p>
            <a:pPr algn="l"/>
            <a:r>
              <a:rPr sz="1600" b="1">
                <a:solidFill>
                  <a:srgbClr val="14213D"/>
                </a:solidFill>
                <a:latin typeface="Arial"/>
              </a:rPr>
              <a:t>PPC_NB_Competitor-Carolina-Cool_Myrtle-Beach</a:t>
            </a:r>
          </a:p>
        </p:txBody>
      </p:sp>
      <p:sp>
        <p:nvSpPr>
          <p:cNvPr id="19" name="TextBox 18"/>
          <p:cNvSpPr txBox="1"/>
          <p:nvPr/>
        </p:nvSpPr>
        <p:spPr>
          <a:xfrm>
            <a:off x="8447836" y="4023360"/>
            <a:ext cx="2875178" cy="1645920"/>
          </a:xfrm>
          <a:prstGeom prst="rect">
            <a:avLst/>
          </a:prstGeom>
          <a:noFill/>
        </p:spPr>
        <p:txBody>
          <a:bodyPr wrap="square" lIns="0" tIns="0" rIns="0" bIns="0" anchor="t">
            <a:spAutoFit/>
          </a:bodyPr>
          <a:lstStyle/>
          <a:p>
            <a:pPr algn="l">
              <a:spcAft>
                <a:spcPts val="400"/>
              </a:spcAft>
            </a:pPr>
            <a:r>
              <a:rPr sz="1400" b="0">
                <a:solidFill>
                  <a:srgbClr val="4A5568"/>
                </a:solidFill>
                <a:latin typeface="Arial"/>
              </a:rPr>
              <a:t>$26,983 spend → $56,577 closed</a:t>
            </a:r>
          </a:p>
          <a:p>
            <a:pPr algn="l">
              <a:spcAft>
                <a:spcPts val="400"/>
              </a:spcAft>
            </a:pPr>
            <a:r>
              <a:rPr sz="1400" b="0">
                <a:solidFill>
                  <a:srgbClr val="4A5568"/>
                </a:solidFill>
                <a:latin typeface="Arial"/>
              </a:rPr>
              <a:t>326 unique leads · 56 booked jobs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itle"/>
          <p:cNvSpPr txBox="1"/>
          <p:nvPr/>
        </p:nvSpPr>
        <p:spPr>
          <a:xfrm>
            <a:off x="548640" y="411480"/>
            <a:ext cx="11094415" cy="822960"/>
          </a:xfrm>
          <a:prstGeom prst="rect">
            <a:avLst/>
          </a:prstGeom>
          <a:noFill/>
        </p:spPr>
        <p:txBody>
          <a:bodyPr wrap="square" lIns="0" tIns="0" rIns="0" bIns="0" anchor="t">
            <a:spAutoFit/>
          </a:bodyPr>
          <a:lstStyle/>
          <a:p>
            <a:pPr algn="l"/>
            <a:r>
              <a:rPr sz="2800" b="1">
                <a:solidFill>
                  <a:srgbClr val="14213D"/>
                </a:solidFill>
                <a:latin typeface="Arial"/>
              </a:rPr>
              <a:t>Below break-even: $87,813 spent for $34,948 closed</a:t>
            </a:r>
          </a:p>
        </p:txBody>
      </p:sp>
      <p:sp>
        <p:nvSpPr>
          <p:cNvPr id="3" name="Footer"/>
          <p:cNvSpPr txBox="1"/>
          <p:nvPr/>
        </p:nvSpPr>
        <p:spPr>
          <a:xfrm>
            <a:off x="548640" y="6355080"/>
            <a:ext cx="10180015" cy="274320"/>
          </a:xfrm>
          <a:prstGeom prst="rect">
            <a:avLst/>
          </a:prstGeom>
          <a:noFill/>
        </p:spPr>
        <p:txBody>
          <a:bodyPr wrap="square" lIns="0" tIns="0" rIns="0" bIns="0" anchor="t">
            <a:spAutoFit/>
          </a:bodyPr>
          <a:lstStyle/>
          <a:p>
            <a:pPr algn="l"/>
            <a:r>
              <a:rPr sz="1000" b="0">
                <a:solidFill>
                  <a:srgbClr val="5A6478"/>
                </a:solidFill>
                <a:latin typeface="Arial"/>
              </a:rPr>
              <a:t>Source: Searchlight performance-by export · Jan 1 – Oct 23, 2026 · 46 retention, follow-up and Mainline campaigns excluded</a:t>
            </a:r>
          </a:p>
        </p:txBody>
      </p:sp>
      <p:sp>
        <p:nvSpPr>
          <p:cNvPr id="4" name="Page number"/>
          <p:cNvSpPr txBox="1"/>
          <p:nvPr/>
        </p:nvSpPr>
        <p:spPr>
          <a:xfrm>
            <a:off x="11094415" y="6355080"/>
            <a:ext cx="548640" cy="274320"/>
          </a:xfrm>
          <a:prstGeom prst="rect">
            <a:avLst/>
          </a:prstGeom>
          <a:noFill/>
        </p:spPr>
        <p:txBody>
          <a:bodyPr wrap="square" lIns="0" tIns="0" rIns="0" bIns="0" anchor="t">
            <a:spAutoFit/>
          </a:bodyPr>
          <a:lstStyle/>
          <a:p>
            <a:pPr algn="r"/>
            <a:r>
              <a:rPr sz="1000" b="0">
                <a:solidFill>
                  <a:srgbClr val="5A6478"/>
                </a:solidFill>
                <a:latin typeface="Arial"/>
              </a:rPr>
              <a:t>14</a:t>
            </a:r>
          </a:p>
        </p:txBody>
      </p:sp>
      <p:graphicFrame>
        <p:nvGraphicFramePr>
          <p:cNvPr id="5" name="Laggard table"/>
          <p:cNvGraphicFramePr>
            <a:graphicFrameLocks noGrp="1"/>
          </p:cNvGraphicFramePr>
          <p:nvPr/>
        </p:nvGraphicFramePr>
        <p:xfrm>
          <a:off x="548640" y="1417320"/>
          <a:ext cx="11094415" cy="4389120"/>
        </p:xfrm>
        <a:graphic>
          <a:graphicData uri="http://schemas.openxmlformats.org/drawingml/2006/table">
            <a:tbl>
              <a:tblPr firstRow="1">
                <a:tableStyleId>{5C22544A-7EE6-4342-B048-85BDC9FD1C3A}</a:tableStyleId>
              </a:tblPr>
              <a:tblGrid>
                <a:gridCol w="49377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036015">
                  <a:extLst>
                    <a:ext uri="{9D8B030D-6E8A-4147-A177-3AD203B41FA5}">
                      <a16:colId xmlns:a16="http://schemas.microsoft.com/office/drawing/2014/main" val="20005"/>
                    </a:ext>
                  </a:extLst>
                </a:gridCol>
              </a:tblGrid>
              <a:tr h="365760">
                <a:tc>
                  <a:txBody>
                    <a:bodyPr/>
                    <a:lstStyle/>
                    <a:p>
                      <a:pPr algn="l"/>
                      <a:r>
                        <a:rPr sz="1300" b="1">
                          <a:solidFill>
                            <a:srgbClr val="FFFFFF"/>
                          </a:solidFill>
                          <a:latin typeface="Arial"/>
                        </a:rPr>
                        <a:t>Campaign</a:t>
                      </a:r>
                    </a:p>
                  </a:txBody>
                  <a:tcPr marL="73152" marR="73152" marT="27432" marB="27432" anchor="ctr">
                    <a:solidFill>
                      <a:srgbClr val="14213D"/>
                    </a:solidFill>
                  </a:tcPr>
                </a:tc>
                <a:tc>
                  <a:txBody>
                    <a:bodyPr/>
                    <a:lstStyle/>
                    <a:p>
                      <a:pPr algn="r"/>
                      <a:r>
                        <a:rPr sz="1300" b="1">
                          <a:solidFill>
                            <a:srgbClr val="FFFFFF"/>
                          </a:solidFill>
                          <a:latin typeface="Arial"/>
                        </a:rPr>
                        <a:t>Spend</a:t>
                      </a:r>
                    </a:p>
                  </a:txBody>
                  <a:tcPr marL="73152" marR="73152" marT="27432" marB="27432" anchor="ctr">
                    <a:solidFill>
                      <a:srgbClr val="14213D"/>
                    </a:solidFill>
                  </a:tcPr>
                </a:tc>
                <a:tc>
                  <a:txBody>
                    <a:bodyPr/>
                    <a:lstStyle/>
                    <a:p>
                      <a:pPr algn="r"/>
                      <a:r>
                        <a:rPr sz="1300" b="1">
                          <a:solidFill>
                            <a:srgbClr val="FFFFFF"/>
                          </a:solidFill>
                          <a:latin typeface="Arial"/>
                        </a:rPr>
                        <a:t>Unique leads</a:t>
                      </a:r>
                    </a:p>
                  </a:txBody>
                  <a:tcPr marL="73152" marR="73152" marT="27432" marB="27432" anchor="ctr">
                    <a:solidFill>
                      <a:srgbClr val="14213D"/>
                    </a:solidFill>
                  </a:tcPr>
                </a:tc>
                <a:tc>
                  <a:txBody>
                    <a:bodyPr/>
                    <a:lstStyle/>
                    <a:p>
                      <a:pPr algn="r"/>
                      <a:r>
                        <a:rPr sz="1300" b="1">
                          <a:solidFill>
                            <a:srgbClr val="FFFFFF"/>
                          </a:solidFill>
                          <a:latin typeface="Arial"/>
                        </a:rPr>
                        <a:t>Booked</a:t>
                      </a:r>
                    </a:p>
                  </a:txBody>
                  <a:tcPr marL="73152" marR="73152" marT="27432" marB="27432" anchor="ctr">
                    <a:solidFill>
                      <a:srgbClr val="14213D"/>
                    </a:solidFill>
                  </a:tcPr>
                </a:tc>
                <a:tc>
                  <a:txBody>
                    <a:bodyPr/>
                    <a:lstStyle/>
                    <a:p>
                      <a:pPr algn="r"/>
                      <a:r>
                        <a:rPr sz="1300" b="1">
                          <a:solidFill>
                            <a:srgbClr val="FFFFFF"/>
                          </a:solidFill>
                          <a:latin typeface="Arial"/>
                        </a:rPr>
                        <a:t>Closed rev.</a:t>
                      </a:r>
                    </a:p>
                  </a:txBody>
                  <a:tcPr marL="73152" marR="73152" marT="27432" marB="27432" anchor="ctr">
                    <a:solidFill>
                      <a:srgbClr val="14213D"/>
                    </a:solidFill>
                  </a:tcPr>
                </a:tc>
                <a:tc>
                  <a:txBody>
                    <a:bodyPr/>
                    <a:lstStyle/>
                    <a:p>
                      <a:pPr algn="r"/>
                      <a:r>
                        <a:rPr sz="1300" b="1">
                          <a:solidFill>
                            <a:srgbClr val="FFFFFF"/>
                          </a:solidFill>
                          <a:latin typeface="Arial"/>
                        </a:rPr>
                        <a:t>ROAS</a:t>
                      </a:r>
                    </a:p>
                  </a:txBody>
                  <a:tcPr marL="73152" marR="73152" marT="27432" marB="27432" anchor="ctr">
                    <a:solidFill>
                      <a:srgbClr val="14213D"/>
                    </a:solidFill>
                  </a:tcPr>
                </a:tc>
                <a:extLst>
                  <a:ext uri="{0D108BD9-81ED-4DB2-BD59-A6C34878D82A}">
                    <a16:rowId xmlns:a16="http://schemas.microsoft.com/office/drawing/2014/main" val="10000"/>
                  </a:ext>
                </a:extLst>
              </a:tr>
              <a:tr h="365760">
                <a:tc>
                  <a:txBody>
                    <a:bodyPr/>
                    <a:lstStyle/>
                    <a:p>
                      <a:pPr algn="l"/>
                      <a:r>
                        <a:rPr sz="1300" b="0">
                          <a:solidFill>
                            <a:srgbClr val="14213D"/>
                          </a:solidFill>
                          <a:latin typeface="Arial"/>
                        </a:rPr>
                        <a:t>PPC_NB_HVAC_Myrtle-Beach</a:t>
                      </a:r>
                    </a:p>
                  </a:txBody>
                  <a:tcPr marL="73152" marR="73152" marT="27432" marB="27432" anchor="ctr">
                    <a:solidFill>
                      <a:srgbClr val="FFFFFF"/>
                    </a:solidFill>
                  </a:tcPr>
                </a:tc>
                <a:tc>
                  <a:txBody>
                    <a:bodyPr/>
                    <a:lstStyle/>
                    <a:p>
                      <a:pPr algn="r"/>
                      <a:r>
                        <a:rPr sz="1300" b="0">
                          <a:solidFill>
                            <a:srgbClr val="14213D"/>
                          </a:solidFill>
                          <a:latin typeface="Arial"/>
                        </a:rPr>
                        <a:t>$28,006</a:t>
                      </a:r>
                    </a:p>
                  </a:txBody>
                  <a:tcPr marL="73152" marR="73152" marT="27432" marB="27432" anchor="ctr">
                    <a:solidFill>
                      <a:srgbClr val="FFFFFF"/>
                    </a:solidFill>
                  </a:tcPr>
                </a:tc>
                <a:tc>
                  <a:txBody>
                    <a:bodyPr/>
                    <a:lstStyle/>
                    <a:p>
                      <a:pPr algn="r"/>
                      <a:r>
                        <a:rPr sz="1300" b="0">
                          <a:solidFill>
                            <a:srgbClr val="14213D"/>
                          </a:solidFill>
                          <a:latin typeface="Arial"/>
                        </a:rPr>
                        <a:t>154</a:t>
                      </a:r>
                    </a:p>
                  </a:txBody>
                  <a:tcPr marL="73152" marR="73152" marT="27432" marB="27432" anchor="ctr">
                    <a:solidFill>
                      <a:srgbClr val="FFFFFF"/>
                    </a:solidFill>
                  </a:tcPr>
                </a:tc>
                <a:tc>
                  <a:txBody>
                    <a:bodyPr/>
                    <a:lstStyle/>
                    <a:p>
                      <a:pPr algn="r"/>
                      <a:r>
                        <a:rPr sz="1300" b="0">
                          <a:solidFill>
                            <a:srgbClr val="14213D"/>
                          </a:solidFill>
                          <a:latin typeface="Arial"/>
                        </a:rPr>
                        <a:t>41</a:t>
                      </a:r>
                    </a:p>
                  </a:txBody>
                  <a:tcPr marL="73152" marR="73152" marT="27432" marB="27432" anchor="ctr">
                    <a:solidFill>
                      <a:srgbClr val="FFFFFF"/>
                    </a:solidFill>
                  </a:tcPr>
                </a:tc>
                <a:tc>
                  <a:txBody>
                    <a:bodyPr/>
                    <a:lstStyle/>
                    <a:p>
                      <a:pPr algn="r"/>
                      <a:r>
                        <a:rPr sz="1300" b="0">
                          <a:solidFill>
                            <a:srgbClr val="14213D"/>
                          </a:solidFill>
                          <a:latin typeface="Arial"/>
                        </a:rPr>
                        <a:t>$10,476</a:t>
                      </a:r>
                    </a:p>
                  </a:txBody>
                  <a:tcPr marL="73152" marR="73152" marT="27432" marB="27432" anchor="ctr">
                    <a:solidFill>
                      <a:srgbClr val="FFFFFF"/>
                    </a:solidFill>
                  </a:tcPr>
                </a:tc>
                <a:tc>
                  <a:txBody>
                    <a:bodyPr/>
                    <a:lstStyle/>
                    <a:p>
                      <a:pPr algn="r"/>
                      <a:r>
                        <a:rPr sz="1300" b="0">
                          <a:solidFill>
                            <a:srgbClr val="14213D"/>
                          </a:solidFill>
                          <a:latin typeface="Arial"/>
                        </a:rPr>
                        <a:t>0.37x</a:t>
                      </a:r>
                    </a:p>
                  </a:txBody>
                  <a:tcPr marL="73152" marR="73152" marT="27432" marB="27432" anchor="ctr">
                    <a:solidFill>
                      <a:srgbClr val="FFFFFF"/>
                    </a:solidFill>
                  </a:tcPr>
                </a:tc>
                <a:extLst>
                  <a:ext uri="{0D108BD9-81ED-4DB2-BD59-A6C34878D82A}">
                    <a16:rowId xmlns:a16="http://schemas.microsoft.com/office/drawing/2014/main" val="10001"/>
                  </a:ext>
                </a:extLst>
              </a:tr>
              <a:tr h="365760">
                <a:tc>
                  <a:txBody>
                    <a:bodyPr/>
                    <a:lstStyle/>
                    <a:p>
                      <a:pPr algn="l"/>
                      <a:r>
                        <a:rPr sz="1300" b="0">
                          <a:solidFill>
                            <a:srgbClr val="14213D"/>
                          </a:solidFill>
                          <a:latin typeface="Arial"/>
                        </a:rPr>
                        <a:t>PPC_NB_Plumbing_Myrtle-Beach</a:t>
                      </a:r>
                    </a:p>
                  </a:txBody>
                  <a:tcPr marL="73152" marR="73152" marT="27432" marB="27432" anchor="ctr">
                    <a:solidFill>
                      <a:srgbClr val="F7F6F2"/>
                    </a:solidFill>
                  </a:tcPr>
                </a:tc>
                <a:tc>
                  <a:txBody>
                    <a:bodyPr/>
                    <a:lstStyle/>
                    <a:p>
                      <a:pPr algn="r"/>
                      <a:r>
                        <a:rPr sz="1300" b="0">
                          <a:solidFill>
                            <a:srgbClr val="14213D"/>
                          </a:solidFill>
                          <a:latin typeface="Arial"/>
                        </a:rPr>
                        <a:t>$25,375</a:t>
                      </a:r>
                    </a:p>
                  </a:txBody>
                  <a:tcPr marL="73152" marR="73152" marT="27432" marB="27432" anchor="ctr">
                    <a:solidFill>
                      <a:srgbClr val="F7F6F2"/>
                    </a:solidFill>
                  </a:tcPr>
                </a:tc>
                <a:tc>
                  <a:txBody>
                    <a:bodyPr/>
                    <a:lstStyle/>
                    <a:p>
                      <a:pPr algn="r"/>
                      <a:r>
                        <a:rPr sz="1300" b="0">
                          <a:solidFill>
                            <a:srgbClr val="14213D"/>
                          </a:solidFill>
                          <a:latin typeface="Arial"/>
                        </a:rPr>
                        <a:t>74</a:t>
                      </a:r>
                    </a:p>
                  </a:txBody>
                  <a:tcPr marL="73152" marR="73152" marT="27432" marB="27432" anchor="ctr">
                    <a:solidFill>
                      <a:srgbClr val="F7F6F2"/>
                    </a:solidFill>
                  </a:tcPr>
                </a:tc>
                <a:tc>
                  <a:txBody>
                    <a:bodyPr/>
                    <a:lstStyle/>
                    <a:p>
                      <a:pPr algn="r"/>
                      <a:r>
                        <a:rPr sz="1300" b="0">
                          <a:solidFill>
                            <a:srgbClr val="14213D"/>
                          </a:solidFill>
                          <a:latin typeface="Arial"/>
                        </a:rPr>
                        <a:t>20</a:t>
                      </a:r>
                    </a:p>
                  </a:txBody>
                  <a:tcPr marL="73152" marR="73152" marT="27432" marB="27432" anchor="ctr">
                    <a:solidFill>
                      <a:srgbClr val="F7F6F2"/>
                    </a:solidFill>
                  </a:tcPr>
                </a:tc>
                <a:tc>
                  <a:txBody>
                    <a:bodyPr/>
                    <a:lstStyle/>
                    <a:p>
                      <a:pPr algn="r"/>
                      <a:r>
                        <a:rPr sz="1300" b="0">
                          <a:solidFill>
                            <a:srgbClr val="14213D"/>
                          </a:solidFill>
                          <a:latin typeface="Arial"/>
                        </a:rPr>
                        <a:t>$8,127</a:t>
                      </a:r>
                    </a:p>
                  </a:txBody>
                  <a:tcPr marL="73152" marR="73152" marT="27432" marB="27432" anchor="ctr">
                    <a:solidFill>
                      <a:srgbClr val="F7F6F2"/>
                    </a:solidFill>
                  </a:tcPr>
                </a:tc>
                <a:tc>
                  <a:txBody>
                    <a:bodyPr/>
                    <a:lstStyle/>
                    <a:p>
                      <a:pPr algn="r"/>
                      <a:r>
                        <a:rPr sz="1300" b="0">
                          <a:solidFill>
                            <a:srgbClr val="14213D"/>
                          </a:solidFill>
                          <a:latin typeface="Arial"/>
                        </a:rPr>
                        <a:t>0.32x</a:t>
                      </a:r>
                    </a:p>
                  </a:txBody>
                  <a:tcPr marL="73152" marR="73152" marT="27432" marB="27432" anchor="ctr">
                    <a:solidFill>
                      <a:srgbClr val="F7F6F2"/>
                    </a:solidFill>
                  </a:tcPr>
                </a:tc>
                <a:extLst>
                  <a:ext uri="{0D108BD9-81ED-4DB2-BD59-A6C34878D82A}">
                    <a16:rowId xmlns:a16="http://schemas.microsoft.com/office/drawing/2014/main" val="10002"/>
                  </a:ext>
                </a:extLst>
              </a:tr>
              <a:tr h="365760">
                <a:tc>
                  <a:txBody>
                    <a:bodyPr/>
                    <a:lstStyle/>
                    <a:p>
                      <a:pPr algn="l"/>
                      <a:r>
                        <a:rPr sz="1300" b="0">
                          <a:solidFill>
                            <a:srgbClr val="14213D"/>
                          </a:solidFill>
                          <a:latin typeface="Arial"/>
                        </a:rPr>
                        <a:t>July - Sept 2026 Special | $99 New System</a:t>
                      </a:r>
                    </a:p>
                  </a:txBody>
                  <a:tcPr marL="73152" marR="73152" marT="27432" marB="27432" anchor="ctr">
                    <a:solidFill>
                      <a:srgbClr val="FFFFFF"/>
                    </a:solidFill>
                  </a:tcPr>
                </a:tc>
                <a:tc>
                  <a:txBody>
                    <a:bodyPr/>
                    <a:lstStyle/>
                    <a:p>
                      <a:pPr algn="r"/>
                      <a:r>
                        <a:rPr sz="1300" b="0">
                          <a:solidFill>
                            <a:srgbClr val="14213D"/>
                          </a:solidFill>
                          <a:latin typeface="Arial"/>
                        </a:rPr>
                        <a:t>$12,078</a:t>
                      </a:r>
                    </a:p>
                  </a:txBody>
                  <a:tcPr marL="73152" marR="73152" marT="27432" marB="27432" anchor="ctr">
                    <a:solidFill>
                      <a:srgbClr val="FFFFFF"/>
                    </a:solidFill>
                  </a:tcPr>
                </a:tc>
                <a:tc>
                  <a:txBody>
                    <a:bodyPr/>
                    <a:lstStyle/>
                    <a:p>
                      <a:pPr algn="r"/>
                      <a:r>
                        <a:rPr sz="1300" b="0">
                          <a:solidFill>
                            <a:srgbClr val="14213D"/>
                          </a:solidFill>
                          <a:latin typeface="Arial"/>
                        </a:rPr>
                        <a:t>36</a:t>
                      </a:r>
                    </a:p>
                  </a:txBody>
                  <a:tcPr marL="73152" marR="73152" marT="27432" marB="27432" anchor="ctr">
                    <a:solidFill>
                      <a:srgbClr val="FFFFFF"/>
                    </a:solidFill>
                  </a:tcPr>
                </a:tc>
                <a:tc>
                  <a:txBody>
                    <a:bodyPr/>
                    <a:lstStyle/>
                    <a:p>
                      <a:pPr algn="r"/>
                      <a:r>
                        <a:rPr sz="1300" b="0">
                          <a:solidFill>
                            <a:srgbClr val="14213D"/>
                          </a:solidFill>
                          <a:latin typeface="Arial"/>
                        </a:rPr>
                        <a:t>8</a:t>
                      </a:r>
                    </a:p>
                  </a:txBody>
                  <a:tcPr marL="73152" marR="73152" marT="27432" marB="27432" anchor="ctr">
                    <a:solidFill>
                      <a:srgbClr val="FFFFFF"/>
                    </a:solidFill>
                  </a:tcPr>
                </a:tc>
                <a:tc>
                  <a:txBody>
                    <a:bodyPr/>
                    <a:lstStyle/>
                    <a:p>
                      <a:pPr algn="r"/>
                      <a:r>
                        <a:rPr sz="1300" b="0">
                          <a:solidFill>
                            <a:srgbClr val="14213D"/>
                          </a:solidFill>
                          <a:latin typeface="Arial"/>
                        </a:rPr>
                        <a:t>$10,048</a:t>
                      </a:r>
                    </a:p>
                  </a:txBody>
                  <a:tcPr marL="73152" marR="73152" marT="27432" marB="27432" anchor="ctr">
                    <a:solidFill>
                      <a:srgbClr val="FFFFFF"/>
                    </a:solidFill>
                  </a:tcPr>
                </a:tc>
                <a:tc>
                  <a:txBody>
                    <a:bodyPr/>
                    <a:lstStyle/>
                    <a:p>
                      <a:pPr algn="r"/>
                      <a:r>
                        <a:rPr sz="1300" b="0">
                          <a:solidFill>
                            <a:srgbClr val="14213D"/>
                          </a:solidFill>
                          <a:latin typeface="Arial"/>
                        </a:rPr>
                        <a:t>0.83x</a:t>
                      </a:r>
                    </a:p>
                  </a:txBody>
                  <a:tcPr marL="73152" marR="73152" marT="27432" marB="27432" anchor="ctr">
                    <a:solidFill>
                      <a:srgbClr val="FFFFFF"/>
                    </a:solidFill>
                  </a:tcPr>
                </a:tc>
                <a:extLst>
                  <a:ext uri="{0D108BD9-81ED-4DB2-BD59-A6C34878D82A}">
                    <a16:rowId xmlns:a16="http://schemas.microsoft.com/office/drawing/2014/main" val="10003"/>
                  </a:ext>
                </a:extLst>
              </a:tr>
              <a:tr h="365760">
                <a:tc>
                  <a:txBody>
                    <a:bodyPr/>
                    <a:lstStyle/>
                    <a:p>
                      <a:pPr algn="l"/>
                      <a:r>
                        <a:rPr sz="1300" b="0">
                          <a:solidFill>
                            <a:srgbClr val="14213D"/>
                          </a:solidFill>
                          <a:latin typeface="Arial"/>
                        </a:rPr>
                        <a:t>PPC_NB_Competitor_Myrtle-Beach</a:t>
                      </a:r>
                    </a:p>
                  </a:txBody>
                  <a:tcPr marL="73152" marR="73152" marT="27432" marB="27432" anchor="ctr">
                    <a:solidFill>
                      <a:srgbClr val="F7F6F2"/>
                    </a:solidFill>
                  </a:tcPr>
                </a:tc>
                <a:tc>
                  <a:txBody>
                    <a:bodyPr/>
                    <a:lstStyle/>
                    <a:p>
                      <a:pPr algn="r"/>
                      <a:r>
                        <a:rPr sz="1300" b="0">
                          <a:solidFill>
                            <a:srgbClr val="14213D"/>
                          </a:solidFill>
                          <a:latin typeface="Arial"/>
                        </a:rPr>
                        <a:t>$8,100</a:t>
                      </a:r>
                    </a:p>
                  </a:txBody>
                  <a:tcPr marL="73152" marR="73152" marT="27432" marB="27432" anchor="ctr">
                    <a:solidFill>
                      <a:srgbClr val="F7F6F2"/>
                    </a:solidFill>
                  </a:tcPr>
                </a:tc>
                <a:tc>
                  <a:txBody>
                    <a:bodyPr/>
                    <a:lstStyle/>
                    <a:p>
                      <a:pPr algn="r"/>
                      <a:r>
                        <a:rPr sz="1300" b="0">
                          <a:solidFill>
                            <a:srgbClr val="14213D"/>
                          </a:solidFill>
                          <a:latin typeface="Arial"/>
                        </a:rPr>
                        <a:t>62</a:t>
                      </a:r>
                    </a:p>
                  </a:txBody>
                  <a:tcPr marL="73152" marR="73152" marT="27432" marB="27432" anchor="ctr">
                    <a:solidFill>
                      <a:srgbClr val="F7F6F2"/>
                    </a:solidFill>
                  </a:tcPr>
                </a:tc>
                <a:tc>
                  <a:txBody>
                    <a:bodyPr/>
                    <a:lstStyle/>
                    <a:p>
                      <a:pPr algn="r"/>
                      <a:r>
                        <a:rPr sz="1300" b="0">
                          <a:solidFill>
                            <a:srgbClr val="14213D"/>
                          </a:solidFill>
                          <a:latin typeface="Arial"/>
                        </a:rPr>
                        <a:t>15</a:t>
                      </a:r>
                    </a:p>
                  </a:txBody>
                  <a:tcPr marL="73152" marR="73152" marT="27432" marB="27432" anchor="ctr">
                    <a:solidFill>
                      <a:srgbClr val="F7F6F2"/>
                    </a:solidFill>
                  </a:tcPr>
                </a:tc>
                <a:tc>
                  <a:txBody>
                    <a:bodyPr/>
                    <a:lstStyle/>
                    <a:p>
                      <a:pPr algn="r"/>
                      <a:r>
                        <a:rPr sz="1300" b="0">
                          <a:solidFill>
                            <a:srgbClr val="14213D"/>
                          </a:solidFill>
                          <a:latin typeface="Arial"/>
                        </a:rPr>
                        <a:t>$4,833</a:t>
                      </a:r>
                    </a:p>
                  </a:txBody>
                  <a:tcPr marL="73152" marR="73152" marT="27432" marB="27432" anchor="ctr">
                    <a:solidFill>
                      <a:srgbClr val="F7F6F2"/>
                    </a:solidFill>
                  </a:tcPr>
                </a:tc>
                <a:tc>
                  <a:txBody>
                    <a:bodyPr/>
                    <a:lstStyle/>
                    <a:p>
                      <a:pPr algn="r"/>
                      <a:r>
                        <a:rPr sz="1300" b="0">
                          <a:solidFill>
                            <a:srgbClr val="14213D"/>
                          </a:solidFill>
                          <a:latin typeface="Arial"/>
                        </a:rPr>
                        <a:t>0.60x</a:t>
                      </a:r>
                    </a:p>
                  </a:txBody>
                  <a:tcPr marL="73152" marR="73152" marT="27432" marB="27432" anchor="ctr">
                    <a:solidFill>
                      <a:srgbClr val="F7F6F2"/>
                    </a:solidFill>
                  </a:tcPr>
                </a:tc>
                <a:extLst>
                  <a:ext uri="{0D108BD9-81ED-4DB2-BD59-A6C34878D82A}">
                    <a16:rowId xmlns:a16="http://schemas.microsoft.com/office/drawing/2014/main" val="10004"/>
                  </a:ext>
                </a:extLst>
              </a:tr>
              <a:tr h="365760">
                <a:tc>
                  <a:txBody>
                    <a:bodyPr/>
                    <a:lstStyle/>
                    <a:p>
                      <a:pPr algn="l"/>
                      <a:r>
                        <a:rPr sz="1300" b="0">
                          <a:solidFill>
                            <a:srgbClr val="14213D"/>
                          </a:solidFill>
                          <a:latin typeface="Arial"/>
                        </a:rPr>
                        <a:t>August 2026 Special | $100 Off HVAC Repair - Copy</a:t>
                      </a:r>
                    </a:p>
                  </a:txBody>
                  <a:tcPr marL="73152" marR="73152" marT="27432" marB="27432" anchor="ctr">
                    <a:solidFill>
                      <a:srgbClr val="FFFFFF"/>
                    </a:solidFill>
                  </a:tcPr>
                </a:tc>
                <a:tc>
                  <a:txBody>
                    <a:bodyPr/>
                    <a:lstStyle/>
                    <a:p>
                      <a:pPr algn="r"/>
                      <a:r>
                        <a:rPr sz="1300" b="0">
                          <a:solidFill>
                            <a:srgbClr val="14213D"/>
                          </a:solidFill>
                          <a:latin typeface="Arial"/>
                        </a:rPr>
                        <a:t>$5,022</a:t>
                      </a:r>
                    </a:p>
                  </a:txBody>
                  <a:tcPr marL="73152" marR="73152" marT="27432" marB="27432" anchor="ctr">
                    <a:solidFill>
                      <a:srgbClr val="FFFFFF"/>
                    </a:solidFill>
                  </a:tcPr>
                </a:tc>
                <a:tc>
                  <a:txBody>
                    <a:bodyPr/>
                    <a:lstStyle/>
                    <a:p>
                      <a:pPr algn="r"/>
                      <a:r>
                        <a:rPr sz="1300" b="0">
                          <a:solidFill>
                            <a:srgbClr val="14213D"/>
                          </a:solidFill>
                          <a:latin typeface="Arial"/>
                        </a:rPr>
                        <a:t>23</a:t>
                      </a:r>
                    </a:p>
                  </a:txBody>
                  <a:tcPr marL="73152" marR="73152" marT="27432" marB="27432" anchor="ctr">
                    <a:solidFill>
                      <a:srgbClr val="FFFFFF"/>
                    </a:solidFill>
                  </a:tcPr>
                </a:tc>
                <a:tc>
                  <a:txBody>
                    <a:bodyPr/>
                    <a:lstStyle/>
                    <a:p>
                      <a:pPr algn="r"/>
                      <a:r>
                        <a:rPr sz="1300" b="0">
                          <a:solidFill>
                            <a:srgbClr val="14213D"/>
                          </a:solidFill>
                          <a:latin typeface="Arial"/>
                        </a:rPr>
                        <a:t>2</a:t>
                      </a:r>
                    </a:p>
                  </a:txBody>
                  <a:tcPr marL="73152" marR="73152" marT="27432" marB="27432" anchor="ctr">
                    <a:solidFill>
                      <a:srgbClr val="FFFFFF"/>
                    </a:solidFill>
                  </a:tcPr>
                </a:tc>
                <a:tc>
                  <a:txBody>
                    <a:bodyPr/>
                    <a:lstStyle/>
                    <a:p>
                      <a:pPr algn="r"/>
                      <a:r>
                        <a:rPr sz="1300" b="0">
                          <a:solidFill>
                            <a:srgbClr val="14213D"/>
                          </a:solidFill>
                          <a:latin typeface="Arial"/>
                        </a:rPr>
                        <a:t>$0</a:t>
                      </a:r>
                    </a:p>
                  </a:txBody>
                  <a:tcPr marL="73152" marR="73152" marT="27432" marB="27432" anchor="ctr">
                    <a:solidFill>
                      <a:srgbClr val="FFFFFF"/>
                    </a:solidFill>
                  </a:tcPr>
                </a:tc>
                <a:tc>
                  <a:txBody>
                    <a:bodyPr/>
                    <a:lstStyle/>
                    <a:p>
                      <a:pPr algn="r"/>
                      <a:r>
                        <a:rPr sz="1300" b="0">
                          <a:solidFill>
                            <a:srgbClr val="14213D"/>
                          </a:solidFill>
                          <a:latin typeface="Arial"/>
                        </a:rPr>
                        <a:t>0.00x</a:t>
                      </a:r>
                    </a:p>
                  </a:txBody>
                  <a:tcPr marL="73152" marR="73152" marT="27432" marB="27432" anchor="ctr">
                    <a:solidFill>
                      <a:srgbClr val="FFFFFF"/>
                    </a:solidFill>
                  </a:tcPr>
                </a:tc>
                <a:extLst>
                  <a:ext uri="{0D108BD9-81ED-4DB2-BD59-A6C34878D82A}">
                    <a16:rowId xmlns:a16="http://schemas.microsoft.com/office/drawing/2014/main" val="10005"/>
                  </a:ext>
                </a:extLst>
              </a:tr>
              <a:tr h="365760">
                <a:tc>
                  <a:txBody>
                    <a:bodyPr/>
                    <a:lstStyle/>
                    <a:p>
                      <a:pPr algn="l"/>
                      <a:r>
                        <a:rPr sz="1300" b="0">
                          <a:solidFill>
                            <a:srgbClr val="14213D"/>
                          </a:solidFill>
                          <a:latin typeface="Arial"/>
                        </a:rPr>
                        <a:t>Performance Max - HVAC</a:t>
                      </a:r>
                    </a:p>
                  </a:txBody>
                  <a:tcPr marL="73152" marR="73152" marT="27432" marB="27432" anchor="ctr">
                    <a:solidFill>
                      <a:srgbClr val="F7F6F2"/>
                    </a:solidFill>
                  </a:tcPr>
                </a:tc>
                <a:tc>
                  <a:txBody>
                    <a:bodyPr/>
                    <a:lstStyle/>
                    <a:p>
                      <a:pPr algn="r"/>
                      <a:r>
                        <a:rPr sz="1300" b="0">
                          <a:solidFill>
                            <a:srgbClr val="14213D"/>
                          </a:solidFill>
                          <a:latin typeface="Arial"/>
                        </a:rPr>
                        <a:t>$3,663</a:t>
                      </a:r>
                    </a:p>
                  </a:txBody>
                  <a:tcPr marL="73152" marR="73152" marT="27432" marB="27432" anchor="ctr">
                    <a:solidFill>
                      <a:srgbClr val="F7F6F2"/>
                    </a:solidFill>
                  </a:tcPr>
                </a:tc>
                <a:tc>
                  <a:txBody>
                    <a:bodyPr/>
                    <a:lstStyle/>
                    <a:p>
                      <a:pPr algn="r"/>
                      <a:r>
                        <a:rPr sz="1300" b="0">
                          <a:solidFill>
                            <a:srgbClr val="14213D"/>
                          </a:solidFill>
                          <a:latin typeface="Arial"/>
                        </a:rPr>
                        <a:t>55</a:t>
                      </a:r>
                    </a:p>
                  </a:txBody>
                  <a:tcPr marL="73152" marR="73152" marT="27432" marB="27432" anchor="ctr">
                    <a:solidFill>
                      <a:srgbClr val="F7F6F2"/>
                    </a:solidFill>
                  </a:tcPr>
                </a:tc>
                <a:tc>
                  <a:txBody>
                    <a:bodyPr/>
                    <a:lstStyle/>
                    <a:p>
                      <a:pPr algn="r"/>
                      <a:r>
                        <a:rPr sz="1300" b="0">
                          <a:solidFill>
                            <a:srgbClr val="14213D"/>
                          </a:solidFill>
                          <a:latin typeface="Arial"/>
                        </a:rPr>
                        <a:t>4</a:t>
                      </a:r>
                    </a:p>
                  </a:txBody>
                  <a:tcPr marL="73152" marR="73152" marT="27432" marB="27432" anchor="ctr">
                    <a:solidFill>
                      <a:srgbClr val="F7F6F2"/>
                    </a:solidFill>
                  </a:tcPr>
                </a:tc>
                <a:tc>
                  <a:txBody>
                    <a:bodyPr/>
                    <a:lstStyle/>
                    <a:p>
                      <a:pPr algn="r"/>
                      <a:r>
                        <a:rPr sz="1300" b="0">
                          <a:solidFill>
                            <a:srgbClr val="14213D"/>
                          </a:solidFill>
                          <a:latin typeface="Arial"/>
                        </a:rPr>
                        <a:t>$1,146</a:t>
                      </a:r>
                    </a:p>
                  </a:txBody>
                  <a:tcPr marL="73152" marR="73152" marT="27432" marB="27432" anchor="ctr">
                    <a:solidFill>
                      <a:srgbClr val="F7F6F2"/>
                    </a:solidFill>
                  </a:tcPr>
                </a:tc>
                <a:tc>
                  <a:txBody>
                    <a:bodyPr/>
                    <a:lstStyle/>
                    <a:p>
                      <a:pPr algn="r"/>
                      <a:r>
                        <a:rPr sz="1300" b="0">
                          <a:solidFill>
                            <a:srgbClr val="14213D"/>
                          </a:solidFill>
                          <a:latin typeface="Arial"/>
                        </a:rPr>
                        <a:t>0.31x</a:t>
                      </a:r>
                    </a:p>
                  </a:txBody>
                  <a:tcPr marL="73152" marR="73152" marT="27432" marB="27432" anchor="ctr">
                    <a:solidFill>
                      <a:srgbClr val="F7F6F2"/>
                    </a:solidFill>
                  </a:tcPr>
                </a:tc>
                <a:extLst>
                  <a:ext uri="{0D108BD9-81ED-4DB2-BD59-A6C34878D82A}">
                    <a16:rowId xmlns:a16="http://schemas.microsoft.com/office/drawing/2014/main" val="10006"/>
                  </a:ext>
                </a:extLst>
              </a:tr>
              <a:tr h="365760">
                <a:tc>
                  <a:txBody>
                    <a:bodyPr/>
                    <a:lstStyle/>
                    <a:p>
                      <a:pPr algn="l"/>
                      <a:r>
                        <a:rPr sz="1300" b="0">
                          <a:solidFill>
                            <a:srgbClr val="14213D"/>
                          </a:solidFill>
                          <a:latin typeface="Arial"/>
                        </a:rPr>
                        <a:t>Aug 2026 Special | $100 Off Plumbing</a:t>
                      </a:r>
                    </a:p>
                  </a:txBody>
                  <a:tcPr marL="73152" marR="73152" marT="27432" marB="27432" anchor="ctr">
                    <a:solidFill>
                      <a:srgbClr val="FFFFFF"/>
                    </a:solidFill>
                  </a:tcPr>
                </a:tc>
                <a:tc>
                  <a:txBody>
                    <a:bodyPr/>
                    <a:lstStyle/>
                    <a:p>
                      <a:pPr algn="r"/>
                      <a:r>
                        <a:rPr sz="1300" b="0">
                          <a:solidFill>
                            <a:srgbClr val="14213D"/>
                          </a:solidFill>
                          <a:latin typeface="Arial"/>
                        </a:rPr>
                        <a:t>$2,313</a:t>
                      </a:r>
                    </a:p>
                  </a:txBody>
                  <a:tcPr marL="73152" marR="73152" marT="27432" marB="27432" anchor="ctr">
                    <a:solidFill>
                      <a:srgbClr val="FFFFFF"/>
                    </a:solidFill>
                  </a:tcPr>
                </a:tc>
                <a:tc>
                  <a:txBody>
                    <a:bodyPr/>
                    <a:lstStyle/>
                    <a:p>
                      <a:pPr algn="r"/>
                      <a:r>
                        <a:rPr sz="1300" b="0">
                          <a:solidFill>
                            <a:srgbClr val="14213D"/>
                          </a:solidFill>
                          <a:latin typeface="Arial"/>
                        </a:rPr>
                        <a:t>7</a:t>
                      </a:r>
                    </a:p>
                  </a:txBody>
                  <a:tcPr marL="73152" marR="73152" marT="27432" marB="27432" anchor="ctr">
                    <a:solidFill>
                      <a:srgbClr val="FFFFFF"/>
                    </a:solidFill>
                  </a:tcPr>
                </a:tc>
                <a:tc>
                  <a:txBody>
                    <a:bodyPr/>
                    <a:lstStyle/>
                    <a:p>
                      <a:pPr algn="r"/>
                      <a:r>
                        <a:rPr sz="1300" b="0">
                          <a:solidFill>
                            <a:srgbClr val="14213D"/>
                          </a:solidFill>
                          <a:latin typeface="Arial"/>
                        </a:rPr>
                        <a:t>1</a:t>
                      </a:r>
                    </a:p>
                  </a:txBody>
                  <a:tcPr marL="73152" marR="73152" marT="27432" marB="27432" anchor="ctr">
                    <a:solidFill>
                      <a:srgbClr val="FFFFFF"/>
                    </a:solidFill>
                  </a:tcPr>
                </a:tc>
                <a:tc>
                  <a:txBody>
                    <a:bodyPr/>
                    <a:lstStyle/>
                    <a:p>
                      <a:pPr algn="r"/>
                      <a:r>
                        <a:rPr sz="1300" b="0">
                          <a:solidFill>
                            <a:srgbClr val="14213D"/>
                          </a:solidFill>
                          <a:latin typeface="Arial"/>
                        </a:rPr>
                        <a:t>$319</a:t>
                      </a:r>
                    </a:p>
                  </a:txBody>
                  <a:tcPr marL="73152" marR="73152" marT="27432" marB="27432" anchor="ctr">
                    <a:solidFill>
                      <a:srgbClr val="FFFFFF"/>
                    </a:solidFill>
                  </a:tcPr>
                </a:tc>
                <a:tc>
                  <a:txBody>
                    <a:bodyPr/>
                    <a:lstStyle/>
                    <a:p>
                      <a:pPr algn="r"/>
                      <a:r>
                        <a:rPr sz="1300" b="0">
                          <a:solidFill>
                            <a:srgbClr val="14213D"/>
                          </a:solidFill>
                          <a:latin typeface="Arial"/>
                        </a:rPr>
                        <a:t>0.14x</a:t>
                      </a:r>
                    </a:p>
                  </a:txBody>
                  <a:tcPr marL="73152" marR="73152" marT="27432" marB="27432" anchor="ctr">
                    <a:solidFill>
                      <a:srgbClr val="FFFFFF"/>
                    </a:solidFill>
                  </a:tcPr>
                </a:tc>
                <a:extLst>
                  <a:ext uri="{0D108BD9-81ED-4DB2-BD59-A6C34878D82A}">
                    <a16:rowId xmlns:a16="http://schemas.microsoft.com/office/drawing/2014/main" val="10007"/>
                  </a:ext>
                </a:extLst>
              </a:tr>
              <a:tr h="365760">
                <a:tc>
                  <a:txBody>
                    <a:bodyPr/>
                    <a:lstStyle/>
                    <a:p>
                      <a:pPr algn="l"/>
                      <a:r>
                        <a:rPr sz="1300" b="0">
                          <a:solidFill>
                            <a:srgbClr val="14213D"/>
                          </a:solidFill>
                          <a:latin typeface="Arial"/>
                        </a:rPr>
                        <a:t>Leads Campaign June Offers</a:t>
                      </a:r>
                    </a:p>
                  </a:txBody>
                  <a:tcPr marL="73152" marR="73152" marT="27432" marB="27432" anchor="ctr">
                    <a:solidFill>
                      <a:srgbClr val="F7F6F2"/>
                    </a:solidFill>
                  </a:tcPr>
                </a:tc>
                <a:tc>
                  <a:txBody>
                    <a:bodyPr/>
                    <a:lstStyle/>
                    <a:p>
                      <a:pPr algn="r"/>
                      <a:r>
                        <a:rPr sz="1300" b="0">
                          <a:solidFill>
                            <a:srgbClr val="14213D"/>
                          </a:solidFill>
                          <a:latin typeface="Arial"/>
                        </a:rPr>
                        <a:t>$2,082</a:t>
                      </a:r>
                    </a:p>
                  </a:txBody>
                  <a:tcPr marL="73152" marR="73152" marT="27432" marB="27432" anchor="ctr">
                    <a:solidFill>
                      <a:srgbClr val="F7F6F2"/>
                    </a:solidFill>
                  </a:tcPr>
                </a:tc>
                <a:tc>
                  <a:txBody>
                    <a:bodyPr/>
                    <a:lstStyle/>
                    <a:p>
                      <a:pPr algn="r"/>
                      <a:r>
                        <a:rPr sz="1300" b="0">
                          <a:solidFill>
                            <a:srgbClr val="14213D"/>
                          </a:solidFill>
                          <a:latin typeface="Arial"/>
                        </a:rPr>
                        <a:t>5</a:t>
                      </a:r>
                    </a:p>
                  </a:txBody>
                  <a:tcPr marL="73152" marR="73152" marT="27432" marB="27432" anchor="ctr">
                    <a:solidFill>
                      <a:srgbClr val="F7F6F2"/>
                    </a:solidFill>
                  </a:tcPr>
                </a:tc>
                <a:tc>
                  <a:txBody>
                    <a:bodyPr/>
                    <a:lstStyle/>
                    <a:p>
                      <a:pPr algn="r"/>
                      <a:r>
                        <a:rPr sz="1300" b="0">
                          <a:solidFill>
                            <a:srgbClr val="14213D"/>
                          </a:solidFill>
                          <a:latin typeface="Arial"/>
                        </a:rPr>
                        <a:t>0</a:t>
                      </a:r>
                    </a:p>
                  </a:txBody>
                  <a:tcPr marL="73152" marR="73152" marT="27432" marB="27432" anchor="ctr">
                    <a:solidFill>
                      <a:srgbClr val="F7F6F2"/>
                    </a:solidFill>
                  </a:tcPr>
                </a:tc>
                <a:tc>
                  <a:txBody>
                    <a:bodyPr/>
                    <a:lstStyle/>
                    <a:p>
                      <a:pPr algn="r"/>
                      <a:r>
                        <a:rPr sz="1300" b="0">
                          <a:solidFill>
                            <a:srgbClr val="14213D"/>
                          </a:solidFill>
                          <a:latin typeface="Arial"/>
                        </a:rPr>
                        <a:t>$0</a:t>
                      </a:r>
                    </a:p>
                  </a:txBody>
                  <a:tcPr marL="73152" marR="73152" marT="27432" marB="27432" anchor="ctr">
                    <a:solidFill>
                      <a:srgbClr val="F7F6F2"/>
                    </a:solidFill>
                  </a:tcPr>
                </a:tc>
                <a:tc>
                  <a:txBody>
                    <a:bodyPr/>
                    <a:lstStyle/>
                    <a:p>
                      <a:pPr algn="r"/>
                      <a:r>
                        <a:rPr sz="1300" b="0">
                          <a:solidFill>
                            <a:srgbClr val="14213D"/>
                          </a:solidFill>
                          <a:latin typeface="Arial"/>
                        </a:rPr>
                        <a:t>0.00x</a:t>
                      </a:r>
                    </a:p>
                  </a:txBody>
                  <a:tcPr marL="73152" marR="73152" marT="27432" marB="27432" anchor="ctr">
                    <a:solidFill>
                      <a:srgbClr val="F7F6F2"/>
                    </a:solidFill>
                  </a:tcPr>
                </a:tc>
                <a:extLst>
                  <a:ext uri="{0D108BD9-81ED-4DB2-BD59-A6C34878D82A}">
                    <a16:rowId xmlns:a16="http://schemas.microsoft.com/office/drawing/2014/main" val="10008"/>
                  </a:ext>
                </a:extLst>
              </a:tr>
              <a:tr h="365760">
                <a:tc>
                  <a:txBody>
                    <a:bodyPr/>
                    <a:lstStyle/>
                    <a:p>
                      <a:pPr algn="l"/>
                      <a:r>
                        <a:rPr sz="1300" b="0">
                          <a:solidFill>
                            <a:srgbClr val="14213D"/>
                          </a:solidFill>
                          <a:latin typeface="Arial"/>
                        </a:rPr>
                        <a:t>PDM -  Sept Plumbing Offer</a:t>
                      </a:r>
                    </a:p>
                  </a:txBody>
                  <a:tcPr marL="73152" marR="73152" marT="27432" marB="27432" anchor="ctr">
                    <a:solidFill>
                      <a:srgbClr val="FFFFFF"/>
                    </a:solidFill>
                  </a:tcPr>
                </a:tc>
                <a:tc>
                  <a:txBody>
                    <a:bodyPr/>
                    <a:lstStyle/>
                    <a:p>
                      <a:pPr algn="r"/>
                      <a:r>
                        <a:rPr sz="1300" b="0">
                          <a:solidFill>
                            <a:srgbClr val="14213D"/>
                          </a:solidFill>
                          <a:latin typeface="Arial"/>
                        </a:rPr>
                        <a:t>$828</a:t>
                      </a:r>
                    </a:p>
                  </a:txBody>
                  <a:tcPr marL="73152" marR="73152" marT="27432" marB="27432" anchor="ctr">
                    <a:solidFill>
                      <a:srgbClr val="FFFFFF"/>
                    </a:solidFill>
                  </a:tcPr>
                </a:tc>
                <a:tc>
                  <a:txBody>
                    <a:bodyPr/>
                    <a:lstStyle/>
                    <a:p>
                      <a:pPr algn="r"/>
                      <a:r>
                        <a:rPr sz="1300" b="0">
                          <a:solidFill>
                            <a:srgbClr val="14213D"/>
                          </a:solidFill>
                          <a:latin typeface="Arial"/>
                        </a:rPr>
                        <a:t>5</a:t>
                      </a:r>
                    </a:p>
                  </a:txBody>
                  <a:tcPr marL="73152" marR="73152" marT="27432" marB="27432" anchor="ctr">
                    <a:solidFill>
                      <a:srgbClr val="FFFFFF"/>
                    </a:solidFill>
                  </a:tcPr>
                </a:tc>
                <a:tc>
                  <a:txBody>
                    <a:bodyPr/>
                    <a:lstStyle/>
                    <a:p>
                      <a:pPr algn="r"/>
                      <a:r>
                        <a:rPr sz="1300" b="0">
                          <a:solidFill>
                            <a:srgbClr val="14213D"/>
                          </a:solidFill>
                          <a:latin typeface="Arial"/>
                        </a:rPr>
                        <a:t>0</a:t>
                      </a:r>
                    </a:p>
                  </a:txBody>
                  <a:tcPr marL="73152" marR="73152" marT="27432" marB="27432" anchor="ctr">
                    <a:solidFill>
                      <a:srgbClr val="FFFFFF"/>
                    </a:solidFill>
                  </a:tcPr>
                </a:tc>
                <a:tc>
                  <a:txBody>
                    <a:bodyPr/>
                    <a:lstStyle/>
                    <a:p>
                      <a:pPr algn="r"/>
                      <a:r>
                        <a:rPr sz="1300" b="0">
                          <a:solidFill>
                            <a:srgbClr val="14213D"/>
                          </a:solidFill>
                          <a:latin typeface="Arial"/>
                        </a:rPr>
                        <a:t>$0</a:t>
                      </a:r>
                    </a:p>
                  </a:txBody>
                  <a:tcPr marL="73152" marR="73152" marT="27432" marB="27432" anchor="ctr">
                    <a:solidFill>
                      <a:srgbClr val="FFFFFF"/>
                    </a:solidFill>
                  </a:tcPr>
                </a:tc>
                <a:tc>
                  <a:txBody>
                    <a:bodyPr/>
                    <a:lstStyle/>
                    <a:p>
                      <a:pPr algn="r"/>
                      <a:r>
                        <a:rPr sz="1300" b="0">
                          <a:solidFill>
                            <a:srgbClr val="14213D"/>
                          </a:solidFill>
                          <a:latin typeface="Arial"/>
                        </a:rPr>
                        <a:t>0.00x</a:t>
                      </a:r>
                    </a:p>
                  </a:txBody>
                  <a:tcPr marL="73152" marR="73152" marT="27432" marB="27432" anchor="ctr">
                    <a:solidFill>
                      <a:srgbClr val="FFFFFF"/>
                    </a:solidFill>
                  </a:tcPr>
                </a:tc>
                <a:extLst>
                  <a:ext uri="{0D108BD9-81ED-4DB2-BD59-A6C34878D82A}">
                    <a16:rowId xmlns:a16="http://schemas.microsoft.com/office/drawing/2014/main" val="10009"/>
                  </a:ext>
                </a:extLst>
              </a:tr>
              <a:tr h="365760">
                <a:tc>
                  <a:txBody>
                    <a:bodyPr/>
                    <a:lstStyle/>
                    <a:p>
                      <a:pPr algn="l"/>
                      <a:r>
                        <a:rPr sz="1300" b="0">
                          <a:solidFill>
                            <a:srgbClr val="14213D"/>
                          </a:solidFill>
                          <a:latin typeface="Arial"/>
                        </a:rPr>
                        <a:t>Performance Max - Carolina Cool</a:t>
                      </a:r>
                    </a:p>
                  </a:txBody>
                  <a:tcPr marL="73152" marR="73152" marT="27432" marB="27432" anchor="ctr">
                    <a:solidFill>
                      <a:srgbClr val="F7F6F2"/>
                    </a:solidFill>
                  </a:tcPr>
                </a:tc>
                <a:tc>
                  <a:txBody>
                    <a:bodyPr/>
                    <a:lstStyle/>
                    <a:p>
                      <a:pPr algn="r"/>
                      <a:r>
                        <a:rPr sz="1300" b="0">
                          <a:solidFill>
                            <a:srgbClr val="14213D"/>
                          </a:solidFill>
                          <a:latin typeface="Arial"/>
                        </a:rPr>
                        <a:t>$345</a:t>
                      </a:r>
                    </a:p>
                  </a:txBody>
                  <a:tcPr marL="73152" marR="73152" marT="27432" marB="27432" anchor="ctr">
                    <a:solidFill>
                      <a:srgbClr val="F7F6F2"/>
                    </a:solidFill>
                  </a:tcPr>
                </a:tc>
                <a:tc>
                  <a:txBody>
                    <a:bodyPr/>
                    <a:lstStyle/>
                    <a:p>
                      <a:pPr algn="r"/>
                      <a:r>
                        <a:rPr sz="1300" b="0">
                          <a:solidFill>
                            <a:srgbClr val="14213D"/>
                          </a:solidFill>
                          <a:latin typeface="Arial"/>
                        </a:rPr>
                        <a:t>1</a:t>
                      </a:r>
                    </a:p>
                  </a:txBody>
                  <a:tcPr marL="73152" marR="73152" marT="27432" marB="27432" anchor="ctr">
                    <a:solidFill>
                      <a:srgbClr val="F7F6F2"/>
                    </a:solidFill>
                  </a:tcPr>
                </a:tc>
                <a:tc>
                  <a:txBody>
                    <a:bodyPr/>
                    <a:lstStyle/>
                    <a:p>
                      <a:pPr algn="r"/>
                      <a:r>
                        <a:rPr sz="1300" b="0">
                          <a:solidFill>
                            <a:srgbClr val="14213D"/>
                          </a:solidFill>
                          <a:latin typeface="Arial"/>
                        </a:rPr>
                        <a:t>0</a:t>
                      </a:r>
                    </a:p>
                  </a:txBody>
                  <a:tcPr marL="73152" marR="73152" marT="27432" marB="27432" anchor="ctr">
                    <a:solidFill>
                      <a:srgbClr val="F7F6F2"/>
                    </a:solidFill>
                  </a:tcPr>
                </a:tc>
                <a:tc>
                  <a:txBody>
                    <a:bodyPr/>
                    <a:lstStyle/>
                    <a:p>
                      <a:pPr algn="r"/>
                      <a:r>
                        <a:rPr sz="1300" b="0">
                          <a:solidFill>
                            <a:srgbClr val="14213D"/>
                          </a:solidFill>
                          <a:latin typeface="Arial"/>
                        </a:rPr>
                        <a:t>$0</a:t>
                      </a:r>
                    </a:p>
                  </a:txBody>
                  <a:tcPr marL="73152" marR="73152" marT="27432" marB="27432" anchor="ctr">
                    <a:solidFill>
                      <a:srgbClr val="F7F6F2"/>
                    </a:solidFill>
                  </a:tcPr>
                </a:tc>
                <a:tc>
                  <a:txBody>
                    <a:bodyPr/>
                    <a:lstStyle/>
                    <a:p>
                      <a:pPr algn="r"/>
                      <a:r>
                        <a:rPr sz="1300" b="0">
                          <a:solidFill>
                            <a:srgbClr val="14213D"/>
                          </a:solidFill>
                          <a:latin typeface="Arial"/>
                        </a:rPr>
                        <a:t>0.00x</a:t>
                      </a:r>
                    </a:p>
                  </a:txBody>
                  <a:tcPr marL="73152" marR="73152" marT="27432" marB="27432" anchor="ctr">
                    <a:solidFill>
                      <a:srgbClr val="F7F6F2"/>
                    </a:solidFill>
                  </a:tcPr>
                </a:tc>
                <a:extLst>
                  <a:ext uri="{0D108BD9-81ED-4DB2-BD59-A6C34878D82A}">
                    <a16:rowId xmlns:a16="http://schemas.microsoft.com/office/drawing/2014/main" val="10010"/>
                  </a:ext>
                </a:extLst>
              </a:tr>
              <a:tr h="365760">
                <a:tc>
                  <a:txBody>
                    <a:bodyPr/>
                    <a:lstStyle/>
                    <a:p>
                      <a:pPr algn="l"/>
                      <a:r>
                        <a:rPr sz="1300" b="1">
                          <a:solidFill>
                            <a:srgbClr val="14213D"/>
                          </a:solidFill>
                          <a:latin typeface="Arial"/>
                        </a:rPr>
                        <a:t>Total, 10 campaigns below 1x</a:t>
                      </a:r>
                    </a:p>
                  </a:txBody>
                  <a:tcPr marL="73152" marR="73152" marT="27432" marB="27432" anchor="ctr">
                    <a:solidFill>
                      <a:srgbClr val="FBE7D6"/>
                    </a:solidFill>
                  </a:tcPr>
                </a:tc>
                <a:tc>
                  <a:txBody>
                    <a:bodyPr/>
                    <a:lstStyle/>
                    <a:p>
                      <a:pPr algn="r"/>
                      <a:r>
                        <a:rPr sz="1300" b="1">
                          <a:solidFill>
                            <a:srgbClr val="14213D"/>
                          </a:solidFill>
                          <a:latin typeface="Arial"/>
                        </a:rPr>
                        <a:t>$87,813</a:t>
                      </a:r>
                    </a:p>
                  </a:txBody>
                  <a:tcPr marL="73152" marR="73152" marT="27432" marB="27432" anchor="ctr">
                    <a:solidFill>
                      <a:srgbClr val="FBE7D6"/>
                    </a:solidFill>
                  </a:tcPr>
                </a:tc>
                <a:tc>
                  <a:txBody>
                    <a:bodyPr/>
                    <a:lstStyle/>
                    <a:p>
                      <a:pPr algn="r"/>
                      <a:r>
                        <a:rPr sz="1300" b="1">
                          <a:solidFill>
                            <a:srgbClr val="14213D"/>
                          </a:solidFill>
                          <a:latin typeface="Arial"/>
                        </a:rPr>
                        <a:t>422</a:t>
                      </a:r>
                    </a:p>
                  </a:txBody>
                  <a:tcPr marL="73152" marR="73152" marT="27432" marB="27432" anchor="ctr">
                    <a:solidFill>
                      <a:srgbClr val="FBE7D6"/>
                    </a:solidFill>
                  </a:tcPr>
                </a:tc>
                <a:tc>
                  <a:txBody>
                    <a:bodyPr/>
                    <a:lstStyle/>
                    <a:p>
                      <a:pPr algn="r"/>
                      <a:r>
                        <a:rPr sz="1300" b="1">
                          <a:solidFill>
                            <a:srgbClr val="14213D"/>
                          </a:solidFill>
                          <a:latin typeface="Arial"/>
                        </a:rPr>
                        <a:t>91</a:t>
                      </a:r>
                    </a:p>
                  </a:txBody>
                  <a:tcPr marL="73152" marR="73152" marT="27432" marB="27432" anchor="ctr">
                    <a:solidFill>
                      <a:srgbClr val="FBE7D6"/>
                    </a:solidFill>
                  </a:tcPr>
                </a:tc>
                <a:tc>
                  <a:txBody>
                    <a:bodyPr/>
                    <a:lstStyle/>
                    <a:p>
                      <a:pPr algn="r"/>
                      <a:r>
                        <a:rPr sz="1300" b="1">
                          <a:solidFill>
                            <a:srgbClr val="14213D"/>
                          </a:solidFill>
                          <a:latin typeface="Arial"/>
                        </a:rPr>
                        <a:t>$34,948</a:t>
                      </a:r>
                    </a:p>
                  </a:txBody>
                  <a:tcPr marL="73152" marR="73152" marT="27432" marB="27432" anchor="ctr">
                    <a:solidFill>
                      <a:srgbClr val="FBE7D6"/>
                    </a:solidFill>
                  </a:tcPr>
                </a:tc>
                <a:tc>
                  <a:txBody>
                    <a:bodyPr/>
                    <a:lstStyle/>
                    <a:p>
                      <a:pPr algn="r"/>
                      <a:r>
                        <a:rPr sz="1300" b="1">
                          <a:solidFill>
                            <a:srgbClr val="14213D"/>
                          </a:solidFill>
                          <a:latin typeface="Arial"/>
                        </a:rPr>
                        <a:t>0.40x</a:t>
                      </a:r>
                    </a:p>
                  </a:txBody>
                  <a:tcPr marL="73152" marR="73152" marT="27432" marB="27432" anchor="ctr">
                    <a:solidFill>
                      <a:srgbClr val="FBE7D6"/>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itle"/>
          <p:cNvSpPr txBox="1"/>
          <p:nvPr/>
        </p:nvSpPr>
        <p:spPr>
          <a:xfrm>
            <a:off x="548640" y="411480"/>
            <a:ext cx="11094415" cy="822960"/>
          </a:xfrm>
          <a:prstGeom prst="rect">
            <a:avLst/>
          </a:prstGeom>
          <a:noFill/>
        </p:spPr>
        <p:txBody>
          <a:bodyPr wrap="square" lIns="0" tIns="0" rIns="0" bIns="0" anchor="t">
            <a:spAutoFit/>
          </a:bodyPr>
          <a:lstStyle/>
          <a:p>
            <a:pPr algn="l"/>
            <a:r>
              <a:rPr sz="2800" b="1">
                <a:solidFill>
                  <a:srgbClr val="14213D"/>
                </a:solidFill>
                <a:latin typeface="Arial"/>
              </a:rPr>
              <a:t>Charleston GBP brings the most revenue but books only 7% of its leads</a:t>
            </a:r>
          </a:p>
        </p:txBody>
      </p:sp>
      <p:sp>
        <p:nvSpPr>
          <p:cNvPr id="3" name="Footer"/>
          <p:cNvSpPr txBox="1"/>
          <p:nvPr/>
        </p:nvSpPr>
        <p:spPr>
          <a:xfrm>
            <a:off x="548640" y="6355080"/>
            <a:ext cx="10180015" cy="274320"/>
          </a:xfrm>
          <a:prstGeom prst="rect">
            <a:avLst/>
          </a:prstGeom>
          <a:noFill/>
        </p:spPr>
        <p:txBody>
          <a:bodyPr wrap="square" lIns="0" tIns="0" rIns="0" bIns="0" anchor="t">
            <a:spAutoFit/>
          </a:bodyPr>
          <a:lstStyle/>
          <a:p>
            <a:pPr algn="l"/>
            <a:r>
              <a:rPr sz="1000" b="0">
                <a:solidFill>
                  <a:srgbClr val="5A6478"/>
                </a:solidFill>
                <a:latin typeface="Arial"/>
              </a:rPr>
              <a:t>Source: Searchlight performance-by export · Jan 1 – Oct 23, 2026 · 46 retention, follow-up and Mainline campaigns excluded</a:t>
            </a:r>
          </a:p>
        </p:txBody>
      </p:sp>
      <p:sp>
        <p:nvSpPr>
          <p:cNvPr id="4" name="Page number"/>
          <p:cNvSpPr txBox="1"/>
          <p:nvPr/>
        </p:nvSpPr>
        <p:spPr>
          <a:xfrm>
            <a:off x="11094415" y="6355080"/>
            <a:ext cx="548640" cy="274320"/>
          </a:xfrm>
          <a:prstGeom prst="rect">
            <a:avLst/>
          </a:prstGeom>
          <a:noFill/>
        </p:spPr>
        <p:txBody>
          <a:bodyPr wrap="square" lIns="0" tIns="0" rIns="0" bIns="0" anchor="t">
            <a:spAutoFit/>
          </a:bodyPr>
          <a:lstStyle/>
          <a:p>
            <a:pPr algn="r"/>
            <a:r>
              <a:rPr sz="1000" b="0">
                <a:solidFill>
                  <a:srgbClr val="5A6478"/>
                </a:solidFill>
                <a:latin typeface="Arial"/>
              </a:rPr>
              <a:t>15</a:t>
            </a:r>
          </a:p>
        </p:txBody>
      </p:sp>
      <p:graphicFrame>
        <p:nvGraphicFramePr>
          <p:cNvPr id="5" name="Unpaid table"/>
          <p:cNvGraphicFramePr>
            <a:graphicFrameLocks noGrp="1"/>
          </p:cNvGraphicFramePr>
          <p:nvPr/>
        </p:nvGraphicFramePr>
        <p:xfrm>
          <a:off x="548640" y="1417320"/>
          <a:ext cx="11094415" cy="4023360"/>
        </p:xfrm>
        <a:graphic>
          <a:graphicData uri="http://schemas.openxmlformats.org/drawingml/2006/table">
            <a:tbl>
              <a:tblPr firstRow="1">
                <a:tableStyleId>{5C22544A-7EE6-4342-B048-85BDC9FD1C3A}</a:tableStyleId>
              </a:tblPr>
              <a:tblGrid>
                <a:gridCol w="36576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1676095">
                  <a:extLst>
                    <a:ext uri="{9D8B030D-6E8A-4147-A177-3AD203B41FA5}">
                      <a16:colId xmlns:a16="http://schemas.microsoft.com/office/drawing/2014/main" val="20005"/>
                    </a:ext>
                  </a:extLst>
                </a:gridCol>
              </a:tblGrid>
              <a:tr h="438912">
                <a:tc>
                  <a:txBody>
                    <a:bodyPr/>
                    <a:lstStyle/>
                    <a:p>
                      <a:pPr algn="l"/>
                      <a:r>
                        <a:rPr sz="1500" b="1">
                          <a:solidFill>
                            <a:srgbClr val="FFFFFF"/>
                          </a:solidFill>
                          <a:latin typeface="Arial"/>
                        </a:rPr>
                        <a:t>Source</a:t>
                      </a:r>
                    </a:p>
                  </a:txBody>
                  <a:tcPr marL="73152" marR="73152" marT="27432" marB="27432" anchor="ctr">
                    <a:solidFill>
                      <a:srgbClr val="14213D"/>
                    </a:solidFill>
                  </a:tcPr>
                </a:tc>
                <a:tc>
                  <a:txBody>
                    <a:bodyPr/>
                    <a:lstStyle/>
                    <a:p>
                      <a:pPr algn="l"/>
                      <a:r>
                        <a:rPr sz="1500" b="1">
                          <a:solidFill>
                            <a:srgbClr val="FFFFFF"/>
                          </a:solidFill>
                          <a:latin typeface="Arial"/>
                        </a:rPr>
                        <a:t>Channel</a:t>
                      </a:r>
                    </a:p>
                  </a:txBody>
                  <a:tcPr marL="73152" marR="73152" marT="27432" marB="27432" anchor="ctr">
                    <a:solidFill>
                      <a:srgbClr val="14213D"/>
                    </a:solidFill>
                  </a:tcPr>
                </a:tc>
                <a:tc>
                  <a:txBody>
                    <a:bodyPr/>
                    <a:lstStyle/>
                    <a:p>
                      <a:pPr algn="r"/>
                      <a:r>
                        <a:rPr sz="1500" b="1">
                          <a:solidFill>
                            <a:srgbClr val="FFFFFF"/>
                          </a:solidFill>
                          <a:latin typeface="Arial"/>
                        </a:rPr>
                        <a:t>Unique leads</a:t>
                      </a:r>
                    </a:p>
                  </a:txBody>
                  <a:tcPr marL="73152" marR="73152" marT="27432" marB="27432" anchor="ctr">
                    <a:solidFill>
                      <a:srgbClr val="14213D"/>
                    </a:solidFill>
                  </a:tcPr>
                </a:tc>
                <a:tc>
                  <a:txBody>
                    <a:bodyPr/>
                    <a:lstStyle/>
                    <a:p>
                      <a:pPr algn="r"/>
                      <a:r>
                        <a:rPr sz="1500" b="1">
                          <a:solidFill>
                            <a:srgbClr val="FFFFFF"/>
                          </a:solidFill>
                          <a:latin typeface="Arial"/>
                        </a:rPr>
                        <a:t>Booked jobs</a:t>
                      </a:r>
                    </a:p>
                  </a:txBody>
                  <a:tcPr marL="73152" marR="73152" marT="27432" marB="27432" anchor="ctr">
                    <a:solidFill>
                      <a:srgbClr val="14213D"/>
                    </a:solidFill>
                  </a:tcPr>
                </a:tc>
                <a:tc>
                  <a:txBody>
                    <a:bodyPr/>
                    <a:lstStyle/>
                    <a:p>
                      <a:pPr algn="r"/>
                      <a:r>
                        <a:rPr sz="1500" b="1">
                          <a:solidFill>
                            <a:srgbClr val="FFFFFF"/>
                          </a:solidFill>
                          <a:latin typeface="Arial"/>
                        </a:rPr>
                        <a:t>Book rate</a:t>
                      </a:r>
                    </a:p>
                  </a:txBody>
                  <a:tcPr marL="73152" marR="73152" marT="27432" marB="27432" anchor="ctr">
                    <a:solidFill>
                      <a:srgbClr val="14213D"/>
                    </a:solidFill>
                  </a:tcPr>
                </a:tc>
                <a:tc>
                  <a:txBody>
                    <a:bodyPr/>
                    <a:lstStyle/>
                    <a:p>
                      <a:pPr algn="r"/>
                      <a:r>
                        <a:rPr sz="1500" b="1">
                          <a:solidFill>
                            <a:srgbClr val="FFFFFF"/>
                          </a:solidFill>
                          <a:latin typeface="Arial"/>
                        </a:rPr>
                        <a:t>Closed rev.</a:t>
                      </a:r>
                    </a:p>
                  </a:txBody>
                  <a:tcPr marL="73152" marR="73152" marT="27432" marB="27432" anchor="ctr">
                    <a:solidFill>
                      <a:srgbClr val="14213D"/>
                    </a:solidFill>
                  </a:tcPr>
                </a:tc>
                <a:extLst>
                  <a:ext uri="{0D108BD9-81ED-4DB2-BD59-A6C34878D82A}">
                    <a16:rowId xmlns:a16="http://schemas.microsoft.com/office/drawing/2014/main" val="10000"/>
                  </a:ext>
                </a:extLst>
              </a:tr>
              <a:tr h="438912">
                <a:tc>
                  <a:txBody>
                    <a:bodyPr/>
                    <a:lstStyle/>
                    <a:p>
                      <a:pPr algn="l"/>
                      <a:r>
                        <a:rPr sz="1500" b="0">
                          <a:solidFill>
                            <a:srgbClr val="14213D"/>
                          </a:solidFill>
                          <a:latin typeface="Arial"/>
                        </a:rPr>
                        <a:t>Charleston GBP | Search</a:t>
                      </a:r>
                    </a:p>
                  </a:txBody>
                  <a:tcPr marL="73152" marR="73152" marT="27432" marB="27432" anchor="ctr">
                    <a:solidFill>
                      <a:srgbClr val="FFFFFF"/>
                    </a:solidFill>
                  </a:tcPr>
                </a:tc>
                <a:tc>
                  <a:txBody>
                    <a:bodyPr/>
                    <a:lstStyle/>
                    <a:p>
                      <a:pPr algn="l"/>
                      <a:r>
                        <a:rPr sz="1500" b="0">
                          <a:solidFill>
                            <a:srgbClr val="14213D"/>
                          </a:solidFill>
                          <a:latin typeface="Arial"/>
                        </a:rPr>
                        <a:t>Organic</a:t>
                      </a:r>
                    </a:p>
                  </a:txBody>
                  <a:tcPr marL="73152" marR="73152" marT="27432" marB="27432" anchor="ctr">
                    <a:solidFill>
                      <a:srgbClr val="FFFFFF"/>
                    </a:solidFill>
                  </a:tcPr>
                </a:tc>
                <a:tc>
                  <a:txBody>
                    <a:bodyPr/>
                    <a:lstStyle/>
                    <a:p>
                      <a:pPr algn="r"/>
                      <a:r>
                        <a:rPr sz="1500" b="0">
                          <a:solidFill>
                            <a:srgbClr val="14213D"/>
                          </a:solidFill>
                          <a:latin typeface="Arial"/>
                        </a:rPr>
                        <a:t>636</a:t>
                      </a:r>
                    </a:p>
                  </a:txBody>
                  <a:tcPr marL="73152" marR="73152" marT="27432" marB="27432" anchor="ctr">
                    <a:solidFill>
                      <a:srgbClr val="FFFFFF"/>
                    </a:solidFill>
                  </a:tcPr>
                </a:tc>
                <a:tc>
                  <a:txBody>
                    <a:bodyPr/>
                    <a:lstStyle/>
                    <a:p>
                      <a:pPr algn="r"/>
                      <a:r>
                        <a:rPr sz="1500" b="0">
                          <a:solidFill>
                            <a:srgbClr val="14213D"/>
                          </a:solidFill>
                          <a:latin typeface="Arial"/>
                        </a:rPr>
                        <a:t>47</a:t>
                      </a:r>
                    </a:p>
                  </a:txBody>
                  <a:tcPr marL="73152" marR="73152" marT="27432" marB="27432" anchor="ctr">
                    <a:solidFill>
                      <a:srgbClr val="FFFFFF"/>
                    </a:solidFill>
                  </a:tcPr>
                </a:tc>
                <a:tc>
                  <a:txBody>
                    <a:bodyPr/>
                    <a:lstStyle/>
                    <a:p>
                      <a:pPr algn="r"/>
                      <a:r>
                        <a:rPr sz="1500" b="0">
                          <a:solidFill>
                            <a:srgbClr val="14213D"/>
                          </a:solidFill>
                          <a:latin typeface="Arial"/>
                        </a:rPr>
                        <a:t>7%</a:t>
                      </a:r>
                    </a:p>
                  </a:txBody>
                  <a:tcPr marL="73152" marR="73152" marT="27432" marB="27432" anchor="ctr">
                    <a:solidFill>
                      <a:srgbClr val="FFFFFF"/>
                    </a:solidFill>
                  </a:tcPr>
                </a:tc>
                <a:tc>
                  <a:txBody>
                    <a:bodyPr/>
                    <a:lstStyle/>
                    <a:p>
                      <a:pPr algn="r"/>
                      <a:r>
                        <a:rPr sz="1500" b="0">
                          <a:solidFill>
                            <a:srgbClr val="14213D"/>
                          </a:solidFill>
                          <a:latin typeface="Arial"/>
                        </a:rPr>
                        <a:t>$213,907</a:t>
                      </a:r>
                    </a:p>
                  </a:txBody>
                  <a:tcPr marL="73152" marR="73152" marT="27432" marB="27432" anchor="ctr">
                    <a:solidFill>
                      <a:srgbClr val="FFFFFF"/>
                    </a:solidFill>
                  </a:tcPr>
                </a:tc>
                <a:extLst>
                  <a:ext uri="{0D108BD9-81ED-4DB2-BD59-A6C34878D82A}">
                    <a16:rowId xmlns:a16="http://schemas.microsoft.com/office/drawing/2014/main" val="10001"/>
                  </a:ext>
                </a:extLst>
              </a:tr>
              <a:tr h="438912">
                <a:tc>
                  <a:txBody>
                    <a:bodyPr/>
                    <a:lstStyle/>
                    <a:p>
                      <a:pPr algn="l"/>
                      <a:r>
                        <a:rPr sz="1500" b="0">
                          <a:solidFill>
                            <a:srgbClr val="14213D"/>
                          </a:solidFill>
                          <a:latin typeface="Arial"/>
                        </a:rPr>
                        <a:t>Website</a:t>
                      </a:r>
                    </a:p>
                  </a:txBody>
                  <a:tcPr marL="73152" marR="73152" marT="27432" marB="27432" anchor="ctr">
                    <a:solidFill>
                      <a:srgbClr val="F7F6F2"/>
                    </a:solidFill>
                  </a:tcPr>
                </a:tc>
                <a:tc>
                  <a:txBody>
                    <a:bodyPr/>
                    <a:lstStyle/>
                    <a:p>
                      <a:pPr algn="l"/>
                      <a:r>
                        <a:rPr sz="1500" b="0">
                          <a:solidFill>
                            <a:srgbClr val="14213D"/>
                          </a:solidFill>
                          <a:latin typeface="Arial"/>
                        </a:rPr>
                        <a:t>Other</a:t>
                      </a:r>
                    </a:p>
                  </a:txBody>
                  <a:tcPr marL="73152" marR="73152" marT="27432" marB="27432" anchor="ctr">
                    <a:solidFill>
                      <a:srgbClr val="F7F6F2"/>
                    </a:solidFill>
                  </a:tcPr>
                </a:tc>
                <a:tc>
                  <a:txBody>
                    <a:bodyPr/>
                    <a:lstStyle/>
                    <a:p>
                      <a:pPr algn="r"/>
                      <a:r>
                        <a:rPr sz="1500" b="0">
                          <a:solidFill>
                            <a:srgbClr val="14213D"/>
                          </a:solidFill>
                          <a:latin typeface="Arial"/>
                        </a:rPr>
                        <a:t>158</a:t>
                      </a:r>
                    </a:p>
                  </a:txBody>
                  <a:tcPr marL="73152" marR="73152" marT="27432" marB="27432" anchor="ctr">
                    <a:solidFill>
                      <a:srgbClr val="F7F6F2"/>
                    </a:solidFill>
                  </a:tcPr>
                </a:tc>
                <a:tc>
                  <a:txBody>
                    <a:bodyPr/>
                    <a:lstStyle/>
                    <a:p>
                      <a:pPr algn="r"/>
                      <a:r>
                        <a:rPr sz="1500" b="0">
                          <a:solidFill>
                            <a:srgbClr val="14213D"/>
                          </a:solidFill>
                          <a:latin typeface="Arial"/>
                        </a:rPr>
                        <a:t>44</a:t>
                      </a:r>
                    </a:p>
                  </a:txBody>
                  <a:tcPr marL="73152" marR="73152" marT="27432" marB="27432" anchor="ctr">
                    <a:solidFill>
                      <a:srgbClr val="F7F6F2"/>
                    </a:solidFill>
                  </a:tcPr>
                </a:tc>
                <a:tc>
                  <a:txBody>
                    <a:bodyPr/>
                    <a:lstStyle/>
                    <a:p>
                      <a:pPr algn="r"/>
                      <a:r>
                        <a:rPr sz="1500" b="0">
                          <a:solidFill>
                            <a:srgbClr val="14213D"/>
                          </a:solidFill>
                          <a:latin typeface="Arial"/>
                        </a:rPr>
                        <a:t>28%</a:t>
                      </a:r>
                    </a:p>
                  </a:txBody>
                  <a:tcPr marL="73152" marR="73152" marT="27432" marB="27432" anchor="ctr">
                    <a:solidFill>
                      <a:srgbClr val="F7F6F2"/>
                    </a:solidFill>
                  </a:tcPr>
                </a:tc>
                <a:tc>
                  <a:txBody>
                    <a:bodyPr/>
                    <a:lstStyle/>
                    <a:p>
                      <a:pPr algn="r"/>
                      <a:r>
                        <a:rPr sz="1500" b="0">
                          <a:solidFill>
                            <a:srgbClr val="14213D"/>
                          </a:solidFill>
                          <a:latin typeface="Arial"/>
                        </a:rPr>
                        <a:t>$90,250</a:t>
                      </a:r>
                    </a:p>
                  </a:txBody>
                  <a:tcPr marL="73152" marR="73152" marT="27432" marB="27432" anchor="ctr">
                    <a:solidFill>
                      <a:srgbClr val="F7F6F2"/>
                    </a:solidFill>
                  </a:tcPr>
                </a:tc>
                <a:extLst>
                  <a:ext uri="{0D108BD9-81ED-4DB2-BD59-A6C34878D82A}">
                    <a16:rowId xmlns:a16="http://schemas.microsoft.com/office/drawing/2014/main" val="10002"/>
                  </a:ext>
                </a:extLst>
              </a:tr>
              <a:tr h="438912">
                <a:tc>
                  <a:txBody>
                    <a:bodyPr/>
                    <a:lstStyle/>
                    <a:p>
                      <a:pPr algn="l"/>
                      <a:r>
                        <a:rPr sz="1500" b="0">
                          <a:solidFill>
                            <a:srgbClr val="14213D"/>
                          </a:solidFill>
                          <a:latin typeface="Arial"/>
                        </a:rPr>
                        <a:t>(no campaign)</a:t>
                      </a:r>
                    </a:p>
                  </a:txBody>
                  <a:tcPr marL="73152" marR="73152" marT="27432" marB="27432" anchor="ctr">
                    <a:solidFill>
                      <a:srgbClr val="FFFFFF"/>
                    </a:solidFill>
                  </a:tcPr>
                </a:tc>
                <a:tc>
                  <a:txBody>
                    <a:bodyPr/>
                    <a:lstStyle/>
                    <a:p>
                      <a:pPr algn="l"/>
                      <a:r>
                        <a:rPr sz="1500" b="0">
                          <a:solidFill>
                            <a:srgbClr val="14213D"/>
                          </a:solidFill>
                          <a:latin typeface="Arial"/>
                        </a:rPr>
                        <a:t>Organic</a:t>
                      </a:r>
                    </a:p>
                  </a:txBody>
                  <a:tcPr marL="73152" marR="73152" marT="27432" marB="27432" anchor="ctr">
                    <a:solidFill>
                      <a:srgbClr val="FFFFFF"/>
                    </a:solidFill>
                  </a:tcPr>
                </a:tc>
                <a:tc>
                  <a:txBody>
                    <a:bodyPr/>
                    <a:lstStyle/>
                    <a:p>
                      <a:pPr algn="r"/>
                      <a:r>
                        <a:rPr sz="1500" b="0">
                          <a:solidFill>
                            <a:srgbClr val="14213D"/>
                          </a:solidFill>
                          <a:latin typeface="Arial"/>
                        </a:rPr>
                        <a:t>54</a:t>
                      </a:r>
                    </a:p>
                  </a:txBody>
                  <a:tcPr marL="73152" marR="73152" marT="27432" marB="27432" anchor="ctr">
                    <a:solidFill>
                      <a:srgbClr val="FFFFFF"/>
                    </a:solidFill>
                  </a:tcPr>
                </a:tc>
                <a:tc>
                  <a:txBody>
                    <a:bodyPr/>
                    <a:lstStyle/>
                    <a:p>
                      <a:pPr algn="r"/>
                      <a:r>
                        <a:rPr sz="1500" b="0">
                          <a:solidFill>
                            <a:srgbClr val="14213D"/>
                          </a:solidFill>
                          <a:latin typeface="Arial"/>
                        </a:rPr>
                        <a:t>21</a:t>
                      </a:r>
                    </a:p>
                  </a:txBody>
                  <a:tcPr marL="73152" marR="73152" marT="27432" marB="27432" anchor="ctr">
                    <a:solidFill>
                      <a:srgbClr val="FFFFFF"/>
                    </a:solidFill>
                  </a:tcPr>
                </a:tc>
                <a:tc>
                  <a:txBody>
                    <a:bodyPr/>
                    <a:lstStyle/>
                    <a:p>
                      <a:pPr algn="r"/>
                      <a:r>
                        <a:rPr sz="1500" b="0">
                          <a:solidFill>
                            <a:srgbClr val="14213D"/>
                          </a:solidFill>
                          <a:latin typeface="Arial"/>
                        </a:rPr>
                        <a:t>39%</a:t>
                      </a:r>
                    </a:p>
                  </a:txBody>
                  <a:tcPr marL="73152" marR="73152" marT="27432" marB="27432" anchor="ctr">
                    <a:solidFill>
                      <a:srgbClr val="FFFFFF"/>
                    </a:solidFill>
                  </a:tcPr>
                </a:tc>
                <a:tc>
                  <a:txBody>
                    <a:bodyPr/>
                    <a:lstStyle/>
                    <a:p>
                      <a:pPr algn="r"/>
                      <a:r>
                        <a:rPr sz="1500" b="0">
                          <a:solidFill>
                            <a:srgbClr val="14213D"/>
                          </a:solidFill>
                          <a:latin typeface="Arial"/>
                        </a:rPr>
                        <a:t>$54,291</a:t>
                      </a:r>
                    </a:p>
                  </a:txBody>
                  <a:tcPr marL="73152" marR="73152" marT="27432" marB="27432" anchor="ctr">
                    <a:solidFill>
                      <a:srgbClr val="FFFFFF"/>
                    </a:solidFill>
                  </a:tcPr>
                </a:tc>
                <a:extLst>
                  <a:ext uri="{0D108BD9-81ED-4DB2-BD59-A6C34878D82A}">
                    <a16:rowId xmlns:a16="http://schemas.microsoft.com/office/drawing/2014/main" val="10003"/>
                  </a:ext>
                </a:extLst>
              </a:tr>
              <a:tr h="438912">
                <a:tc>
                  <a:txBody>
                    <a:bodyPr/>
                    <a:lstStyle/>
                    <a:p>
                      <a:pPr algn="l"/>
                      <a:r>
                        <a:rPr sz="1500" b="0">
                          <a:solidFill>
                            <a:srgbClr val="14213D"/>
                          </a:solidFill>
                          <a:latin typeface="Arial"/>
                        </a:rPr>
                        <a:t>Google Organic</a:t>
                      </a:r>
                    </a:p>
                  </a:txBody>
                  <a:tcPr marL="73152" marR="73152" marT="27432" marB="27432" anchor="ctr">
                    <a:solidFill>
                      <a:srgbClr val="F7F6F2"/>
                    </a:solidFill>
                  </a:tcPr>
                </a:tc>
                <a:tc>
                  <a:txBody>
                    <a:bodyPr/>
                    <a:lstStyle/>
                    <a:p>
                      <a:pPr algn="l"/>
                      <a:r>
                        <a:rPr sz="1500" b="0">
                          <a:solidFill>
                            <a:srgbClr val="14213D"/>
                          </a:solidFill>
                          <a:latin typeface="Arial"/>
                        </a:rPr>
                        <a:t>Organic</a:t>
                      </a:r>
                    </a:p>
                  </a:txBody>
                  <a:tcPr marL="73152" marR="73152" marT="27432" marB="27432" anchor="ctr">
                    <a:solidFill>
                      <a:srgbClr val="F7F6F2"/>
                    </a:solidFill>
                  </a:tcPr>
                </a:tc>
                <a:tc>
                  <a:txBody>
                    <a:bodyPr/>
                    <a:lstStyle/>
                    <a:p>
                      <a:pPr algn="r"/>
                      <a:r>
                        <a:rPr sz="1500" b="0">
                          <a:solidFill>
                            <a:srgbClr val="14213D"/>
                          </a:solidFill>
                          <a:latin typeface="Arial"/>
                        </a:rPr>
                        <a:t>100</a:t>
                      </a:r>
                    </a:p>
                  </a:txBody>
                  <a:tcPr marL="73152" marR="73152" marT="27432" marB="27432" anchor="ctr">
                    <a:solidFill>
                      <a:srgbClr val="F7F6F2"/>
                    </a:solidFill>
                  </a:tcPr>
                </a:tc>
                <a:tc>
                  <a:txBody>
                    <a:bodyPr/>
                    <a:lstStyle/>
                    <a:p>
                      <a:pPr algn="r"/>
                      <a:r>
                        <a:rPr sz="1500" b="0">
                          <a:solidFill>
                            <a:srgbClr val="14213D"/>
                          </a:solidFill>
                          <a:latin typeface="Arial"/>
                        </a:rPr>
                        <a:t>31</a:t>
                      </a:r>
                    </a:p>
                  </a:txBody>
                  <a:tcPr marL="73152" marR="73152" marT="27432" marB="27432" anchor="ctr">
                    <a:solidFill>
                      <a:srgbClr val="F7F6F2"/>
                    </a:solidFill>
                  </a:tcPr>
                </a:tc>
                <a:tc>
                  <a:txBody>
                    <a:bodyPr/>
                    <a:lstStyle/>
                    <a:p>
                      <a:pPr algn="r"/>
                      <a:r>
                        <a:rPr sz="1500" b="0">
                          <a:solidFill>
                            <a:srgbClr val="14213D"/>
                          </a:solidFill>
                          <a:latin typeface="Arial"/>
                        </a:rPr>
                        <a:t>31%</a:t>
                      </a:r>
                    </a:p>
                  </a:txBody>
                  <a:tcPr marL="73152" marR="73152" marT="27432" marB="27432" anchor="ctr">
                    <a:solidFill>
                      <a:srgbClr val="F7F6F2"/>
                    </a:solidFill>
                  </a:tcPr>
                </a:tc>
                <a:tc>
                  <a:txBody>
                    <a:bodyPr/>
                    <a:lstStyle/>
                    <a:p>
                      <a:pPr algn="r"/>
                      <a:r>
                        <a:rPr sz="1500" b="0">
                          <a:solidFill>
                            <a:srgbClr val="14213D"/>
                          </a:solidFill>
                          <a:latin typeface="Arial"/>
                        </a:rPr>
                        <a:t>$50,471</a:t>
                      </a:r>
                    </a:p>
                  </a:txBody>
                  <a:tcPr marL="73152" marR="73152" marT="27432" marB="27432" anchor="ctr">
                    <a:solidFill>
                      <a:srgbClr val="F7F6F2"/>
                    </a:solidFill>
                  </a:tcPr>
                </a:tc>
                <a:extLst>
                  <a:ext uri="{0D108BD9-81ED-4DB2-BD59-A6C34878D82A}">
                    <a16:rowId xmlns:a16="http://schemas.microsoft.com/office/drawing/2014/main" val="10004"/>
                  </a:ext>
                </a:extLst>
              </a:tr>
              <a:tr h="438912">
                <a:tc>
                  <a:txBody>
                    <a:bodyPr/>
                    <a:lstStyle/>
                    <a:p>
                      <a:pPr algn="l"/>
                      <a:r>
                        <a:rPr sz="1500" b="0">
                          <a:solidFill>
                            <a:srgbClr val="14213D"/>
                          </a:solidFill>
                          <a:latin typeface="Arial"/>
                        </a:rPr>
                        <a:t>Myrtle Beach GBP | Search</a:t>
                      </a:r>
                    </a:p>
                  </a:txBody>
                  <a:tcPr marL="73152" marR="73152" marT="27432" marB="27432" anchor="ctr">
                    <a:solidFill>
                      <a:srgbClr val="FFFFFF"/>
                    </a:solidFill>
                  </a:tcPr>
                </a:tc>
                <a:tc>
                  <a:txBody>
                    <a:bodyPr/>
                    <a:lstStyle/>
                    <a:p>
                      <a:pPr algn="l"/>
                      <a:r>
                        <a:rPr sz="1500" b="0">
                          <a:solidFill>
                            <a:srgbClr val="14213D"/>
                          </a:solidFill>
                          <a:latin typeface="Arial"/>
                        </a:rPr>
                        <a:t>Organic</a:t>
                      </a:r>
                    </a:p>
                  </a:txBody>
                  <a:tcPr marL="73152" marR="73152" marT="27432" marB="27432" anchor="ctr">
                    <a:solidFill>
                      <a:srgbClr val="FFFFFF"/>
                    </a:solidFill>
                  </a:tcPr>
                </a:tc>
                <a:tc>
                  <a:txBody>
                    <a:bodyPr/>
                    <a:lstStyle/>
                    <a:p>
                      <a:pPr algn="r"/>
                      <a:r>
                        <a:rPr sz="1500" b="0">
                          <a:solidFill>
                            <a:srgbClr val="14213D"/>
                          </a:solidFill>
                          <a:latin typeface="Arial"/>
                        </a:rPr>
                        <a:t>245</a:t>
                      </a:r>
                    </a:p>
                  </a:txBody>
                  <a:tcPr marL="73152" marR="73152" marT="27432" marB="27432" anchor="ctr">
                    <a:solidFill>
                      <a:srgbClr val="FFFFFF"/>
                    </a:solidFill>
                  </a:tcPr>
                </a:tc>
                <a:tc>
                  <a:txBody>
                    <a:bodyPr/>
                    <a:lstStyle/>
                    <a:p>
                      <a:pPr algn="r"/>
                      <a:r>
                        <a:rPr sz="1500" b="0">
                          <a:solidFill>
                            <a:srgbClr val="14213D"/>
                          </a:solidFill>
                          <a:latin typeface="Arial"/>
                        </a:rPr>
                        <a:t>31</a:t>
                      </a:r>
                    </a:p>
                  </a:txBody>
                  <a:tcPr marL="73152" marR="73152" marT="27432" marB="27432" anchor="ctr">
                    <a:solidFill>
                      <a:srgbClr val="FFFFFF"/>
                    </a:solidFill>
                  </a:tcPr>
                </a:tc>
                <a:tc>
                  <a:txBody>
                    <a:bodyPr/>
                    <a:lstStyle/>
                    <a:p>
                      <a:pPr algn="r"/>
                      <a:r>
                        <a:rPr sz="1500" b="0">
                          <a:solidFill>
                            <a:srgbClr val="14213D"/>
                          </a:solidFill>
                          <a:latin typeface="Arial"/>
                        </a:rPr>
                        <a:t>13%</a:t>
                      </a:r>
                    </a:p>
                  </a:txBody>
                  <a:tcPr marL="73152" marR="73152" marT="27432" marB="27432" anchor="ctr">
                    <a:solidFill>
                      <a:srgbClr val="FFFFFF"/>
                    </a:solidFill>
                  </a:tcPr>
                </a:tc>
                <a:tc>
                  <a:txBody>
                    <a:bodyPr/>
                    <a:lstStyle/>
                    <a:p>
                      <a:pPr algn="r"/>
                      <a:r>
                        <a:rPr sz="1500" b="0">
                          <a:solidFill>
                            <a:srgbClr val="14213D"/>
                          </a:solidFill>
                          <a:latin typeface="Arial"/>
                        </a:rPr>
                        <a:t>$25,849</a:t>
                      </a:r>
                    </a:p>
                  </a:txBody>
                  <a:tcPr marL="73152" marR="73152" marT="27432" marB="27432" anchor="ctr">
                    <a:solidFill>
                      <a:srgbClr val="FFFFFF"/>
                    </a:solidFill>
                  </a:tcPr>
                </a:tc>
                <a:extLst>
                  <a:ext uri="{0D108BD9-81ED-4DB2-BD59-A6C34878D82A}">
                    <a16:rowId xmlns:a16="http://schemas.microsoft.com/office/drawing/2014/main" val="10005"/>
                  </a:ext>
                </a:extLst>
              </a:tr>
              <a:tr h="438912">
                <a:tc>
                  <a:txBody>
                    <a:bodyPr/>
                    <a:lstStyle/>
                    <a:p>
                      <a:pPr algn="l"/>
                      <a:r>
                        <a:rPr sz="1500" b="0">
                          <a:solidFill>
                            <a:srgbClr val="14213D"/>
                          </a:solidFill>
                          <a:latin typeface="Arial"/>
                        </a:rPr>
                        <a:t>Uncategorized</a:t>
                      </a:r>
                    </a:p>
                  </a:txBody>
                  <a:tcPr marL="73152" marR="73152" marT="27432" marB="27432" anchor="ctr">
                    <a:solidFill>
                      <a:srgbClr val="F7F6F2"/>
                    </a:solidFill>
                  </a:tcPr>
                </a:tc>
                <a:tc>
                  <a:txBody>
                    <a:bodyPr/>
                    <a:lstStyle/>
                    <a:p>
                      <a:pPr algn="l"/>
                      <a:r>
                        <a:rPr sz="1500" b="0">
                          <a:solidFill>
                            <a:srgbClr val="14213D"/>
                          </a:solidFill>
                          <a:latin typeface="Arial"/>
                        </a:rPr>
                        <a:t>Other</a:t>
                      </a:r>
                    </a:p>
                  </a:txBody>
                  <a:tcPr marL="73152" marR="73152" marT="27432" marB="27432" anchor="ctr">
                    <a:solidFill>
                      <a:srgbClr val="F7F6F2"/>
                    </a:solidFill>
                  </a:tcPr>
                </a:tc>
                <a:tc>
                  <a:txBody>
                    <a:bodyPr/>
                    <a:lstStyle/>
                    <a:p>
                      <a:pPr algn="r"/>
                      <a:r>
                        <a:rPr sz="1500" b="0">
                          <a:solidFill>
                            <a:srgbClr val="14213D"/>
                          </a:solidFill>
                          <a:latin typeface="Arial"/>
                        </a:rPr>
                        <a:t>105</a:t>
                      </a:r>
                    </a:p>
                  </a:txBody>
                  <a:tcPr marL="73152" marR="73152" marT="27432" marB="27432" anchor="ctr">
                    <a:solidFill>
                      <a:srgbClr val="F7F6F2"/>
                    </a:solidFill>
                  </a:tcPr>
                </a:tc>
                <a:tc>
                  <a:txBody>
                    <a:bodyPr/>
                    <a:lstStyle/>
                    <a:p>
                      <a:pPr algn="r"/>
                      <a:r>
                        <a:rPr sz="1500" b="0">
                          <a:solidFill>
                            <a:srgbClr val="14213D"/>
                          </a:solidFill>
                          <a:latin typeface="Arial"/>
                        </a:rPr>
                        <a:t>1</a:t>
                      </a:r>
                    </a:p>
                  </a:txBody>
                  <a:tcPr marL="73152" marR="73152" marT="27432" marB="27432" anchor="ctr">
                    <a:solidFill>
                      <a:srgbClr val="F7F6F2"/>
                    </a:solidFill>
                  </a:tcPr>
                </a:tc>
                <a:tc>
                  <a:txBody>
                    <a:bodyPr/>
                    <a:lstStyle/>
                    <a:p>
                      <a:pPr algn="r"/>
                      <a:r>
                        <a:rPr sz="1500" b="0">
                          <a:solidFill>
                            <a:srgbClr val="14213D"/>
                          </a:solidFill>
                          <a:latin typeface="Arial"/>
                        </a:rPr>
                        <a:t>1%</a:t>
                      </a:r>
                    </a:p>
                  </a:txBody>
                  <a:tcPr marL="73152" marR="73152" marT="27432" marB="27432" anchor="ctr">
                    <a:solidFill>
                      <a:srgbClr val="F7F6F2"/>
                    </a:solidFill>
                  </a:tcPr>
                </a:tc>
                <a:tc>
                  <a:txBody>
                    <a:bodyPr/>
                    <a:lstStyle/>
                    <a:p>
                      <a:pPr algn="r"/>
                      <a:r>
                        <a:rPr sz="1500" b="0">
                          <a:solidFill>
                            <a:srgbClr val="14213D"/>
                          </a:solidFill>
                          <a:latin typeface="Arial"/>
                        </a:rPr>
                        <a:t>$18,031</a:t>
                      </a:r>
                    </a:p>
                  </a:txBody>
                  <a:tcPr marL="73152" marR="73152" marT="27432" marB="27432" anchor="ctr">
                    <a:solidFill>
                      <a:srgbClr val="F7F6F2"/>
                    </a:solidFill>
                  </a:tcPr>
                </a:tc>
                <a:extLst>
                  <a:ext uri="{0D108BD9-81ED-4DB2-BD59-A6C34878D82A}">
                    <a16:rowId xmlns:a16="http://schemas.microsoft.com/office/drawing/2014/main" val="10006"/>
                  </a:ext>
                </a:extLst>
              </a:tr>
              <a:tr h="438912">
                <a:tc>
                  <a:txBody>
                    <a:bodyPr/>
                    <a:lstStyle/>
                    <a:p>
                      <a:pPr algn="l"/>
                      <a:r>
                        <a:rPr sz="1500" b="0">
                          <a:solidFill>
                            <a:srgbClr val="14213D"/>
                          </a:solidFill>
                          <a:latin typeface="Arial"/>
                        </a:rPr>
                        <a:t>Direct Web Traffic</a:t>
                      </a:r>
                    </a:p>
                  </a:txBody>
                  <a:tcPr marL="73152" marR="73152" marT="27432" marB="27432" anchor="ctr">
                    <a:solidFill>
                      <a:srgbClr val="FFFFFF"/>
                    </a:solidFill>
                  </a:tcPr>
                </a:tc>
                <a:tc>
                  <a:txBody>
                    <a:bodyPr/>
                    <a:lstStyle/>
                    <a:p>
                      <a:pPr algn="l"/>
                      <a:r>
                        <a:rPr sz="1500" b="0">
                          <a:solidFill>
                            <a:srgbClr val="14213D"/>
                          </a:solidFill>
                          <a:latin typeface="Arial"/>
                        </a:rPr>
                        <a:t>Direct</a:t>
                      </a:r>
                    </a:p>
                  </a:txBody>
                  <a:tcPr marL="73152" marR="73152" marT="27432" marB="27432" anchor="ctr">
                    <a:solidFill>
                      <a:srgbClr val="FFFFFF"/>
                    </a:solidFill>
                  </a:tcPr>
                </a:tc>
                <a:tc>
                  <a:txBody>
                    <a:bodyPr/>
                    <a:lstStyle/>
                    <a:p>
                      <a:pPr algn="r"/>
                      <a:r>
                        <a:rPr sz="1500" b="0">
                          <a:solidFill>
                            <a:srgbClr val="14213D"/>
                          </a:solidFill>
                          <a:latin typeface="Arial"/>
                        </a:rPr>
                        <a:t>111</a:t>
                      </a:r>
                    </a:p>
                  </a:txBody>
                  <a:tcPr marL="73152" marR="73152" marT="27432" marB="27432" anchor="ctr">
                    <a:solidFill>
                      <a:srgbClr val="FFFFFF"/>
                    </a:solidFill>
                  </a:tcPr>
                </a:tc>
                <a:tc>
                  <a:txBody>
                    <a:bodyPr/>
                    <a:lstStyle/>
                    <a:p>
                      <a:pPr algn="r"/>
                      <a:r>
                        <a:rPr sz="1500" b="0">
                          <a:solidFill>
                            <a:srgbClr val="14213D"/>
                          </a:solidFill>
                          <a:latin typeface="Arial"/>
                        </a:rPr>
                        <a:t>14</a:t>
                      </a:r>
                    </a:p>
                  </a:txBody>
                  <a:tcPr marL="73152" marR="73152" marT="27432" marB="27432" anchor="ctr">
                    <a:solidFill>
                      <a:srgbClr val="FFFFFF"/>
                    </a:solidFill>
                  </a:tcPr>
                </a:tc>
                <a:tc>
                  <a:txBody>
                    <a:bodyPr/>
                    <a:lstStyle/>
                    <a:p>
                      <a:pPr algn="r"/>
                      <a:r>
                        <a:rPr sz="1500" b="0">
                          <a:solidFill>
                            <a:srgbClr val="14213D"/>
                          </a:solidFill>
                          <a:latin typeface="Arial"/>
                        </a:rPr>
                        <a:t>13%</a:t>
                      </a:r>
                    </a:p>
                  </a:txBody>
                  <a:tcPr marL="73152" marR="73152" marT="27432" marB="27432" anchor="ctr">
                    <a:solidFill>
                      <a:srgbClr val="FFFFFF"/>
                    </a:solidFill>
                  </a:tcPr>
                </a:tc>
                <a:tc>
                  <a:txBody>
                    <a:bodyPr/>
                    <a:lstStyle/>
                    <a:p>
                      <a:pPr algn="r"/>
                      <a:r>
                        <a:rPr sz="1500" b="0">
                          <a:solidFill>
                            <a:srgbClr val="14213D"/>
                          </a:solidFill>
                          <a:latin typeface="Arial"/>
                        </a:rPr>
                        <a:t>$16,989</a:t>
                      </a:r>
                    </a:p>
                  </a:txBody>
                  <a:tcPr marL="73152" marR="73152" marT="27432" marB="27432" anchor="ctr">
                    <a:solidFill>
                      <a:srgbClr val="FFFFFF"/>
                    </a:solidFill>
                  </a:tcPr>
                </a:tc>
                <a:extLst>
                  <a:ext uri="{0D108BD9-81ED-4DB2-BD59-A6C34878D82A}">
                    <a16:rowId xmlns:a16="http://schemas.microsoft.com/office/drawing/2014/main" val="10007"/>
                  </a:ext>
                </a:extLst>
              </a:tr>
              <a:tr h="438912">
                <a:tc>
                  <a:txBody>
                    <a:bodyPr/>
                    <a:lstStyle/>
                    <a:p>
                      <a:pPr algn="l"/>
                      <a:r>
                        <a:rPr sz="1500" b="0">
                          <a:solidFill>
                            <a:srgbClr val="14213D"/>
                          </a:solidFill>
                          <a:latin typeface="Arial"/>
                        </a:rPr>
                        <a:t>PPC HVAC</a:t>
                      </a:r>
                    </a:p>
                  </a:txBody>
                  <a:tcPr marL="73152" marR="73152" marT="27432" marB="27432" anchor="ctr">
                    <a:solidFill>
                      <a:srgbClr val="F7F6F2"/>
                    </a:solidFill>
                  </a:tcPr>
                </a:tc>
                <a:tc>
                  <a:txBody>
                    <a:bodyPr/>
                    <a:lstStyle/>
                    <a:p>
                      <a:pPr algn="l"/>
                      <a:r>
                        <a:rPr sz="1500" b="0">
                          <a:solidFill>
                            <a:srgbClr val="14213D"/>
                          </a:solidFill>
                          <a:latin typeface="Arial"/>
                        </a:rPr>
                        <a:t>Advertising</a:t>
                      </a:r>
                    </a:p>
                  </a:txBody>
                  <a:tcPr marL="73152" marR="73152" marT="27432" marB="27432" anchor="ctr">
                    <a:solidFill>
                      <a:srgbClr val="F7F6F2"/>
                    </a:solidFill>
                  </a:tcPr>
                </a:tc>
                <a:tc>
                  <a:txBody>
                    <a:bodyPr/>
                    <a:lstStyle/>
                    <a:p>
                      <a:pPr algn="r"/>
                      <a:r>
                        <a:rPr sz="1500" b="0">
                          <a:solidFill>
                            <a:srgbClr val="14213D"/>
                          </a:solidFill>
                          <a:latin typeface="Arial"/>
                        </a:rPr>
                        <a:t>194</a:t>
                      </a:r>
                    </a:p>
                  </a:txBody>
                  <a:tcPr marL="73152" marR="73152" marT="27432" marB="27432" anchor="ctr">
                    <a:solidFill>
                      <a:srgbClr val="F7F6F2"/>
                    </a:solidFill>
                  </a:tcPr>
                </a:tc>
                <a:tc>
                  <a:txBody>
                    <a:bodyPr/>
                    <a:lstStyle/>
                    <a:p>
                      <a:pPr algn="r"/>
                      <a:r>
                        <a:rPr sz="1500" b="0">
                          <a:solidFill>
                            <a:srgbClr val="14213D"/>
                          </a:solidFill>
                          <a:latin typeface="Arial"/>
                        </a:rPr>
                        <a:t>12</a:t>
                      </a:r>
                    </a:p>
                  </a:txBody>
                  <a:tcPr marL="73152" marR="73152" marT="27432" marB="27432" anchor="ctr">
                    <a:solidFill>
                      <a:srgbClr val="F7F6F2"/>
                    </a:solidFill>
                  </a:tcPr>
                </a:tc>
                <a:tc>
                  <a:txBody>
                    <a:bodyPr/>
                    <a:lstStyle/>
                    <a:p>
                      <a:pPr algn="r"/>
                      <a:r>
                        <a:rPr sz="1500" b="0">
                          <a:solidFill>
                            <a:srgbClr val="14213D"/>
                          </a:solidFill>
                          <a:latin typeface="Arial"/>
                        </a:rPr>
                        <a:t>6%</a:t>
                      </a:r>
                    </a:p>
                  </a:txBody>
                  <a:tcPr marL="73152" marR="73152" marT="27432" marB="27432" anchor="ctr">
                    <a:solidFill>
                      <a:srgbClr val="F7F6F2"/>
                    </a:solidFill>
                  </a:tcPr>
                </a:tc>
                <a:tc>
                  <a:txBody>
                    <a:bodyPr/>
                    <a:lstStyle/>
                    <a:p>
                      <a:pPr algn="r"/>
                      <a:r>
                        <a:rPr sz="1500" b="0">
                          <a:solidFill>
                            <a:srgbClr val="14213D"/>
                          </a:solidFill>
                          <a:latin typeface="Arial"/>
                        </a:rPr>
                        <a:t>$16,930</a:t>
                      </a:r>
                    </a:p>
                  </a:txBody>
                  <a:tcPr marL="73152" marR="73152" marT="27432" marB="27432" anchor="ctr">
                    <a:solidFill>
                      <a:srgbClr val="F7F6F2"/>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itle"/>
          <p:cNvSpPr txBox="1"/>
          <p:nvPr/>
        </p:nvSpPr>
        <p:spPr>
          <a:xfrm>
            <a:off x="548640" y="411480"/>
            <a:ext cx="11094415" cy="822960"/>
          </a:xfrm>
          <a:prstGeom prst="rect">
            <a:avLst/>
          </a:prstGeom>
          <a:noFill/>
        </p:spPr>
        <p:txBody>
          <a:bodyPr wrap="square" lIns="0" tIns="0" rIns="0" bIns="0" anchor="t">
            <a:spAutoFit/>
          </a:bodyPr>
          <a:lstStyle/>
          <a:p>
            <a:pPr algn="l"/>
            <a:r>
              <a:rPr sz="2800" b="1">
                <a:solidFill>
                  <a:srgbClr val="14213D"/>
                </a:solidFill>
                <a:latin typeface="Arial"/>
              </a:rPr>
              <a:t>All campaigns ranked by closed revenue · 1–14</a:t>
            </a:r>
          </a:p>
        </p:txBody>
      </p:sp>
      <p:sp>
        <p:nvSpPr>
          <p:cNvPr id="3" name="Footer"/>
          <p:cNvSpPr txBox="1"/>
          <p:nvPr/>
        </p:nvSpPr>
        <p:spPr>
          <a:xfrm>
            <a:off x="548640" y="6355080"/>
            <a:ext cx="10180015" cy="274320"/>
          </a:xfrm>
          <a:prstGeom prst="rect">
            <a:avLst/>
          </a:prstGeom>
          <a:noFill/>
        </p:spPr>
        <p:txBody>
          <a:bodyPr wrap="square" lIns="0" tIns="0" rIns="0" bIns="0" anchor="t">
            <a:spAutoFit/>
          </a:bodyPr>
          <a:lstStyle/>
          <a:p>
            <a:pPr algn="l"/>
            <a:r>
              <a:rPr sz="1000" b="0">
                <a:solidFill>
                  <a:srgbClr val="5A6478"/>
                </a:solidFill>
                <a:latin typeface="Arial"/>
              </a:rPr>
              <a:t>Source: Searchlight performance-by export · Jan 1 – Oct 23, 2026 · 46 retention, follow-up and Mainline campaigns excluded</a:t>
            </a:r>
          </a:p>
        </p:txBody>
      </p:sp>
      <p:sp>
        <p:nvSpPr>
          <p:cNvPr id="4" name="Page number"/>
          <p:cNvSpPr txBox="1"/>
          <p:nvPr/>
        </p:nvSpPr>
        <p:spPr>
          <a:xfrm>
            <a:off x="11094415" y="6355080"/>
            <a:ext cx="548640" cy="274320"/>
          </a:xfrm>
          <a:prstGeom prst="rect">
            <a:avLst/>
          </a:prstGeom>
          <a:noFill/>
        </p:spPr>
        <p:txBody>
          <a:bodyPr wrap="square" lIns="0" tIns="0" rIns="0" bIns="0" anchor="t">
            <a:spAutoFit/>
          </a:bodyPr>
          <a:lstStyle/>
          <a:p>
            <a:pPr algn="r"/>
            <a:r>
              <a:rPr sz="1000" b="0">
                <a:solidFill>
                  <a:srgbClr val="5A6478"/>
                </a:solidFill>
                <a:latin typeface="Arial"/>
              </a:rPr>
              <a:t>16</a:t>
            </a:r>
          </a:p>
        </p:txBody>
      </p:sp>
      <p:graphicFrame>
        <p:nvGraphicFramePr>
          <p:cNvPr id="5" name="Ranking 1-14"/>
          <p:cNvGraphicFramePr>
            <a:graphicFrameLocks noGrp="1"/>
          </p:cNvGraphicFramePr>
          <p:nvPr/>
        </p:nvGraphicFramePr>
        <p:xfrm>
          <a:off x="548640" y="1234440"/>
          <a:ext cx="11094415" cy="4663440"/>
        </p:xfrm>
        <a:graphic>
          <a:graphicData uri="http://schemas.openxmlformats.org/drawingml/2006/table">
            <a:tbl>
              <a:tblPr firstRow="1">
                <a:tableStyleId>{5C22544A-7EE6-4342-B048-85BDC9FD1C3A}</a:tableStyleId>
              </a:tblPr>
              <a:tblGrid>
                <a:gridCol w="4572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777240">
                  <a:extLst>
                    <a:ext uri="{9D8B030D-6E8A-4147-A177-3AD203B41FA5}">
                      <a16:colId xmlns:a16="http://schemas.microsoft.com/office/drawing/2014/main" val="20005"/>
                    </a:ext>
                  </a:extLst>
                </a:gridCol>
                <a:gridCol w="1188720">
                  <a:extLst>
                    <a:ext uri="{9D8B030D-6E8A-4147-A177-3AD203B41FA5}">
                      <a16:colId xmlns:a16="http://schemas.microsoft.com/office/drawing/2014/main" val="20006"/>
                    </a:ext>
                  </a:extLst>
                </a:gridCol>
                <a:gridCol w="853135">
                  <a:extLst>
                    <a:ext uri="{9D8B030D-6E8A-4147-A177-3AD203B41FA5}">
                      <a16:colId xmlns:a16="http://schemas.microsoft.com/office/drawing/2014/main" val="20007"/>
                    </a:ext>
                  </a:extLst>
                </a:gridCol>
              </a:tblGrid>
              <a:tr h="310896">
                <a:tc>
                  <a:txBody>
                    <a:bodyPr/>
                    <a:lstStyle/>
                    <a:p>
                      <a:pPr algn="r"/>
                      <a:r>
                        <a:rPr sz="1100" b="1">
                          <a:solidFill>
                            <a:srgbClr val="FFFFFF"/>
                          </a:solidFill>
                          <a:latin typeface="Arial"/>
                        </a:rPr>
                        <a:t>#</a:t>
                      </a:r>
                    </a:p>
                  </a:txBody>
                  <a:tcPr marL="73152" marR="73152" marT="27432" marB="27432" anchor="ctr">
                    <a:solidFill>
                      <a:srgbClr val="14213D"/>
                    </a:solidFill>
                  </a:tcPr>
                </a:tc>
                <a:tc>
                  <a:txBody>
                    <a:bodyPr/>
                    <a:lstStyle/>
                    <a:p>
                      <a:pPr algn="l"/>
                      <a:r>
                        <a:rPr sz="1100" b="1">
                          <a:solidFill>
                            <a:srgbClr val="FFFFFF"/>
                          </a:solidFill>
                          <a:latin typeface="Arial"/>
                        </a:rPr>
                        <a:t>Campaign</a:t>
                      </a:r>
                    </a:p>
                  </a:txBody>
                  <a:tcPr marL="73152" marR="73152" marT="27432" marB="27432" anchor="ctr">
                    <a:solidFill>
                      <a:srgbClr val="14213D"/>
                    </a:solidFill>
                  </a:tcPr>
                </a:tc>
                <a:tc>
                  <a:txBody>
                    <a:bodyPr/>
                    <a:lstStyle/>
                    <a:p>
                      <a:pPr algn="l"/>
                      <a:r>
                        <a:rPr sz="1100" b="1">
                          <a:solidFill>
                            <a:srgbClr val="FFFFFF"/>
                          </a:solidFill>
                          <a:latin typeface="Arial"/>
                        </a:rPr>
                        <a:t>Channel</a:t>
                      </a:r>
                    </a:p>
                  </a:txBody>
                  <a:tcPr marL="73152" marR="73152" marT="27432" marB="27432" anchor="ctr">
                    <a:solidFill>
                      <a:srgbClr val="14213D"/>
                    </a:solidFill>
                  </a:tcPr>
                </a:tc>
                <a:tc>
                  <a:txBody>
                    <a:bodyPr/>
                    <a:lstStyle/>
                    <a:p>
                      <a:pPr algn="r"/>
                      <a:r>
                        <a:rPr sz="1100" b="1">
                          <a:solidFill>
                            <a:srgbClr val="FFFFFF"/>
                          </a:solidFill>
                          <a:latin typeface="Arial"/>
                        </a:rPr>
                        <a:t>Spend</a:t>
                      </a:r>
                    </a:p>
                  </a:txBody>
                  <a:tcPr marL="73152" marR="73152" marT="27432" marB="27432" anchor="ctr">
                    <a:solidFill>
                      <a:srgbClr val="14213D"/>
                    </a:solidFill>
                  </a:tcPr>
                </a:tc>
                <a:tc>
                  <a:txBody>
                    <a:bodyPr/>
                    <a:lstStyle/>
                    <a:p>
                      <a:pPr algn="r"/>
                      <a:r>
                        <a:rPr sz="1100" b="1">
                          <a:solidFill>
                            <a:srgbClr val="FFFFFF"/>
                          </a:solidFill>
                          <a:latin typeface="Arial"/>
                        </a:rPr>
                        <a:t>Leads</a:t>
                      </a:r>
                    </a:p>
                  </a:txBody>
                  <a:tcPr marL="73152" marR="73152" marT="27432" marB="27432" anchor="ctr">
                    <a:solidFill>
                      <a:srgbClr val="14213D"/>
                    </a:solidFill>
                  </a:tcPr>
                </a:tc>
                <a:tc>
                  <a:txBody>
                    <a:bodyPr/>
                    <a:lstStyle/>
                    <a:p>
                      <a:pPr algn="r"/>
                      <a:r>
                        <a:rPr sz="1100" b="1">
                          <a:solidFill>
                            <a:srgbClr val="FFFFFF"/>
                          </a:solidFill>
                          <a:latin typeface="Arial"/>
                        </a:rPr>
                        <a:t>Booked</a:t>
                      </a:r>
                    </a:p>
                  </a:txBody>
                  <a:tcPr marL="73152" marR="73152" marT="27432" marB="27432" anchor="ctr">
                    <a:solidFill>
                      <a:srgbClr val="14213D"/>
                    </a:solidFill>
                  </a:tcPr>
                </a:tc>
                <a:tc>
                  <a:txBody>
                    <a:bodyPr/>
                    <a:lstStyle/>
                    <a:p>
                      <a:pPr algn="r"/>
                      <a:r>
                        <a:rPr sz="1100" b="1">
                          <a:solidFill>
                            <a:srgbClr val="FFFFFF"/>
                          </a:solidFill>
                          <a:latin typeface="Arial"/>
                        </a:rPr>
                        <a:t>Closed rev.</a:t>
                      </a:r>
                    </a:p>
                  </a:txBody>
                  <a:tcPr marL="73152" marR="73152" marT="27432" marB="27432" anchor="ctr">
                    <a:solidFill>
                      <a:srgbClr val="14213D"/>
                    </a:solidFill>
                  </a:tcPr>
                </a:tc>
                <a:tc>
                  <a:txBody>
                    <a:bodyPr/>
                    <a:lstStyle/>
                    <a:p>
                      <a:pPr algn="r"/>
                      <a:r>
                        <a:rPr sz="1100" b="1">
                          <a:solidFill>
                            <a:srgbClr val="FFFFFF"/>
                          </a:solidFill>
                          <a:latin typeface="Arial"/>
                        </a:rPr>
                        <a:t>ROAS</a:t>
                      </a:r>
                    </a:p>
                  </a:txBody>
                  <a:tcPr marL="73152" marR="73152" marT="27432" marB="27432" anchor="ctr">
                    <a:solidFill>
                      <a:srgbClr val="14213D"/>
                    </a:solidFill>
                  </a:tcPr>
                </a:tc>
                <a:extLst>
                  <a:ext uri="{0D108BD9-81ED-4DB2-BD59-A6C34878D82A}">
                    <a16:rowId xmlns:a16="http://schemas.microsoft.com/office/drawing/2014/main" val="10000"/>
                  </a:ext>
                </a:extLst>
              </a:tr>
              <a:tr h="310896">
                <a:tc>
                  <a:txBody>
                    <a:bodyPr/>
                    <a:lstStyle/>
                    <a:p>
                      <a:pPr algn="r"/>
                      <a:r>
                        <a:rPr sz="1100" b="0">
                          <a:solidFill>
                            <a:srgbClr val="14213D"/>
                          </a:solidFill>
                          <a:latin typeface="Arial"/>
                        </a:rPr>
                        <a:t>1</a:t>
                      </a:r>
                    </a:p>
                  </a:txBody>
                  <a:tcPr marL="73152" marR="73152" marT="27432" marB="27432" anchor="ctr">
                    <a:solidFill>
                      <a:srgbClr val="FFFFFF"/>
                    </a:solidFill>
                  </a:tcPr>
                </a:tc>
                <a:tc>
                  <a:txBody>
                    <a:bodyPr/>
                    <a:lstStyle/>
                    <a:p>
                      <a:pPr algn="l"/>
                      <a:r>
                        <a:rPr sz="1100" b="0">
                          <a:solidFill>
                            <a:srgbClr val="14213D"/>
                          </a:solidFill>
                          <a:latin typeface="Arial"/>
                        </a:rPr>
                        <a:t>Charleston GBP | Search</a:t>
                      </a:r>
                    </a:p>
                  </a:txBody>
                  <a:tcPr marL="73152" marR="73152" marT="27432" marB="27432" anchor="ctr">
                    <a:solidFill>
                      <a:srgbClr val="FFFFFF"/>
                    </a:solidFill>
                  </a:tcPr>
                </a:tc>
                <a:tc>
                  <a:txBody>
                    <a:bodyPr/>
                    <a:lstStyle/>
                    <a:p>
                      <a:pPr algn="l"/>
                      <a:r>
                        <a:rPr sz="1100" b="0">
                          <a:solidFill>
                            <a:srgbClr val="14213D"/>
                          </a:solidFill>
                          <a:latin typeface="Arial"/>
                        </a:rPr>
                        <a:t>Organic</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tc>
                  <a:txBody>
                    <a:bodyPr/>
                    <a:lstStyle/>
                    <a:p>
                      <a:pPr algn="r"/>
                      <a:r>
                        <a:rPr sz="1100" b="0">
                          <a:solidFill>
                            <a:srgbClr val="14213D"/>
                          </a:solidFill>
                          <a:latin typeface="Arial"/>
                        </a:rPr>
                        <a:t>636</a:t>
                      </a:r>
                    </a:p>
                  </a:txBody>
                  <a:tcPr marL="73152" marR="73152" marT="27432" marB="27432" anchor="ctr">
                    <a:solidFill>
                      <a:srgbClr val="FFFFFF"/>
                    </a:solidFill>
                  </a:tcPr>
                </a:tc>
                <a:tc>
                  <a:txBody>
                    <a:bodyPr/>
                    <a:lstStyle/>
                    <a:p>
                      <a:pPr algn="r"/>
                      <a:r>
                        <a:rPr sz="1100" b="0">
                          <a:solidFill>
                            <a:srgbClr val="14213D"/>
                          </a:solidFill>
                          <a:latin typeface="Arial"/>
                        </a:rPr>
                        <a:t>47</a:t>
                      </a:r>
                    </a:p>
                  </a:txBody>
                  <a:tcPr marL="73152" marR="73152" marT="27432" marB="27432" anchor="ctr">
                    <a:solidFill>
                      <a:srgbClr val="FFFFFF"/>
                    </a:solidFill>
                  </a:tcPr>
                </a:tc>
                <a:tc>
                  <a:txBody>
                    <a:bodyPr/>
                    <a:lstStyle/>
                    <a:p>
                      <a:pPr algn="r"/>
                      <a:r>
                        <a:rPr sz="1100" b="0">
                          <a:solidFill>
                            <a:srgbClr val="14213D"/>
                          </a:solidFill>
                          <a:latin typeface="Arial"/>
                        </a:rPr>
                        <a:t>$213,907</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extLst>
                  <a:ext uri="{0D108BD9-81ED-4DB2-BD59-A6C34878D82A}">
                    <a16:rowId xmlns:a16="http://schemas.microsoft.com/office/drawing/2014/main" val="10001"/>
                  </a:ext>
                </a:extLst>
              </a:tr>
              <a:tr h="310896">
                <a:tc>
                  <a:txBody>
                    <a:bodyPr/>
                    <a:lstStyle/>
                    <a:p>
                      <a:pPr algn="r"/>
                      <a:r>
                        <a:rPr sz="1100" b="0">
                          <a:solidFill>
                            <a:srgbClr val="14213D"/>
                          </a:solidFill>
                          <a:latin typeface="Arial"/>
                        </a:rPr>
                        <a:t>2</a:t>
                      </a:r>
                    </a:p>
                  </a:txBody>
                  <a:tcPr marL="73152" marR="73152" marT="27432" marB="27432" anchor="ctr">
                    <a:solidFill>
                      <a:srgbClr val="F7F6F2"/>
                    </a:solidFill>
                  </a:tcPr>
                </a:tc>
                <a:tc>
                  <a:txBody>
                    <a:bodyPr/>
                    <a:lstStyle/>
                    <a:p>
                      <a:pPr algn="l"/>
                      <a:r>
                        <a:rPr sz="1100" b="0">
                          <a:solidFill>
                            <a:srgbClr val="14213D"/>
                          </a:solidFill>
                          <a:latin typeface="Arial"/>
                        </a:rPr>
                        <a:t>Website</a:t>
                      </a:r>
                    </a:p>
                  </a:txBody>
                  <a:tcPr marL="73152" marR="73152" marT="27432" marB="27432" anchor="ctr">
                    <a:solidFill>
                      <a:srgbClr val="F7F6F2"/>
                    </a:solidFill>
                  </a:tcPr>
                </a:tc>
                <a:tc>
                  <a:txBody>
                    <a:bodyPr/>
                    <a:lstStyle/>
                    <a:p>
                      <a:pPr algn="l"/>
                      <a:r>
                        <a:rPr sz="1100" b="0">
                          <a:solidFill>
                            <a:srgbClr val="14213D"/>
                          </a:solidFill>
                          <a:latin typeface="Arial"/>
                        </a:rPr>
                        <a:t>Other</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tc>
                  <a:txBody>
                    <a:bodyPr/>
                    <a:lstStyle/>
                    <a:p>
                      <a:pPr algn="r"/>
                      <a:r>
                        <a:rPr sz="1100" b="0">
                          <a:solidFill>
                            <a:srgbClr val="14213D"/>
                          </a:solidFill>
                          <a:latin typeface="Arial"/>
                        </a:rPr>
                        <a:t>158</a:t>
                      </a:r>
                    </a:p>
                  </a:txBody>
                  <a:tcPr marL="73152" marR="73152" marT="27432" marB="27432" anchor="ctr">
                    <a:solidFill>
                      <a:srgbClr val="F7F6F2"/>
                    </a:solidFill>
                  </a:tcPr>
                </a:tc>
                <a:tc>
                  <a:txBody>
                    <a:bodyPr/>
                    <a:lstStyle/>
                    <a:p>
                      <a:pPr algn="r"/>
                      <a:r>
                        <a:rPr sz="1100" b="0">
                          <a:solidFill>
                            <a:srgbClr val="14213D"/>
                          </a:solidFill>
                          <a:latin typeface="Arial"/>
                        </a:rPr>
                        <a:t>44</a:t>
                      </a:r>
                    </a:p>
                  </a:txBody>
                  <a:tcPr marL="73152" marR="73152" marT="27432" marB="27432" anchor="ctr">
                    <a:solidFill>
                      <a:srgbClr val="F7F6F2"/>
                    </a:solidFill>
                  </a:tcPr>
                </a:tc>
                <a:tc>
                  <a:txBody>
                    <a:bodyPr/>
                    <a:lstStyle/>
                    <a:p>
                      <a:pPr algn="r"/>
                      <a:r>
                        <a:rPr sz="1100" b="0">
                          <a:solidFill>
                            <a:srgbClr val="14213D"/>
                          </a:solidFill>
                          <a:latin typeface="Arial"/>
                        </a:rPr>
                        <a:t>$90,250</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extLst>
                  <a:ext uri="{0D108BD9-81ED-4DB2-BD59-A6C34878D82A}">
                    <a16:rowId xmlns:a16="http://schemas.microsoft.com/office/drawing/2014/main" val="10002"/>
                  </a:ext>
                </a:extLst>
              </a:tr>
              <a:tr h="310896">
                <a:tc>
                  <a:txBody>
                    <a:bodyPr/>
                    <a:lstStyle/>
                    <a:p>
                      <a:pPr algn="r"/>
                      <a:r>
                        <a:rPr sz="1100" b="0">
                          <a:solidFill>
                            <a:srgbClr val="14213D"/>
                          </a:solidFill>
                          <a:latin typeface="Arial"/>
                        </a:rPr>
                        <a:t>3</a:t>
                      </a:r>
                    </a:p>
                  </a:txBody>
                  <a:tcPr marL="73152" marR="73152" marT="27432" marB="27432" anchor="ctr">
                    <a:solidFill>
                      <a:srgbClr val="FFFFFF"/>
                    </a:solidFill>
                  </a:tcPr>
                </a:tc>
                <a:tc>
                  <a:txBody>
                    <a:bodyPr/>
                    <a:lstStyle/>
                    <a:p>
                      <a:pPr algn="l"/>
                      <a:r>
                        <a:rPr sz="1100" b="0">
                          <a:solidFill>
                            <a:srgbClr val="14213D"/>
                          </a:solidFill>
                          <a:latin typeface="Arial"/>
                        </a:rPr>
                        <a:t>(LSA) Coastal Air Plus (HVAC)</a:t>
                      </a:r>
                    </a:p>
                  </a:txBody>
                  <a:tcPr marL="73152" marR="73152" marT="27432" marB="27432" anchor="ctr">
                    <a:solidFill>
                      <a:srgbClr val="FFFFFF"/>
                    </a:solidFill>
                  </a:tcPr>
                </a:tc>
                <a:tc>
                  <a:txBody>
                    <a:bodyPr/>
                    <a:lstStyle/>
                    <a:p>
                      <a:pPr algn="l"/>
                      <a:r>
                        <a:rPr sz="1100" b="0">
                          <a:solidFill>
                            <a:srgbClr val="14213D"/>
                          </a:solidFill>
                          <a:latin typeface="Arial"/>
                        </a:rPr>
                        <a:t>Advertising</a:t>
                      </a:r>
                    </a:p>
                  </a:txBody>
                  <a:tcPr marL="73152" marR="73152" marT="27432" marB="27432" anchor="ctr">
                    <a:solidFill>
                      <a:srgbClr val="FFFFFF"/>
                    </a:solidFill>
                  </a:tcPr>
                </a:tc>
                <a:tc>
                  <a:txBody>
                    <a:bodyPr/>
                    <a:lstStyle/>
                    <a:p>
                      <a:pPr algn="r"/>
                      <a:r>
                        <a:rPr sz="1100" b="0">
                          <a:solidFill>
                            <a:srgbClr val="14213D"/>
                          </a:solidFill>
                          <a:latin typeface="Arial"/>
                        </a:rPr>
                        <a:t>$29,625</a:t>
                      </a:r>
                    </a:p>
                  </a:txBody>
                  <a:tcPr marL="73152" marR="73152" marT="27432" marB="27432" anchor="ctr">
                    <a:solidFill>
                      <a:srgbClr val="FFFFFF"/>
                    </a:solidFill>
                  </a:tcPr>
                </a:tc>
                <a:tc>
                  <a:txBody>
                    <a:bodyPr/>
                    <a:lstStyle/>
                    <a:p>
                      <a:pPr algn="r"/>
                      <a:r>
                        <a:rPr sz="1100" b="0">
                          <a:solidFill>
                            <a:srgbClr val="14213D"/>
                          </a:solidFill>
                          <a:latin typeface="Arial"/>
                        </a:rPr>
                        <a:t>358</a:t>
                      </a:r>
                    </a:p>
                  </a:txBody>
                  <a:tcPr marL="73152" marR="73152" marT="27432" marB="27432" anchor="ctr">
                    <a:solidFill>
                      <a:srgbClr val="FFFFFF"/>
                    </a:solidFill>
                  </a:tcPr>
                </a:tc>
                <a:tc>
                  <a:txBody>
                    <a:bodyPr/>
                    <a:lstStyle/>
                    <a:p>
                      <a:pPr algn="r"/>
                      <a:r>
                        <a:rPr sz="1100" b="0">
                          <a:solidFill>
                            <a:srgbClr val="14213D"/>
                          </a:solidFill>
                          <a:latin typeface="Arial"/>
                        </a:rPr>
                        <a:t>123</a:t>
                      </a:r>
                    </a:p>
                  </a:txBody>
                  <a:tcPr marL="73152" marR="73152" marT="27432" marB="27432" anchor="ctr">
                    <a:solidFill>
                      <a:srgbClr val="FFFFFF"/>
                    </a:solidFill>
                  </a:tcPr>
                </a:tc>
                <a:tc>
                  <a:txBody>
                    <a:bodyPr/>
                    <a:lstStyle/>
                    <a:p>
                      <a:pPr algn="r"/>
                      <a:r>
                        <a:rPr sz="1100" b="0">
                          <a:solidFill>
                            <a:srgbClr val="14213D"/>
                          </a:solidFill>
                          <a:latin typeface="Arial"/>
                        </a:rPr>
                        <a:t>$75,644</a:t>
                      </a:r>
                    </a:p>
                  </a:txBody>
                  <a:tcPr marL="73152" marR="73152" marT="27432" marB="27432" anchor="ctr">
                    <a:solidFill>
                      <a:srgbClr val="FFFFFF"/>
                    </a:solidFill>
                  </a:tcPr>
                </a:tc>
                <a:tc>
                  <a:txBody>
                    <a:bodyPr/>
                    <a:lstStyle/>
                    <a:p>
                      <a:pPr algn="r"/>
                      <a:r>
                        <a:rPr sz="1100" b="0">
                          <a:solidFill>
                            <a:srgbClr val="14213D"/>
                          </a:solidFill>
                          <a:latin typeface="Arial"/>
                        </a:rPr>
                        <a:t>2.55x</a:t>
                      </a:r>
                    </a:p>
                  </a:txBody>
                  <a:tcPr marL="73152" marR="73152" marT="27432" marB="27432" anchor="ctr">
                    <a:solidFill>
                      <a:srgbClr val="FFFFFF"/>
                    </a:solidFill>
                  </a:tcPr>
                </a:tc>
                <a:extLst>
                  <a:ext uri="{0D108BD9-81ED-4DB2-BD59-A6C34878D82A}">
                    <a16:rowId xmlns:a16="http://schemas.microsoft.com/office/drawing/2014/main" val="10003"/>
                  </a:ext>
                </a:extLst>
              </a:tr>
              <a:tr h="310896">
                <a:tc>
                  <a:txBody>
                    <a:bodyPr/>
                    <a:lstStyle/>
                    <a:p>
                      <a:pPr algn="r"/>
                      <a:r>
                        <a:rPr sz="1100" b="0">
                          <a:solidFill>
                            <a:srgbClr val="14213D"/>
                          </a:solidFill>
                          <a:latin typeface="Arial"/>
                        </a:rPr>
                        <a:t>4</a:t>
                      </a:r>
                    </a:p>
                  </a:txBody>
                  <a:tcPr marL="73152" marR="73152" marT="27432" marB="27432" anchor="ctr">
                    <a:solidFill>
                      <a:srgbClr val="F7F6F2"/>
                    </a:solidFill>
                  </a:tcPr>
                </a:tc>
                <a:tc>
                  <a:txBody>
                    <a:bodyPr/>
                    <a:lstStyle/>
                    <a:p>
                      <a:pPr algn="l"/>
                      <a:r>
                        <a:rPr sz="1100" b="0">
                          <a:solidFill>
                            <a:srgbClr val="14213D"/>
                          </a:solidFill>
                          <a:latin typeface="Arial"/>
                        </a:rPr>
                        <a:t>PPC_Brand_Core_Myrtle-Beach</a:t>
                      </a:r>
                    </a:p>
                  </a:txBody>
                  <a:tcPr marL="73152" marR="73152" marT="27432" marB="27432" anchor="ctr">
                    <a:solidFill>
                      <a:srgbClr val="F7F6F2"/>
                    </a:solidFill>
                  </a:tcPr>
                </a:tc>
                <a:tc>
                  <a:txBody>
                    <a:bodyPr/>
                    <a:lstStyle/>
                    <a:p>
                      <a:pPr algn="l"/>
                      <a:r>
                        <a:rPr sz="1100" b="0">
                          <a:solidFill>
                            <a:srgbClr val="14213D"/>
                          </a:solidFill>
                          <a:latin typeface="Arial"/>
                        </a:rPr>
                        <a:t>Advertising</a:t>
                      </a:r>
                    </a:p>
                  </a:txBody>
                  <a:tcPr marL="73152" marR="73152" marT="27432" marB="27432" anchor="ctr">
                    <a:solidFill>
                      <a:srgbClr val="F7F6F2"/>
                    </a:solidFill>
                  </a:tcPr>
                </a:tc>
                <a:tc>
                  <a:txBody>
                    <a:bodyPr/>
                    <a:lstStyle/>
                    <a:p>
                      <a:pPr algn="r"/>
                      <a:r>
                        <a:rPr sz="1100" b="0">
                          <a:solidFill>
                            <a:srgbClr val="14213D"/>
                          </a:solidFill>
                          <a:latin typeface="Arial"/>
                        </a:rPr>
                        <a:t>$7,574</a:t>
                      </a:r>
                    </a:p>
                  </a:txBody>
                  <a:tcPr marL="73152" marR="73152" marT="27432" marB="27432" anchor="ctr">
                    <a:solidFill>
                      <a:srgbClr val="F7F6F2"/>
                    </a:solidFill>
                  </a:tcPr>
                </a:tc>
                <a:tc>
                  <a:txBody>
                    <a:bodyPr/>
                    <a:lstStyle/>
                    <a:p>
                      <a:pPr algn="r"/>
                      <a:r>
                        <a:rPr sz="1100" b="0">
                          <a:solidFill>
                            <a:srgbClr val="14213D"/>
                          </a:solidFill>
                          <a:latin typeface="Arial"/>
                        </a:rPr>
                        <a:t>161</a:t>
                      </a:r>
                    </a:p>
                  </a:txBody>
                  <a:tcPr marL="73152" marR="73152" marT="27432" marB="27432" anchor="ctr">
                    <a:solidFill>
                      <a:srgbClr val="F7F6F2"/>
                    </a:solidFill>
                  </a:tcPr>
                </a:tc>
                <a:tc>
                  <a:txBody>
                    <a:bodyPr/>
                    <a:lstStyle/>
                    <a:p>
                      <a:pPr algn="r"/>
                      <a:r>
                        <a:rPr sz="1100" b="0">
                          <a:solidFill>
                            <a:srgbClr val="14213D"/>
                          </a:solidFill>
                          <a:latin typeface="Arial"/>
                        </a:rPr>
                        <a:t>78</a:t>
                      </a:r>
                    </a:p>
                  </a:txBody>
                  <a:tcPr marL="73152" marR="73152" marT="27432" marB="27432" anchor="ctr">
                    <a:solidFill>
                      <a:srgbClr val="F7F6F2"/>
                    </a:solidFill>
                  </a:tcPr>
                </a:tc>
                <a:tc>
                  <a:txBody>
                    <a:bodyPr/>
                    <a:lstStyle/>
                    <a:p>
                      <a:pPr algn="r"/>
                      <a:r>
                        <a:rPr sz="1100" b="0">
                          <a:solidFill>
                            <a:srgbClr val="14213D"/>
                          </a:solidFill>
                          <a:latin typeface="Arial"/>
                        </a:rPr>
                        <a:t>$71,450</a:t>
                      </a:r>
                    </a:p>
                  </a:txBody>
                  <a:tcPr marL="73152" marR="73152" marT="27432" marB="27432" anchor="ctr">
                    <a:solidFill>
                      <a:srgbClr val="F7F6F2"/>
                    </a:solidFill>
                  </a:tcPr>
                </a:tc>
                <a:tc>
                  <a:txBody>
                    <a:bodyPr/>
                    <a:lstStyle/>
                    <a:p>
                      <a:pPr algn="r"/>
                      <a:r>
                        <a:rPr sz="1100" b="0">
                          <a:solidFill>
                            <a:srgbClr val="14213D"/>
                          </a:solidFill>
                          <a:latin typeface="Arial"/>
                        </a:rPr>
                        <a:t>9.43x</a:t>
                      </a:r>
                    </a:p>
                  </a:txBody>
                  <a:tcPr marL="73152" marR="73152" marT="27432" marB="27432" anchor="ctr">
                    <a:solidFill>
                      <a:srgbClr val="F7F6F2"/>
                    </a:solidFill>
                  </a:tcPr>
                </a:tc>
                <a:extLst>
                  <a:ext uri="{0D108BD9-81ED-4DB2-BD59-A6C34878D82A}">
                    <a16:rowId xmlns:a16="http://schemas.microsoft.com/office/drawing/2014/main" val="10004"/>
                  </a:ext>
                </a:extLst>
              </a:tr>
              <a:tr h="310896">
                <a:tc>
                  <a:txBody>
                    <a:bodyPr/>
                    <a:lstStyle/>
                    <a:p>
                      <a:pPr algn="r"/>
                      <a:r>
                        <a:rPr sz="1100" b="0">
                          <a:solidFill>
                            <a:srgbClr val="14213D"/>
                          </a:solidFill>
                          <a:latin typeface="Arial"/>
                        </a:rPr>
                        <a:t>5</a:t>
                      </a:r>
                    </a:p>
                  </a:txBody>
                  <a:tcPr marL="73152" marR="73152" marT="27432" marB="27432" anchor="ctr">
                    <a:solidFill>
                      <a:srgbClr val="FFFFFF"/>
                    </a:solidFill>
                  </a:tcPr>
                </a:tc>
                <a:tc>
                  <a:txBody>
                    <a:bodyPr/>
                    <a:lstStyle/>
                    <a:p>
                      <a:pPr algn="l"/>
                      <a:r>
                        <a:rPr sz="1100" b="0">
                          <a:solidFill>
                            <a:srgbClr val="14213D"/>
                          </a:solidFill>
                          <a:latin typeface="Arial"/>
                        </a:rPr>
                        <a:t>(LSA) Coastal Air Plus (Plumbing)</a:t>
                      </a:r>
                    </a:p>
                  </a:txBody>
                  <a:tcPr marL="73152" marR="73152" marT="27432" marB="27432" anchor="ctr">
                    <a:solidFill>
                      <a:srgbClr val="FFFFFF"/>
                    </a:solidFill>
                  </a:tcPr>
                </a:tc>
                <a:tc>
                  <a:txBody>
                    <a:bodyPr/>
                    <a:lstStyle/>
                    <a:p>
                      <a:pPr algn="l"/>
                      <a:r>
                        <a:rPr sz="1100" b="0">
                          <a:solidFill>
                            <a:srgbClr val="14213D"/>
                          </a:solidFill>
                          <a:latin typeface="Arial"/>
                        </a:rPr>
                        <a:t>Advertising</a:t>
                      </a:r>
                    </a:p>
                  </a:txBody>
                  <a:tcPr marL="73152" marR="73152" marT="27432" marB="27432" anchor="ctr">
                    <a:solidFill>
                      <a:srgbClr val="FFFFFF"/>
                    </a:solidFill>
                  </a:tcPr>
                </a:tc>
                <a:tc>
                  <a:txBody>
                    <a:bodyPr/>
                    <a:lstStyle/>
                    <a:p>
                      <a:pPr algn="r"/>
                      <a:r>
                        <a:rPr sz="1100" b="0">
                          <a:solidFill>
                            <a:srgbClr val="14213D"/>
                          </a:solidFill>
                          <a:latin typeface="Arial"/>
                        </a:rPr>
                        <a:t>$6,344</a:t>
                      </a:r>
                    </a:p>
                  </a:txBody>
                  <a:tcPr marL="73152" marR="73152" marT="27432" marB="27432" anchor="ctr">
                    <a:solidFill>
                      <a:srgbClr val="FFFFFF"/>
                    </a:solidFill>
                  </a:tcPr>
                </a:tc>
                <a:tc>
                  <a:txBody>
                    <a:bodyPr/>
                    <a:lstStyle/>
                    <a:p>
                      <a:pPr algn="r"/>
                      <a:r>
                        <a:rPr sz="1100" b="0">
                          <a:solidFill>
                            <a:srgbClr val="14213D"/>
                          </a:solidFill>
                          <a:latin typeface="Arial"/>
                        </a:rPr>
                        <a:t>120</a:t>
                      </a:r>
                    </a:p>
                  </a:txBody>
                  <a:tcPr marL="73152" marR="73152" marT="27432" marB="27432" anchor="ctr">
                    <a:solidFill>
                      <a:srgbClr val="FFFFFF"/>
                    </a:solidFill>
                  </a:tcPr>
                </a:tc>
                <a:tc>
                  <a:txBody>
                    <a:bodyPr/>
                    <a:lstStyle/>
                    <a:p>
                      <a:pPr algn="r"/>
                      <a:r>
                        <a:rPr sz="1100" b="0">
                          <a:solidFill>
                            <a:srgbClr val="14213D"/>
                          </a:solidFill>
                          <a:latin typeface="Arial"/>
                        </a:rPr>
                        <a:t>50</a:t>
                      </a:r>
                    </a:p>
                  </a:txBody>
                  <a:tcPr marL="73152" marR="73152" marT="27432" marB="27432" anchor="ctr">
                    <a:solidFill>
                      <a:srgbClr val="FFFFFF"/>
                    </a:solidFill>
                  </a:tcPr>
                </a:tc>
                <a:tc>
                  <a:txBody>
                    <a:bodyPr/>
                    <a:lstStyle/>
                    <a:p>
                      <a:pPr algn="r"/>
                      <a:r>
                        <a:rPr sz="1100" b="0">
                          <a:solidFill>
                            <a:srgbClr val="14213D"/>
                          </a:solidFill>
                          <a:latin typeface="Arial"/>
                        </a:rPr>
                        <a:t>$70,243</a:t>
                      </a:r>
                    </a:p>
                  </a:txBody>
                  <a:tcPr marL="73152" marR="73152" marT="27432" marB="27432" anchor="ctr">
                    <a:solidFill>
                      <a:srgbClr val="FFFFFF"/>
                    </a:solidFill>
                  </a:tcPr>
                </a:tc>
                <a:tc>
                  <a:txBody>
                    <a:bodyPr/>
                    <a:lstStyle/>
                    <a:p>
                      <a:pPr algn="r"/>
                      <a:r>
                        <a:rPr sz="1100" b="0">
                          <a:solidFill>
                            <a:srgbClr val="14213D"/>
                          </a:solidFill>
                          <a:latin typeface="Arial"/>
                        </a:rPr>
                        <a:t>11.07x</a:t>
                      </a:r>
                    </a:p>
                  </a:txBody>
                  <a:tcPr marL="73152" marR="73152" marT="27432" marB="27432" anchor="ctr">
                    <a:solidFill>
                      <a:srgbClr val="FFFFFF"/>
                    </a:solidFill>
                  </a:tcPr>
                </a:tc>
                <a:extLst>
                  <a:ext uri="{0D108BD9-81ED-4DB2-BD59-A6C34878D82A}">
                    <a16:rowId xmlns:a16="http://schemas.microsoft.com/office/drawing/2014/main" val="10005"/>
                  </a:ext>
                </a:extLst>
              </a:tr>
              <a:tr h="310896">
                <a:tc>
                  <a:txBody>
                    <a:bodyPr/>
                    <a:lstStyle/>
                    <a:p>
                      <a:pPr algn="r"/>
                      <a:r>
                        <a:rPr sz="1100" b="0">
                          <a:solidFill>
                            <a:srgbClr val="14213D"/>
                          </a:solidFill>
                          <a:latin typeface="Arial"/>
                        </a:rPr>
                        <a:t>6</a:t>
                      </a:r>
                    </a:p>
                  </a:txBody>
                  <a:tcPr marL="73152" marR="73152" marT="27432" marB="27432" anchor="ctr">
                    <a:solidFill>
                      <a:srgbClr val="F7F6F2"/>
                    </a:solidFill>
                  </a:tcPr>
                </a:tc>
                <a:tc>
                  <a:txBody>
                    <a:bodyPr/>
                    <a:lstStyle/>
                    <a:p>
                      <a:pPr algn="l"/>
                      <a:r>
                        <a:rPr sz="1100" b="0">
                          <a:solidFill>
                            <a:srgbClr val="14213D"/>
                          </a:solidFill>
                          <a:latin typeface="Arial"/>
                        </a:rPr>
                        <a:t>PPC_NB_Competitor-Carolina-Cool_Myrtle-Beach</a:t>
                      </a:r>
                    </a:p>
                  </a:txBody>
                  <a:tcPr marL="73152" marR="73152" marT="27432" marB="27432" anchor="ctr">
                    <a:solidFill>
                      <a:srgbClr val="F7F6F2"/>
                    </a:solidFill>
                  </a:tcPr>
                </a:tc>
                <a:tc>
                  <a:txBody>
                    <a:bodyPr/>
                    <a:lstStyle/>
                    <a:p>
                      <a:pPr algn="l"/>
                      <a:r>
                        <a:rPr sz="1100" b="0">
                          <a:solidFill>
                            <a:srgbClr val="14213D"/>
                          </a:solidFill>
                          <a:latin typeface="Arial"/>
                        </a:rPr>
                        <a:t>Advertising</a:t>
                      </a:r>
                    </a:p>
                  </a:txBody>
                  <a:tcPr marL="73152" marR="73152" marT="27432" marB="27432" anchor="ctr">
                    <a:solidFill>
                      <a:srgbClr val="F7F6F2"/>
                    </a:solidFill>
                  </a:tcPr>
                </a:tc>
                <a:tc>
                  <a:txBody>
                    <a:bodyPr/>
                    <a:lstStyle/>
                    <a:p>
                      <a:pPr algn="r"/>
                      <a:r>
                        <a:rPr sz="1100" b="0">
                          <a:solidFill>
                            <a:srgbClr val="14213D"/>
                          </a:solidFill>
                          <a:latin typeface="Arial"/>
                        </a:rPr>
                        <a:t>$26,983</a:t>
                      </a:r>
                    </a:p>
                  </a:txBody>
                  <a:tcPr marL="73152" marR="73152" marT="27432" marB="27432" anchor="ctr">
                    <a:solidFill>
                      <a:srgbClr val="F7F6F2"/>
                    </a:solidFill>
                  </a:tcPr>
                </a:tc>
                <a:tc>
                  <a:txBody>
                    <a:bodyPr/>
                    <a:lstStyle/>
                    <a:p>
                      <a:pPr algn="r"/>
                      <a:r>
                        <a:rPr sz="1100" b="0">
                          <a:solidFill>
                            <a:srgbClr val="14213D"/>
                          </a:solidFill>
                          <a:latin typeface="Arial"/>
                        </a:rPr>
                        <a:t>326</a:t>
                      </a:r>
                    </a:p>
                  </a:txBody>
                  <a:tcPr marL="73152" marR="73152" marT="27432" marB="27432" anchor="ctr">
                    <a:solidFill>
                      <a:srgbClr val="F7F6F2"/>
                    </a:solidFill>
                  </a:tcPr>
                </a:tc>
                <a:tc>
                  <a:txBody>
                    <a:bodyPr/>
                    <a:lstStyle/>
                    <a:p>
                      <a:pPr algn="r"/>
                      <a:r>
                        <a:rPr sz="1100" b="0">
                          <a:solidFill>
                            <a:srgbClr val="14213D"/>
                          </a:solidFill>
                          <a:latin typeface="Arial"/>
                        </a:rPr>
                        <a:t>56</a:t>
                      </a:r>
                    </a:p>
                  </a:txBody>
                  <a:tcPr marL="73152" marR="73152" marT="27432" marB="27432" anchor="ctr">
                    <a:solidFill>
                      <a:srgbClr val="F7F6F2"/>
                    </a:solidFill>
                  </a:tcPr>
                </a:tc>
                <a:tc>
                  <a:txBody>
                    <a:bodyPr/>
                    <a:lstStyle/>
                    <a:p>
                      <a:pPr algn="r"/>
                      <a:r>
                        <a:rPr sz="1100" b="0">
                          <a:solidFill>
                            <a:srgbClr val="14213D"/>
                          </a:solidFill>
                          <a:latin typeface="Arial"/>
                        </a:rPr>
                        <a:t>$56,577</a:t>
                      </a:r>
                    </a:p>
                  </a:txBody>
                  <a:tcPr marL="73152" marR="73152" marT="27432" marB="27432" anchor="ctr">
                    <a:solidFill>
                      <a:srgbClr val="F7F6F2"/>
                    </a:solidFill>
                  </a:tcPr>
                </a:tc>
                <a:tc>
                  <a:txBody>
                    <a:bodyPr/>
                    <a:lstStyle/>
                    <a:p>
                      <a:pPr algn="r"/>
                      <a:r>
                        <a:rPr sz="1100" b="0">
                          <a:solidFill>
                            <a:srgbClr val="14213D"/>
                          </a:solidFill>
                          <a:latin typeface="Arial"/>
                        </a:rPr>
                        <a:t>2.10x</a:t>
                      </a:r>
                    </a:p>
                  </a:txBody>
                  <a:tcPr marL="73152" marR="73152" marT="27432" marB="27432" anchor="ctr">
                    <a:solidFill>
                      <a:srgbClr val="F7F6F2"/>
                    </a:solidFill>
                  </a:tcPr>
                </a:tc>
                <a:extLst>
                  <a:ext uri="{0D108BD9-81ED-4DB2-BD59-A6C34878D82A}">
                    <a16:rowId xmlns:a16="http://schemas.microsoft.com/office/drawing/2014/main" val="10006"/>
                  </a:ext>
                </a:extLst>
              </a:tr>
              <a:tr h="310896">
                <a:tc>
                  <a:txBody>
                    <a:bodyPr/>
                    <a:lstStyle/>
                    <a:p>
                      <a:pPr algn="r"/>
                      <a:r>
                        <a:rPr sz="1100" b="0">
                          <a:solidFill>
                            <a:srgbClr val="14213D"/>
                          </a:solidFill>
                          <a:latin typeface="Arial"/>
                        </a:rPr>
                        <a:t>7</a:t>
                      </a:r>
                    </a:p>
                  </a:txBody>
                  <a:tcPr marL="73152" marR="73152" marT="27432" marB="27432" anchor="ctr">
                    <a:solidFill>
                      <a:srgbClr val="FFFFFF"/>
                    </a:solidFill>
                  </a:tcPr>
                </a:tc>
                <a:tc>
                  <a:txBody>
                    <a:bodyPr/>
                    <a:lstStyle/>
                    <a:p>
                      <a:pPr algn="l"/>
                      <a:r>
                        <a:rPr sz="1100" b="0">
                          <a:solidFill>
                            <a:srgbClr val="14213D"/>
                          </a:solidFill>
                          <a:latin typeface="Arial"/>
                        </a:rPr>
                        <a:t>(no campaign)</a:t>
                      </a:r>
                    </a:p>
                  </a:txBody>
                  <a:tcPr marL="73152" marR="73152" marT="27432" marB="27432" anchor="ctr">
                    <a:solidFill>
                      <a:srgbClr val="FFFFFF"/>
                    </a:solidFill>
                  </a:tcPr>
                </a:tc>
                <a:tc>
                  <a:txBody>
                    <a:bodyPr/>
                    <a:lstStyle/>
                    <a:p>
                      <a:pPr algn="l"/>
                      <a:r>
                        <a:rPr sz="1100" b="0">
                          <a:solidFill>
                            <a:srgbClr val="14213D"/>
                          </a:solidFill>
                          <a:latin typeface="Arial"/>
                        </a:rPr>
                        <a:t>Organic</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tc>
                  <a:txBody>
                    <a:bodyPr/>
                    <a:lstStyle/>
                    <a:p>
                      <a:pPr algn="r"/>
                      <a:r>
                        <a:rPr sz="1100" b="0">
                          <a:solidFill>
                            <a:srgbClr val="14213D"/>
                          </a:solidFill>
                          <a:latin typeface="Arial"/>
                        </a:rPr>
                        <a:t>54</a:t>
                      </a:r>
                    </a:p>
                  </a:txBody>
                  <a:tcPr marL="73152" marR="73152" marT="27432" marB="27432" anchor="ctr">
                    <a:solidFill>
                      <a:srgbClr val="FFFFFF"/>
                    </a:solidFill>
                  </a:tcPr>
                </a:tc>
                <a:tc>
                  <a:txBody>
                    <a:bodyPr/>
                    <a:lstStyle/>
                    <a:p>
                      <a:pPr algn="r"/>
                      <a:r>
                        <a:rPr sz="1100" b="0">
                          <a:solidFill>
                            <a:srgbClr val="14213D"/>
                          </a:solidFill>
                          <a:latin typeface="Arial"/>
                        </a:rPr>
                        <a:t>21</a:t>
                      </a:r>
                    </a:p>
                  </a:txBody>
                  <a:tcPr marL="73152" marR="73152" marT="27432" marB="27432" anchor="ctr">
                    <a:solidFill>
                      <a:srgbClr val="FFFFFF"/>
                    </a:solidFill>
                  </a:tcPr>
                </a:tc>
                <a:tc>
                  <a:txBody>
                    <a:bodyPr/>
                    <a:lstStyle/>
                    <a:p>
                      <a:pPr algn="r"/>
                      <a:r>
                        <a:rPr sz="1100" b="0">
                          <a:solidFill>
                            <a:srgbClr val="14213D"/>
                          </a:solidFill>
                          <a:latin typeface="Arial"/>
                        </a:rPr>
                        <a:t>$54,291</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extLst>
                  <a:ext uri="{0D108BD9-81ED-4DB2-BD59-A6C34878D82A}">
                    <a16:rowId xmlns:a16="http://schemas.microsoft.com/office/drawing/2014/main" val="10007"/>
                  </a:ext>
                </a:extLst>
              </a:tr>
              <a:tr h="310896">
                <a:tc>
                  <a:txBody>
                    <a:bodyPr/>
                    <a:lstStyle/>
                    <a:p>
                      <a:pPr algn="r"/>
                      <a:r>
                        <a:rPr sz="1100" b="0">
                          <a:solidFill>
                            <a:srgbClr val="14213D"/>
                          </a:solidFill>
                          <a:latin typeface="Arial"/>
                        </a:rPr>
                        <a:t>8</a:t>
                      </a:r>
                    </a:p>
                  </a:txBody>
                  <a:tcPr marL="73152" marR="73152" marT="27432" marB="27432" anchor="ctr">
                    <a:solidFill>
                      <a:srgbClr val="F7F6F2"/>
                    </a:solidFill>
                  </a:tcPr>
                </a:tc>
                <a:tc>
                  <a:txBody>
                    <a:bodyPr/>
                    <a:lstStyle/>
                    <a:p>
                      <a:pPr algn="l"/>
                      <a:r>
                        <a:rPr sz="1100" b="0">
                          <a:solidFill>
                            <a:srgbClr val="14213D"/>
                          </a:solidFill>
                          <a:latin typeface="Arial"/>
                        </a:rPr>
                        <a:t>Google Organic</a:t>
                      </a:r>
                    </a:p>
                  </a:txBody>
                  <a:tcPr marL="73152" marR="73152" marT="27432" marB="27432" anchor="ctr">
                    <a:solidFill>
                      <a:srgbClr val="F7F6F2"/>
                    </a:solidFill>
                  </a:tcPr>
                </a:tc>
                <a:tc>
                  <a:txBody>
                    <a:bodyPr/>
                    <a:lstStyle/>
                    <a:p>
                      <a:pPr algn="l"/>
                      <a:r>
                        <a:rPr sz="1100" b="0">
                          <a:solidFill>
                            <a:srgbClr val="14213D"/>
                          </a:solidFill>
                          <a:latin typeface="Arial"/>
                        </a:rPr>
                        <a:t>Organic</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tc>
                  <a:txBody>
                    <a:bodyPr/>
                    <a:lstStyle/>
                    <a:p>
                      <a:pPr algn="r"/>
                      <a:r>
                        <a:rPr sz="1100" b="0">
                          <a:solidFill>
                            <a:srgbClr val="14213D"/>
                          </a:solidFill>
                          <a:latin typeface="Arial"/>
                        </a:rPr>
                        <a:t>100</a:t>
                      </a:r>
                    </a:p>
                  </a:txBody>
                  <a:tcPr marL="73152" marR="73152" marT="27432" marB="27432" anchor="ctr">
                    <a:solidFill>
                      <a:srgbClr val="F7F6F2"/>
                    </a:solidFill>
                  </a:tcPr>
                </a:tc>
                <a:tc>
                  <a:txBody>
                    <a:bodyPr/>
                    <a:lstStyle/>
                    <a:p>
                      <a:pPr algn="r"/>
                      <a:r>
                        <a:rPr sz="1100" b="0">
                          <a:solidFill>
                            <a:srgbClr val="14213D"/>
                          </a:solidFill>
                          <a:latin typeface="Arial"/>
                        </a:rPr>
                        <a:t>31</a:t>
                      </a:r>
                    </a:p>
                  </a:txBody>
                  <a:tcPr marL="73152" marR="73152" marT="27432" marB="27432" anchor="ctr">
                    <a:solidFill>
                      <a:srgbClr val="F7F6F2"/>
                    </a:solidFill>
                  </a:tcPr>
                </a:tc>
                <a:tc>
                  <a:txBody>
                    <a:bodyPr/>
                    <a:lstStyle/>
                    <a:p>
                      <a:pPr algn="r"/>
                      <a:r>
                        <a:rPr sz="1100" b="0">
                          <a:solidFill>
                            <a:srgbClr val="14213D"/>
                          </a:solidFill>
                          <a:latin typeface="Arial"/>
                        </a:rPr>
                        <a:t>$50,471</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extLst>
                  <a:ext uri="{0D108BD9-81ED-4DB2-BD59-A6C34878D82A}">
                    <a16:rowId xmlns:a16="http://schemas.microsoft.com/office/drawing/2014/main" val="10008"/>
                  </a:ext>
                </a:extLst>
              </a:tr>
              <a:tr h="310896">
                <a:tc>
                  <a:txBody>
                    <a:bodyPr/>
                    <a:lstStyle/>
                    <a:p>
                      <a:pPr algn="r"/>
                      <a:r>
                        <a:rPr sz="1100" b="0">
                          <a:solidFill>
                            <a:srgbClr val="14213D"/>
                          </a:solidFill>
                          <a:latin typeface="Arial"/>
                        </a:rPr>
                        <a:t>9</a:t>
                      </a:r>
                    </a:p>
                  </a:txBody>
                  <a:tcPr marL="73152" marR="73152" marT="27432" marB="27432" anchor="ctr">
                    <a:solidFill>
                      <a:srgbClr val="FFFFFF"/>
                    </a:solidFill>
                  </a:tcPr>
                </a:tc>
                <a:tc>
                  <a:txBody>
                    <a:bodyPr/>
                    <a:lstStyle/>
                    <a:p>
                      <a:pPr algn="l"/>
                      <a:r>
                        <a:rPr sz="1100" b="0">
                          <a:solidFill>
                            <a:srgbClr val="14213D"/>
                          </a:solidFill>
                          <a:latin typeface="Arial"/>
                        </a:rPr>
                        <a:t>Myrtle Beach GBP | Search</a:t>
                      </a:r>
                    </a:p>
                  </a:txBody>
                  <a:tcPr marL="73152" marR="73152" marT="27432" marB="27432" anchor="ctr">
                    <a:solidFill>
                      <a:srgbClr val="FFFFFF"/>
                    </a:solidFill>
                  </a:tcPr>
                </a:tc>
                <a:tc>
                  <a:txBody>
                    <a:bodyPr/>
                    <a:lstStyle/>
                    <a:p>
                      <a:pPr algn="l"/>
                      <a:r>
                        <a:rPr sz="1100" b="0">
                          <a:solidFill>
                            <a:srgbClr val="14213D"/>
                          </a:solidFill>
                          <a:latin typeface="Arial"/>
                        </a:rPr>
                        <a:t>Organic</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tc>
                  <a:txBody>
                    <a:bodyPr/>
                    <a:lstStyle/>
                    <a:p>
                      <a:pPr algn="r"/>
                      <a:r>
                        <a:rPr sz="1100" b="0">
                          <a:solidFill>
                            <a:srgbClr val="14213D"/>
                          </a:solidFill>
                          <a:latin typeface="Arial"/>
                        </a:rPr>
                        <a:t>245</a:t>
                      </a:r>
                    </a:p>
                  </a:txBody>
                  <a:tcPr marL="73152" marR="73152" marT="27432" marB="27432" anchor="ctr">
                    <a:solidFill>
                      <a:srgbClr val="FFFFFF"/>
                    </a:solidFill>
                  </a:tcPr>
                </a:tc>
                <a:tc>
                  <a:txBody>
                    <a:bodyPr/>
                    <a:lstStyle/>
                    <a:p>
                      <a:pPr algn="r"/>
                      <a:r>
                        <a:rPr sz="1100" b="0">
                          <a:solidFill>
                            <a:srgbClr val="14213D"/>
                          </a:solidFill>
                          <a:latin typeface="Arial"/>
                        </a:rPr>
                        <a:t>31</a:t>
                      </a:r>
                    </a:p>
                  </a:txBody>
                  <a:tcPr marL="73152" marR="73152" marT="27432" marB="27432" anchor="ctr">
                    <a:solidFill>
                      <a:srgbClr val="FFFFFF"/>
                    </a:solidFill>
                  </a:tcPr>
                </a:tc>
                <a:tc>
                  <a:txBody>
                    <a:bodyPr/>
                    <a:lstStyle/>
                    <a:p>
                      <a:pPr algn="r"/>
                      <a:r>
                        <a:rPr sz="1100" b="0">
                          <a:solidFill>
                            <a:srgbClr val="14213D"/>
                          </a:solidFill>
                          <a:latin typeface="Arial"/>
                        </a:rPr>
                        <a:t>$25,849</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extLst>
                  <a:ext uri="{0D108BD9-81ED-4DB2-BD59-A6C34878D82A}">
                    <a16:rowId xmlns:a16="http://schemas.microsoft.com/office/drawing/2014/main" val="10009"/>
                  </a:ext>
                </a:extLst>
              </a:tr>
              <a:tr h="310896">
                <a:tc>
                  <a:txBody>
                    <a:bodyPr/>
                    <a:lstStyle/>
                    <a:p>
                      <a:pPr algn="r"/>
                      <a:r>
                        <a:rPr sz="1100" b="0">
                          <a:solidFill>
                            <a:srgbClr val="14213D"/>
                          </a:solidFill>
                          <a:latin typeface="Arial"/>
                        </a:rPr>
                        <a:t>10</a:t>
                      </a:r>
                    </a:p>
                  </a:txBody>
                  <a:tcPr marL="73152" marR="73152" marT="27432" marB="27432" anchor="ctr">
                    <a:solidFill>
                      <a:srgbClr val="F7F6F2"/>
                    </a:solidFill>
                  </a:tcPr>
                </a:tc>
                <a:tc>
                  <a:txBody>
                    <a:bodyPr/>
                    <a:lstStyle/>
                    <a:p>
                      <a:pPr algn="l"/>
                      <a:r>
                        <a:rPr sz="1100" b="0">
                          <a:solidFill>
                            <a:srgbClr val="14213D"/>
                          </a:solidFill>
                          <a:latin typeface="Arial"/>
                        </a:rPr>
                        <a:t>Uncategorized</a:t>
                      </a:r>
                    </a:p>
                  </a:txBody>
                  <a:tcPr marL="73152" marR="73152" marT="27432" marB="27432" anchor="ctr">
                    <a:solidFill>
                      <a:srgbClr val="F7F6F2"/>
                    </a:solidFill>
                  </a:tcPr>
                </a:tc>
                <a:tc>
                  <a:txBody>
                    <a:bodyPr/>
                    <a:lstStyle/>
                    <a:p>
                      <a:pPr algn="l"/>
                      <a:r>
                        <a:rPr sz="1100" b="0">
                          <a:solidFill>
                            <a:srgbClr val="14213D"/>
                          </a:solidFill>
                          <a:latin typeface="Arial"/>
                        </a:rPr>
                        <a:t>Other</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tc>
                  <a:txBody>
                    <a:bodyPr/>
                    <a:lstStyle/>
                    <a:p>
                      <a:pPr algn="r"/>
                      <a:r>
                        <a:rPr sz="1100" b="0">
                          <a:solidFill>
                            <a:srgbClr val="14213D"/>
                          </a:solidFill>
                          <a:latin typeface="Arial"/>
                        </a:rPr>
                        <a:t>105</a:t>
                      </a:r>
                    </a:p>
                  </a:txBody>
                  <a:tcPr marL="73152" marR="73152" marT="27432" marB="27432" anchor="ctr">
                    <a:solidFill>
                      <a:srgbClr val="F7F6F2"/>
                    </a:solidFill>
                  </a:tcPr>
                </a:tc>
                <a:tc>
                  <a:txBody>
                    <a:bodyPr/>
                    <a:lstStyle/>
                    <a:p>
                      <a:pPr algn="r"/>
                      <a:r>
                        <a:rPr sz="1100" b="0">
                          <a:solidFill>
                            <a:srgbClr val="14213D"/>
                          </a:solidFill>
                          <a:latin typeface="Arial"/>
                        </a:rPr>
                        <a:t>1</a:t>
                      </a:r>
                    </a:p>
                  </a:txBody>
                  <a:tcPr marL="73152" marR="73152" marT="27432" marB="27432" anchor="ctr">
                    <a:solidFill>
                      <a:srgbClr val="F7F6F2"/>
                    </a:solidFill>
                  </a:tcPr>
                </a:tc>
                <a:tc>
                  <a:txBody>
                    <a:bodyPr/>
                    <a:lstStyle/>
                    <a:p>
                      <a:pPr algn="r"/>
                      <a:r>
                        <a:rPr sz="1100" b="0">
                          <a:solidFill>
                            <a:srgbClr val="14213D"/>
                          </a:solidFill>
                          <a:latin typeface="Arial"/>
                        </a:rPr>
                        <a:t>$18,031</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extLst>
                  <a:ext uri="{0D108BD9-81ED-4DB2-BD59-A6C34878D82A}">
                    <a16:rowId xmlns:a16="http://schemas.microsoft.com/office/drawing/2014/main" val="10010"/>
                  </a:ext>
                </a:extLst>
              </a:tr>
              <a:tr h="310896">
                <a:tc>
                  <a:txBody>
                    <a:bodyPr/>
                    <a:lstStyle/>
                    <a:p>
                      <a:pPr algn="r"/>
                      <a:r>
                        <a:rPr sz="1100" b="0">
                          <a:solidFill>
                            <a:srgbClr val="14213D"/>
                          </a:solidFill>
                          <a:latin typeface="Arial"/>
                        </a:rPr>
                        <a:t>11</a:t>
                      </a:r>
                    </a:p>
                  </a:txBody>
                  <a:tcPr marL="73152" marR="73152" marT="27432" marB="27432" anchor="ctr">
                    <a:solidFill>
                      <a:srgbClr val="FFFFFF"/>
                    </a:solidFill>
                  </a:tcPr>
                </a:tc>
                <a:tc>
                  <a:txBody>
                    <a:bodyPr/>
                    <a:lstStyle/>
                    <a:p>
                      <a:pPr algn="l"/>
                      <a:r>
                        <a:rPr sz="1100" b="0">
                          <a:solidFill>
                            <a:srgbClr val="14213D"/>
                          </a:solidFill>
                          <a:latin typeface="Arial"/>
                        </a:rPr>
                        <a:t>Performance Max - Remarketing</a:t>
                      </a:r>
                    </a:p>
                  </a:txBody>
                  <a:tcPr marL="73152" marR="73152" marT="27432" marB="27432" anchor="ctr">
                    <a:solidFill>
                      <a:srgbClr val="FFFFFF"/>
                    </a:solidFill>
                  </a:tcPr>
                </a:tc>
                <a:tc>
                  <a:txBody>
                    <a:bodyPr/>
                    <a:lstStyle/>
                    <a:p>
                      <a:pPr algn="l"/>
                      <a:r>
                        <a:rPr sz="1100" b="0">
                          <a:solidFill>
                            <a:srgbClr val="14213D"/>
                          </a:solidFill>
                          <a:latin typeface="Arial"/>
                        </a:rPr>
                        <a:t>Advertising</a:t>
                      </a:r>
                    </a:p>
                  </a:txBody>
                  <a:tcPr marL="73152" marR="73152" marT="27432" marB="27432" anchor="ctr">
                    <a:solidFill>
                      <a:srgbClr val="FFFFFF"/>
                    </a:solidFill>
                  </a:tcPr>
                </a:tc>
                <a:tc>
                  <a:txBody>
                    <a:bodyPr/>
                    <a:lstStyle/>
                    <a:p>
                      <a:pPr algn="r"/>
                      <a:r>
                        <a:rPr sz="1100" b="0">
                          <a:solidFill>
                            <a:srgbClr val="14213D"/>
                          </a:solidFill>
                          <a:latin typeface="Arial"/>
                        </a:rPr>
                        <a:t>$10,467</a:t>
                      </a:r>
                    </a:p>
                  </a:txBody>
                  <a:tcPr marL="73152" marR="73152" marT="27432" marB="27432" anchor="ctr">
                    <a:solidFill>
                      <a:srgbClr val="FFFFFF"/>
                    </a:solidFill>
                  </a:tcPr>
                </a:tc>
                <a:tc>
                  <a:txBody>
                    <a:bodyPr/>
                    <a:lstStyle/>
                    <a:p>
                      <a:pPr algn="r"/>
                      <a:r>
                        <a:rPr sz="1100" b="0">
                          <a:solidFill>
                            <a:srgbClr val="14213D"/>
                          </a:solidFill>
                          <a:latin typeface="Arial"/>
                        </a:rPr>
                        <a:t>172</a:t>
                      </a:r>
                    </a:p>
                  </a:txBody>
                  <a:tcPr marL="73152" marR="73152" marT="27432" marB="27432" anchor="ctr">
                    <a:solidFill>
                      <a:srgbClr val="FFFFFF"/>
                    </a:solidFill>
                  </a:tcPr>
                </a:tc>
                <a:tc>
                  <a:txBody>
                    <a:bodyPr/>
                    <a:lstStyle/>
                    <a:p>
                      <a:pPr algn="r"/>
                      <a:r>
                        <a:rPr sz="1100" b="0">
                          <a:solidFill>
                            <a:srgbClr val="14213D"/>
                          </a:solidFill>
                          <a:latin typeface="Arial"/>
                        </a:rPr>
                        <a:t>40</a:t>
                      </a:r>
                    </a:p>
                  </a:txBody>
                  <a:tcPr marL="73152" marR="73152" marT="27432" marB="27432" anchor="ctr">
                    <a:solidFill>
                      <a:srgbClr val="FFFFFF"/>
                    </a:solidFill>
                  </a:tcPr>
                </a:tc>
                <a:tc>
                  <a:txBody>
                    <a:bodyPr/>
                    <a:lstStyle/>
                    <a:p>
                      <a:pPr algn="r"/>
                      <a:r>
                        <a:rPr sz="1100" b="0">
                          <a:solidFill>
                            <a:srgbClr val="14213D"/>
                          </a:solidFill>
                          <a:latin typeface="Arial"/>
                        </a:rPr>
                        <a:t>$16,999</a:t>
                      </a:r>
                    </a:p>
                  </a:txBody>
                  <a:tcPr marL="73152" marR="73152" marT="27432" marB="27432" anchor="ctr">
                    <a:solidFill>
                      <a:srgbClr val="FFFFFF"/>
                    </a:solidFill>
                  </a:tcPr>
                </a:tc>
                <a:tc>
                  <a:txBody>
                    <a:bodyPr/>
                    <a:lstStyle/>
                    <a:p>
                      <a:pPr algn="r"/>
                      <a:r>
                        <a:rPr sz="1100" b="0">
                          <a:solidFill>
                            <a:srgbClr val="14213D"/>
                          </a:solidFill>
                          <a:latin typeface="Arial"/>
                        </a:rPr>
                        <a:t>1.62x</a:t>
                      </a:r>
                    </a:p>
                  </a:txBody>
                  <a:tcPr marL="73152" marR="73152" marT="27432" marB="27432" anchor="ctr">
                    <a:solidFill>
                      <a:srgbClr val="FFFFFF"/>
                    </a:solidFill>
                  </a:tcPr>
                </a:tc>
                <a:extLst>
                  <a:ext uri="{0D108BD9-81ED-4DB2-BD59-A6C34878D82A}">
                    <a16:rowId xmlns:a16="http://schemas.microsoft.com/office/drawing/2014/main" val="10011"/>
                  </a:ext>
                </a:extLst>
              </a:tr>
              <a:tr h="310896">
                <a:tc>
                  <a:txBody>
                    <a:bodyPr/>
                    <a:lstStyle/>
                    <a:p>
                      <a:pPr algn="r"/>
                      <a:r>
                        <a:rPr sz="1100" b="0">
                          <a:solidFill>
                            <a:srgbClr val="14213D"/>
                          </a:solidFill>
                          <a:latin typeface="Arial"/>
                        </a:rPr>
                        <a:t>12</a:t>
                      </a:r>
                    </a:p>
                  </a:txBody>
                  <a:tcPr marL="73152" marR="73152" marT="27432" marB="27432" anchor="ctr">
                    <a:solidFill>
                      <a:srgbClr val="F7F6F2"/>
                    </a:solidFill>
                  </a:tcPr>
                </a:tc>
                <a:tc>
                  <a:txBody>
                    <a:bodyPr/>
                    <a:lstStyle/>
                    <a:p>
                      <a:pPr algn="l"/>
                      <a:r>
                        <a:rPr sz="1100" b="0">
                          <a:solidFill>
                            <a:srgbClr val="14213D"/>
                          </a:solidFill>
                          <a:latin typeface="Arial"/>
                        </a:rPr>
                        <a:t>Direct Web Traffic</a:t>
                      </a:r>
                    </a:p>
                  </a:txBody>
                  <a:tcPr marL="73152" marR="73152" marT="27432" marB="27432" anchor="ctr">
                    <a:solidFill>
                      <a:srgbClr val="F7F6F2"/>
                    </a:solidFill>
                  </a:tcPr>
                </a:tc>
                <a:tc>
                  <a:txBody>
                    <a:bodyPr/>
                    <a:lstStyle/>
                    <a:p>
                      <a:pPr algn="l"/>
                      <a:r>
                        <a:rPr sz="1100" b="0">
                          <a:solidFill>
                            <a:srgbClr val="14213D"/>
                          </a:solidFill>
                          <a:latin typeface="Arial"/>
                        </a:rPr>
                        <a:t>Direct</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tc>
                  <a:txBody>
                    <a:bodyPr/>
                    <a:lstStyle/>
                    <a:p>
                      <a:pPr algn="r"/>
                      <a:r>
                        <a:rPr sz="1100" b="0">
                          <a:solidFill>
                            <a:srgbClr val="14213D"/>
                          </a:solidFill>
                          <a:latin typeface="Arial"/>
                        </a:rPr>
                        <a:t>111</a:t>
                      </a:r>
                    </a:p>
                  </a:txBody>
                  <a:tcPr marL="73152" marR="73152" marT="27432" marB="27432" anchor="ctr">
                    <a:solidFill>
                      <a:srgbClr val="F7F6F2"/>
                    </a:solidFill>
                  </a:tcPr>
                </a:tc>
                <a:tc>
                  <a:txBody>
                    <a:bodyPr/>
                    <a:lstStyle/>
                    <a:p>
                      <a:pPr algn="r"/>
                      <a:r>
                        <a:rPr sz="1100" b="0">
                          <a:solidFill>
                            <a:srgbClr val="14213D"/>
                          </a:solidFill>
                          <a:latin typeface="Arial"/>
                        </a:rPr>
                        <a:t>14</a:t>
                      </a:r>
                    </a:p>
                  </a:txBody>
                  <a:tcPr marL="73152" marR="73152" marT="27432" marB="27432" anchor="ctr">
                    <a:solidFill>
                      <a:srgbClr val="F7F6F2"/>
                    </a:solidFill>
                  </a:tcPr>
                </a:tc>
                <a:tc>
                  <a:txBody>
                    <a:bodyPr/>
                    <a:lstStyle/>
                    <a:p>
                      <a:pPr algn="r"/>
                      <a:r>
                        <a:rPr sz="1100" b="0">
                          <a:solidFill>
                            <a:srgbClr val="14213D"/>
                          </a:solidFill>
                          <a:latin typeface="Arial"/>
                        </a:rPr>
                        <a:t>$16,989</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extLst>
                  <a:ext uri="{0D108BD9-81ED-4DB2-BD59-A6C34878D82A}">
                    <a16:rowId xmlns:a16="http://schemas.microsoft.com/office/drawing/2014/main" val="10012"/>
                  </a:ext>
                </a:extLst>
              </a:tr>
              <a:tr h="310896">
                <a:tc>
                  <a:txBody>
                    <a:bodyPr/>
                    <a:lstStyle/>
                    <a:p>
                      <a:pPr algn="r"/>
                      <a:r>
                        <a:rPr sz="1100" b="0">
                          <a:solidFill>
                            <a:srgbClr val="14213D"/>
                          </a:solidFill>
                          <a:latin typeface="Arial"/>
                        </a:rPr>
                        <a:t>13</a:t>
                      </a:r>
                    </a:p>
                  </a:txBody>
                  <a:tcPr marL="73152" marR="73152" marT="27432" marB="27432" anchor="ctr">
                    <a:solidFill>
                      <a:srgbClr val="FFFFFF"/>
                    </a:solidFill>
                  </a:tcPr>
                </a:tc>
                <a:tc>
                  <a:txBody>
                    <a:bodyPr/>
                    <a:lstStyle/>
                    <a:p>
                      <a:pPr algn="l"/>
                      <a:r>
                        <a:rPr sz="1100" b="0">
                          <a:solidFill>
                            <a:srgbClr val="14213D"/>
                          </a:solidFill>
                          <a:latin typeface="Arial"/>
                        </a:rPr>
                        <a:t>PPC HVAC</a:t>
                      </a:r>
                    </a:p>
                  </a:txBody>
                  <a:tcPr marL="73152" marR="73152" marT="27432" marB="27432" anchor="ctr">
                    <a:solidFill>
                      <a:srgbClr val="FFFFFF"/>
                    </a:solidFill>
                  </a:tcPr>
                </a:tc>
                <a:tc>
                  <a:txBody>
                    <a:bodyPr/>
                    <a:lstStyle/>
                    <a:p>
                      <a:pPr algn="l"/>
                      <a:r>
                        <a:rPr sz="1100" b="0">
                          <a:solidFill>
                            <a:srgbClr val="14213D"/>
                          </a:solidFill>
                          <a:latin typeface="Arial"/>
                        </a:rPr>
                        <a:t>Advertising</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tc>
                  <a:txBody>
                    <a:bodyPr/>
                    <a:lstStyle/>
                    <a:p>
                      <a:pPr algn="r"/>
                      <a:r>
                        <a:rPr sz="1100" b="0">
                          <a:solidFill>
                            <a:srgbClr val="14213D"/>
                          </a:solidFill>
                          <a:latin typeface="Arial"/>
                        </a:rPr>
                        <a:t>194</a:t>
                      </a:r>
                    </a:p>
                  </a:txBody>
                  <a:tcPr marL="73152" marR="73152" marT="27432" marB="27432" anchor="ctr">
                    <a:solidFill>
                      <a:srgbClr val="FFFFFF"/>
                    </a:solidFill>
                  </a:tcPr>
                </a:tc>
                <a:tc>
                  <a:txBody>
                    <a:bodyPr/>
                    <a:lstStyle/>
                    <a:p>
                      <a:pPr algn="r"/>
                      <a:r>
                        <a:rPr sz="1100" b="0">
                          <a:solidFill>
                            <a:srgbClr val="14213D"/>
                          </a:solidFill>
                          <a:latin typeface="Arial"/>
                        </a:rPr>
                        <a:t>12</a:t>
                      </a:r>
                    </a:p>
                  </a:txBody>
                  <a:tcPr marL="73152" marR="73152" marT="27432" marB="27432" anchor="ctr">
                    <a:solidFill>
                      <a:srgbClr val="FFFFFF"/>
                    </a:solidFill>
                  </a:tcPr>
                </a:tc>
                <a:tc>
                  <a:txBody>
                    <a:bodyPr/>
                    <a:lstStyle/>
                    <a:p>
                      <a:pPr algn="r"/>
                      <a:r>
                        <a:rPr sz="1100" b="0">
                          <a:solidFill>
                            <a:srgbClr val="14213D"/>
                          </a:solidFill>
                          <a:latin typeface="Arial"/>
                        </a:rPr>
                        <a:t>$16,930</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extLst>
                  <a:ext uri="{0D108BD9-81ED-4DB2-BD59-A6C34878D82A}">
                    <a16:rowId xmlns:a16="http://schemas.microsoft.com/office/drawing/2014/main" val="10013"/>
                  </a:ext>
                </a:extLst>
              </a:tr>
              <a:tr h="310896">
                <a:tc>
                  <a:txBody>
                    <a:bodyPr/>
                    <a:lstStyle/>
                    <a:p>
                      <a:pPr algn="r"/>
                      <a:r>
                        <a:rPr sz="1100" b="0">
                          <a:solidFill>
                            <a:srgbClr val="14213D"/>
                          </a:solidFill>
                          <a:latin typeface="Arial"/>
                        </a:rPr>
                        <a:t>14</a:t>
                      </a:r>
                    </a:p>
                  </a:txBody>
                  <a:tcPr marL="73152" marR="73152" marT="27432" marB="27432" anchor="ctr">
                    <a:solidFill>
                      <a:srgbClr val="F7F6F2"/>
                    </a:solidFill>
                  </a:tcPr>
                </a:tc>
                <a:tc>
                  <a:txBody>
                    <a:bodyPr/>
                    <a:lstStyle/>
                    <a:p>
                      <a:pPr algn="l"/>
                      <a:r>
                        <a:rPr sz="1100" b="0">
                          <a:solidFill>
                            <a:srgbClr val="14213D"/>
                          </a:solidFill>
                          <a:latin typeface="Arial"/>
                        </a:rPr>
                        <a:t>PPC_NB_HVAC_Myrtle-Beach</a:t>
                      </a:r>
                    </a:p>
                  </a:txBody>
                  <a:tcPr marL="73152" marR="73152" marT="27432" marB="27432" anchor="ctr">
                    <a:solidFill>
                      <a:srgbClr val="F7F6F2"/>
                    </a:solidFill>
                  </a:tcPr>
                </a:tc>
                <a:tc>
                  <a:txBody>
                    <a:bodyPr/>
                    <a:lstStyle/>
                    <a:p>
                      <a:pPr algn="l"/>
                      <a:r>
                        <a:rPr sz="1100" b="0">
                          <a:solidFill>
                            <a:srgbClr val="14213D"/>
                          </a:solidFill>
                          <a:latin typeface="Arial"/>
                        </a:rPr>
                        <a:t>Advertising</a:t>
                      </a:r>
                    </a:p>
                  </a:txBody>
                  <a:tcPr marL="73152" marR="73152" marT="27432" marB="27432" anchor="ctr">
                    <a:solidFill>
                      <a:srgbClr val="F7F6F2"/>
                    </a:solidFill>
                  </a:tcPr>
                </a:tc>
                <a:tc>
                  <a:txBody>
                    <a:bodyPr/>
                    <a:lstStyle/>
                    <a:p>
                      <a:pPr algn="r"/>
                      <a:r>
                        <a:rPr sz="1100" b="0">
                          <a:solidFill>
                            <a:srgbClr val="14213D"/>
                          </a:solidFill>
                          <a:latin typeface="Arial"/>
                        </a:rPr>
                        <a:t>$28,006</a:t>
                      </a:r>
                    </a:p>
                  </a:txBody>
                  <a:tcPr marL="73152" marR="73152" marT="27432" marB="27432" anchor="ctr">
                    <a:solidFill>
                      <a:srgbClr val="F7F6F2"/>
                    </a:solidFill>
                  </a:tcPr>
                </a:tc>
                <a:tc>
                  <a:txBody>
                    <a:bodyPr/>
                    <a:lstStyle/>
                    <a:p>
                      <a:pPr algn="r"/>
                      <a:r>
                        <a:rPr sz="1100" b="0">
                          <a:solidFill>
                            <a:srgbClr val="14213D"/>
                          </a:solidFill>
                          <a:latin typeface="Arial"/>
                        </a:rPr>
                        <a:t>154</a:t>
                      </a:r>
                    </a:p>
                  </a:txBody>
                  <a:tcPr marL="73152" marR="73152" marT="27432" marB="27432" anchor="ctr">
                    <a:solidFill>
                      <a:srgbClr val="F7F6F2"/>
                    </a:solidFill>
                  </a:tcPr>
                </a:tc>
                <a:tc>
                  <a:txBody>
                    <a:bodyPr/>
                    <a:lstStyle/>
                    <a:p>
                      <a:pPr algn="r"/>
                      <a:r>
                        <a:rPr sz="1100" b="0">
                          <a:solidFill>
                            <a:srgbClr val="14213D"/>
                          </a:solidFill>
                          <a:latin typeface="Arial"/>
                        </a:rPr>
                        <a:t>41</a:t>
                      </a:r>
                    </a:p>
                  </a:txBody>
                  <a:tcPr marL="73152" marR="73152" marT="27432" marB="27432" anchor="ctr">
                    <a:solidFill>
                      <a:srgbClr val="F7F6F2"/>
                    </a:solidFill>
                  </a:tcPr>
                </a:tc>
                <a:tc>
                  <a:txBody>
                    <a:bodyPr/>
                    <a:lstStyle/>
                    <a:p>
                      <a:pPr algn="r"/>
                      <a:r>
                        <a:rPr sz="1100" b="0">
                          <a:solidFill>
                            <a:srgbClr val="14213D"/>
                          </a:solidFill>
                          <a:latin typeface="Arial"/>
                        </a:rPr>
                        <a:t>$10,476</a:t>
                      </a:r>
                    </a:p>
                  </a:txBody>
                  <a:tcPr marL="73152" marR="73152" marT="27432" marB="27432" anchor="ctr">
                    <a:solidFill>
                      <a:srgbClr val="F7F6F2"/>
                    </a:solidFill>
                  </a:tcPr>
                </a:tc>
                <a:tc>
                  <a:txBody>
                    <a:bodyPr/>
                    <a:lstStyle/>
                    <a:p>
                      <a:pPr algn="r"/>
                      <a:r>
                        <a:rPr sz="1100" b="0">
                          <a:solidFill>
                            <a:srgbClr val="14213D"/>
                          </a:solidFill>
                          <a:latin typeface="Arial"/>
                        </a:rPr>
                        <a:t>0.37x</a:t>
                      </a:r>
                    </a:p>
                  </a:txBody>
                  <a:tcPr marL="73152" marR="73152" marT="27432" marB="27432" anchor="ctr">
                    <a:solidFill>
                      <a:srgbClr val="F7F6F2"/>
                    </a:solidFill>
                  </a:tcPr>
                </a:tc>
                <a:extLst>
                  <a:ext uri="{0D108BD9-81ED-4DB2-BD59-A6C34878D82A}">
                    <a16:rowId xmlns:a16="http://schemas.microsoft.com/office/drawing/2014/main" val="10014"/>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itle"/>
          <p:cNvSpPr txBox="1"/>
          <p:nvPr/>
        </p:nvSpPr>
        <p:spPr>
          <a:xfrm>
            <a:off x="548640" y="411480"/>
            <a:ext cx="11094415" cy="822960"/>
          </a:xfrm>
          <a:prstGeom prst="rect">
            <a:avLst/>
          </a:prstGeom>
          <a:noFill/>
        </p:spPr>
        <p:txBody>
          <a:bodyPr wrap="square" lIns="0" tIns="0" rIns="0" bIns="0" anchor="t">
            <a:spAutoFit/>
          </a:bodyPr>
          <a:lstStyle/>
          <a:p>
            <a:pPr algn="l"/>
            <a:r>
              <a:rPr sz="2800" b="1">
                <a:solidFill>
                  <a:srgbClr val="14213D"/>
                </a:solidFill>
                <a:latin typeface="Arial"/>
              </a:rPr>
              <a:t>All campaigns ranked by closed revenue · 15–28</a:t>
            </a:r>
          </a:p>
        </p:txBody>
      </p:sp>
      <p:sp>
        <p:nvSpPr>
          <p:cNvPr id="3" name="Footer"/>
          <p:cNvSpPr txBox="1"/>
          <p:nvPr/>
        </p:nvSpPr>
        <p:spPr>
          <a:xfrm>
            <a:off x="548640" y="6355080"/>
            <a:ext cx="10180015" cy="274320"/>
          </a:xfrm>
          <a:prstGeom prst="rect">
            <a:avLst/>
          </a:prstGeom>
          <a:noFill/>
        </p:spPr>
        <p:txBody>
          <a:bodyPr wrap="square" lIns="0" tIns="0" rIns="0" bIns="0" anchor="t">
            <a:spAutoFit/>
          </a:bodyPr>
          <a:lstStyle/>
          <a:p>
            <a:pPr algn="l"/>
            <a:r>
              <a:rPr sz="1000" b="0">
                <a:solidFill>
                  <a:srgbClr val="5A6478"/>
                </a:solidFill>
                <a:latin typeface="Arial"/>
              </a:rPr>
              <a:t>Source: Searchlight performance-by export · Jan 1 – Oct 23, 2026 · 46 retention, follow-up and Mainline campaigns excluded</a:t>
            </a:r>
          </a:p>
        </p:txBody>
      </p:sp>
      <p:sp>
        <p:nvSpPr>
          <p:cNvPr id="4" name="Page number"/>
          <p:cNvSpPr txBox="1"/>
          <p:nvPr/>
        </p:nvSpPr>
        <p:spPr>
          <a:xfrm>
            <a:off x="11094415" y="6355080"/>
            <a:ext cx="548640" cy="274320"/>
          </a:xfrm>
          <a:prstGeom prst="rect">
            <a:avLst/>
          </a:prstGeom>
          <a:noFill/>
        </p:spPr>
        <p:txBody>
          <a:bodyPr wrap="square" lIns="0" tIns="0" rIns="0" bIns="0" anchor="t">
            <a:spAutoFit/>
          </a:bodyPr>
          <a:lstStyle/>
          <a:p>
            <a:pPr algn="r"/>
            <a:r>
              <a:rPr sz="1000" b="0">
                <a:solidFill>
                  <a:srgbClr val="5A6478"/>
                </a:solidFill>
                <a:latin typeface="Arial"/>
              </a:rPr>
              <a:t>17</a:t>
            </a:r>
          </a:p>
        </p:txBody>
      </p:sp>
      <p:graphicFrame>
        <p:nvGraphicFramePr>
          <p:cNvPr id="5" name="Ranking 15-28"/>
          <p:cNvGraphicFramePr>
            <a:graphicFrameLocks noGrp="1"/>
          </p:cNvGraphicFramePr>
          <p:nvPr/>
        </p:nvGraphicFramePr>
        <p:xfrm>
          <a:off x="548640" y="1234440"/>
          <a:ext cx="11094415" cy="4663440"/>
        </p:xfrm>
        <a:graphic>
          <a:graphicData uri="http://schemas.openxmlformats.org/drawingml/2006/table">
            <a:tbl>
              <a:tblPr firstRow="1">
                <a:tableStyleId>{5C22544A-7EE6-4342-B048-85BDC9FD1C3A}</a:tableStyleId>
              </a:tblPr>
              <a:tblGrid>
                <a:gridCol w="4572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777240">
                  <a:extLst>
                    <a:ext uri="{9D8B030D-6E8A-4147-A177-3AD203B41FA5}">
                      <a16:colId xmlns:a16="http://schemas.microsoft.com/office/drawing/2014/main" val="20005"/>
                    </a:ext>
                  </a:extLst>
                </a:gridCol>
                <a:gridCol w="1188720">
                  <a:extLst>
                    <a:ext uri="{9D8B030D-6E8A-4147-A177-3AD203B41FA5}">
                      <a16:colId xmlns:a16="http://schemas.microsoft.com/office/drawing/2014/main" val="20006"/>
                    </a:ext>
                  </a:extLst>
                </a:gridCol>
                <a:gridCol w="853135">
                  <a:extLst>
                    <a:ext uri="{9D8B030D-6E8A-4147-A177-3AD203B41FA5}">
                      <a16:colId xmlns:a16="http://schemas.microsoft.com/office/drawing/2014/main" val="20007"/>
                    </a:ext>
                  </a:extLst>
                </a:gridCol>
              </a:tblGrid>
              <a:tr h="310896">
                <a:tc>
                  <a:txBody>
                    <a:bodyPr/>
                    <a:lstStyle/>
                    <a:p>
                      <a:pPr algn="r"/>
                      <a:r>
                        <a:rPr sz="1100" b="1">
                          <a:solidFill>
                            <a:srgbClr val="FFFFFF"/>
                          </a:solidFill>
                          <a:latin typeface="Arial"/>
                        </a:rPr>
                        <a:t>#</a:t>
                      </a:r>
                    </a:p>
                  </a:txBody>
                  <a:tcPr marL="73152" marR="73152" marT="27432" marB="27432" anchor="ctr">
                    <a:solidFill>
                      <a:srgbClr val="14213D"/>
                    </a:solidFill>
                  </a:tcPr>
                </a:tc>
                <a:tc>
                  <a:txBody>
                    <a:bodyPr/>
                    <a:lstStyle/>
                    <a:p>
                      <a:pPr algn="l"/>
                      <a:r>
                        <a:rPr sz="1100" b="1">
                          <a:solidFill>
                            <a:srgbClr val="FFFFFF"/>
                          </a:solidFill>
                          <a:latin typeface="Arial"/>
                        </a:rPr>
                        <a:t>Campaign</a:t>
                      </a:r>
                    </a:p>
                  </a:txBody>
                  <a:tcPr marL="73152" marR="73152" marT="27432" marB="27432" anchor="ctr">
                    <a:solidFill>
                      <a:srgbClr val="14213D"/>
                    </a:solidFill>
                  </a:tcPr>
                </a:tc>
                <a:tc>
                  <a:txBody>
                    <a:bodyPr/>
                    <a:lstStyle/>
                    <a:p>
                      <a:pPr algn="l"/>
                      <a:r>
                        <a:rPr sz="1100" b="1">
                          <a:solidFill>
                            <a:srgbClr val="FFFFFF"/>
                          </a:solidFill>
                          <a:latin typeface="Arial"/>
                        </a:rPr>
                        <a:t>Channel</a:t>
                      </a:r>
                    </a:p>
                  </a:txBody>
                  <a:tcPr marL="73152" marR="73152" marT="27432" marB="27432" anchor="ctr">
                    <a:solidFill>
                      <a:srgbClr val="14213D"/>
                    </a:solidFill>
                  </a:tcPr>
                </a:tc>
                <a:tc>
                  <a:txBody>
                    <a:bodyPr/>
                    <a:lstStyle/>
                    <a:p>
                      <a:pPr algn="r"/>
                      <a:r>
                        <a:rPr sz="1100" b="1">
                          <a:solidFill>
                            <a:srgbClr val="FFFFFF"/>
                          </a:solidFill>
                          <a:latin typeface="Arial"/>
                        </a:rPr>
                        <a:t>Spend</a:t>
                      </a:r>
                    </a:p>
                  </a:txBody>
                  <a:tcPr marL="73152" marR="73152" marT="27432" marB="27432" anchor="ctr">
                    <a:solidFill>
                      <a:srgbClr val="14213D"/>
                    </a:solidFill>
                  </a:tcPr>
                </a:tc>
                <a:tc>
                  <a:txBody>
                    <a:bodyPr/>
                    <a:lstStyle/>
                    <a:p>
                      <a:pPr algn="r"/>
                      <a:r>
                        <a:rPr sz="1100" b="1">
                          <a:solidFill>
                            <a:srgbClr val="FFFFFF"/>
                          </a:solidFill>
                          <a:latin typeface="Arial"/>
                        </a:rPr>
                        <a:t>Leads</a:t>
                      </a:r>
                    </a:p>
                  </a:txBody>
                  <a:tcPr marL="73152" marR="73152" marT="27432" marB="27432" anchor="ctr">
                    <a:solidFill>
                      <a:srgbClr val="14213D"/>
                    </a:solidFill>
                  </a:tcPr>
                </a:tc>
                <a:tc>
                  <a:txBody>
                    <a:bodyPr/>
                    <a:lstStyle/>
                    <a:p>
                      <a:pPr algn="r"/>
                      <a:r>
                        <a:rPr sz="1100" b="1">
                          <a:solidFill>
                            <a:srgbClr val="FFFFFF"/>
                          </a:solidFill>
                          <a:latin typeface="Arial"/>
                        </a:rPr>
                        <a:t>Booked</a:t>
                      </a:r>
                    </a:p>
                  </a:txBody>
                  <a:tcPr marL="73152" marR="73152" marT="27432" marB="27432" anchor="ctr">
                    <a:solidFill>
                      <a:srgbClr val="14213D"/>
                    </a:solidFill>
                  </a:tcPr>
                </a:tc>
                <a:tc>
                  <a:txBody>
                    <a:bodyPr/>
                    <a:lstStyle/>
                    <a:p>
                      <a:pPr algn="r"/>
                      <a:r>
                        <a:rPr sz="1100" b="1">
                          <a:solidFill>
                            <a:srgbClr val="FFFFFF"/>
                          </a:solidFill>
                          <a:latin typeface="Arial"/>
                        </a:rPr>
                        <a:t>Closed rev.</a:t>
                      </a:r>
                    </a:p>
                  </a:txBody>
                  <a:tcPr marL="73152" marR="73152" marT="27432" marB="27432" anchor="ctr">
                    <a:solidFill>
                      <a:srgbClr val="14213D"/>
                    </a:solidFill>
                  </a:tcPr>
                </a:tc>
                <a:tc>
                  <a:txBody>
                    <a:bodyPr/>
                    <a:lstStyle/>
                    <a:p>
                      <a:pPr algn="r"/>
                      <a:r>
                        <a:rPr sz="1100" b="1">
                          <a:solidFill>
                            <a:srgbClr val="FFFFFF"/>
                          </a:solidFill>
                          <a:latin typeface="Arial"/>
                        </a:rPr>
                        <a:t>ROAS</a:t>
                      </a:r>
                    </a:p>
                  </a:txBody>
                  <a:tcPr marL="73152" marR="73152" marT="27432" marB="27432" anchor="ctr">
                    <a:solidFill>
                      <a:srgbClr val="14213D"/>
                    </a:solidFill>
                  </a:tcPr>
                </a:tc>
                <a:extLst>
                  <a:ext uri="{0D108BD9-81ED-4DB2-BD59-A6C34878D82A}">
                    <a16:rowId xmlns:a16="http://schemas.microsoft.com/office/drawing/2014/main" val="10000"/>
                  </a:ext>
                </a:extLst>
              </a:tr>
              <a:tr h="310896">
                <a:tc>
                  <a:txBody>
                    <a:bodyPr/>
                    <a:lstStyle/>
                    <a:p>
                      <a:pPr algn="r"/>
                      <a:r>
                        <a:rPr sz="1100" b="0">
                          <a:solidFill>
                            <a:srgbClr val="14213D"/>
                          </a:solidFill>
                          <a:latin typeface="Arial"/>
                        </a:rPr>
                        <a:t>15</a:t>
                      </a:r>
                    </a:p>
                  </a:txBody>
                  <a:tcPr marL="73152" marR="73152" marT="27432" marB="27432" anchor="ctr">
                    <a:solidFill>
                      <a:srgbClr val="FFFFFF"/>
                    </a:solidFill>
                  </a:tcPr>
                </a:tc>
                <a:tc>
                  <a:txBody>
                    <a:bodyPr/>
                    <a:lstStyle/>
                    <a:p>
                      <a:pPr algn="l"/>
                      <a:r>
                        <a:rPr sz="1100" b="0">
                          <a:solidFill>
                            <a:srgbClr val="14213D"/>
                          </a:solidFill>
                          <a:latin typeface="Arial"/>
                        </a:rPr>
                        <a:t>July - Sept 2026 Special | $99 New System</a:t>
                      </a:r>
                    </a:p>
                  </a:txBody>
                  <a:tcPr marL="73152" marR="73152" marT="27432" marB="27432" anchor="ctr">
                    <a:solidFill>
                      <a:srgbClr val="FFFFFF"/>
                    </a:solidFill>
                  </a:tcPr>
                </a:tc>
                <a:tc>
                  <a:txBody>
                    <a:bodyPr/>
                    <a:lstStyle/>
                    <a:p>
                      <a:pPr algn="l"/>
                      <a:r>
                        <a:rPr sz="1100" b="0">
                          <a:solidFill>
                            <a:srgbClr val="14213D"/>
                          </a:solidFill>
                          <a:latin typeface="Arial"/>
                        </a:rPr>
                        <a:t>Advertising</a:t>
                      </a:r>
                    </a:p>
                  </a:txBody>
                  <a:tcPr marL="73152" marR="73152" marT="27432" marB="27432" anchor="ctr">
                    <a:solidFill>
                      <a:srgbClr val="FFFFFF"/>
                    </a:solidFill>
                  </a:tcPr>
                </a:tc>
                <a:tc>
                  <a:txBody>
                    <a:bodyPr/>
                    <a:lstStyle/>
                    <a:p>
                      <a:pPr algn="r"/>
                      <a:r>
                        <a:rPr sz="1100" b="0">
                          <a:solidFill>
                            <a:srgbClr val="14213D"/>
                          </a:solidFill>
                          <a:latin typeface="Arial"/>
                        </a:rPr>
                        <a:t>$12,078</a:t>
                      </a:r>
                    </a:p>
                  </a:txBody>
                  <a:tcPr marL="73152" marR="73152" marT="27432" marB="27432" anchor="ctr">
                    <a:solidFill>
                      <a:srgbClr val="FFFFFF"/>
                    </a:solidFill>
                  </a:tcPr>
                </a:tc>
                <a:tc>
                  <a:txBody>
                    <a:bodyPr/>
                    <a:lstStyle/>
                    <a:p>
                      <a:pPr algn="r"/>
                      <a:r>
                        <a:rPr sz="1100" b="0">
                          <a:solidFill>
                            <a:srgbClr val="14213D"/>
                          </a:solidFill>
                          <a:latin typeface="Arial"/>
                        </a:rPr>
                        <a:t>36</a:t>
                      </a:r>
                    </a:p>
                  </a:txBody>
                  <a:tcPr marL="73152" marR="73152" marT="27432" marB="27432" anchor="ctr">
                    <a:solidFill>
                      <a:srgbClr val="FFFFFF"/>
                    </a:solidFill>
                  </a:tcPr>
                </a:tc>
                <a:tc>
                  <a:txBody>
                    <a:bodyPr/>
                    <a:lstStyle/>
                    <a:p>
                      <a:pPr algn="r"/>
                      <a:r>
                        <a:rPr sz="1100" b="0">
                          <a:solidFill>
                            <a:srgbClr val="14213D"/>
                          </a:solidFill>
                          <a:latin typeface="Arial"/>
                        </a:rPr>
                        <a:t>8</a:t>
                      </a:r>
                    </a:p>
                  </a:txBody>
                  <a:tcPr marL="73152" marR="73152" marT="27432" marB="27432" anchor="ctr">
                    <a:solidFill>
                      <a:srgbClr val="FFFFFF"/>
                    </a:solidFill>
                  </a:tcPr>
                </a:tc>
                <a:tc>
                  <a:txBody>
                    <a:bodyPr/>
                    <a:lstStyle/>
                    <a:p>
                      <a:pPr algn="r"/>
                      <a:r>
                        <a:rPr sz="1100" b="0">
                          <a:solidFill>
                            <a:srgbClr val="14213D"/>
                          </a:solidFill>
                          <a:latin typeface="Arial"/>
                        </a:rPr>
                        <a:t>$10,048</a:t>
                      </a:r>
                    </a:p>
                  </a:txBody>
                  <a:tcPr marL="73152" marR="73152" marT="27432" marB="27432" anchor="ctr">
                    <a:solidFill>
                      <a:srgbClr val="FFFFFF"/>
                    </a:solidFill>
                  </a:tcPr>
                </a:tc>
                <a:tc>
                  <a:txBody>
                    <a:bodyPr/>
                    <a:lstStyle/>
                    <a:p>
                      <a:pPr algn="r"/>
                      <a:r>
                        <a:rPr sz="1100" b="0">
                          <a:solidFill>
                            <a:srgbClr val="14213D"/>
                          </a:solidFill>
                          <a:latin typeface="Arial"/>
                        </a:rPr>
                        <a:t>0.83x</a:t>
                      </a:r>
                    </a:p>
                  </a:txBody>
                  <a:tcPr marL="73152" marR="73152" marT="27432" marB="27432" anchor="ctr">
                    <a:solidFill>
                      <a:srgbClr val="FFFFFF"/>
                    </a:solidFill>
                  </a:tcPr>
                </a:tc>
                <a:extLst>
                  <a:ext uri="{0D108BD9-81ED-4DB2-BD59-A6C34878D82A}">
                    <a16:rowId xmlns:a16="http://schemas.microsoft.com/office/drawing/2014/main" val="10001"/>
                  </a:ext>
                </a:extLst>
              </a:tr>
              <a:tr h="310896">
                <a:tc>
                  <a:txBody>
                    <a:bodyPr/>
                    <a:lstStyle/>
                    <a:p>
                      <a:pPr algn="r"/>
                      <a:r>
                        <a:rPr sz="1100" b="0">
                          <a:solidFill>
                            <a:srgbClr val="14213D"/>
                          </a:solidFill>
                          <a:latin typeface="Arial"/>
                        </a:rPr>
                        <a:t>16</a:t>
                      </a:r>
                    </a:p>
                  </a:txBody>
                  <a:tcPr marL="73152" marR="73152" marT="27432" marB="27432" anchor="ctr">
                    <a:solidFill>
                      <a:srgbClr val="F7F6F2"/>
                    </a:solidFill>
                  </a:tcPr>
                </a:tc>
                <a:tc>
                  <a:txBody>
                    <a:bodyPr/>
                    <a:lstStyle/>
                    <a:p>
                      <a:pPr algn="l"/>
                      <a:r>
                        <a:rPr sz="1100" b="0">
                          <a:solidFill>
                            <a:srgbClr val="14213D"/>
                          </a:solidFill>
                          <a:latin typeface="Arial"/>
                        </a:rPr>
                        <a:t>PPC_NB_Plumbing_Myrtle-Beach</a:t>
                      </a:r>
                    </a:p>
                  </a:txBody>
                  <a:tcPr marL="73152" marR="73152" marT="27432" marB="27432" anchor="ctr">
                    <a:solidFill>
                      <a:srgbClr val="F7F6F2"/>
                    </a:solidFill>
                  </a:tcPr>
                </a:tc>
                <a:tc>
                  <a:txBody>
                    <a:bodyPr/>
                    <a:lstStyle/>
                    <a:p>
                      <a:pPr algn="l"/>
                      <a:r>
                        <a:rPr sz="1100" b="0">
                          <a:solidFill>
                            <a:srgbClr val="14213D"/>
                          </a:solidFill>
                          <a:latin typeface="Arial"/>
                        </a:rPr>
                        <a:t>Advertising</a:t>
                      </a:r>
                    </a:p>
                  </a:txBody>
                  <a:tcPr marL="73152" marR="73152" marT="27432" marB="27432" anchor="ctr">
                    <a:solidFill>
                      <a:srgbClr val="F7F6F2"/>
                    </a:solidFill>
                  </a:tcPr>
                </a:tc>
                <a:tc>
                  <a:txBody>
                    <a:bodyPr/>
                    <a:lstStyle/>
                    <a:p>
                      <a:pPr algn="r"/>
                      <a:r>
                        <a:rPr sz="1100" b="0">
                          <a:solidFill>
                            <a:srgbClr val="14213D"/>
                          </a:solidFill>
                          <a:latin typeface="Arial"/>
                        </a:rPr>
                        <a:t>$25,375</a:t>
                      </a:r>
                    </a:p>
                  </a:txBody>
                  <a:tcPr marL="73152" marR="73152" marT="27432" marB="27432" anchor="ctr">
                    <a:solidFill>
                      <a:srgbClr val="F7F6F2"/>
                    </a:solidFill>
                  </a:tcPr>
                </a:tc>
                <a:tc>
                  <a:txBody>
                    <a:bodyPr/>
                    <a:lstStyle/>
                    <a:p>
                      <a:pPr algn="r"/>
                      <a:r>
                        <a:rPr sz="1100" b="0">
                          <a:solidFill>
                            <a:srgbClr val="14213D"/>
                          </a:solidFill>
                          <a:latin typeface="Arial"/>
                        </a:rPr>
                        <a:t>74</a:t>
                      </a:r>
                    </a:p>
                  </a:txBody>
                  <a:tcPr marL="73152" marR="73152" marT="27432" marB="27432" anchor="ctr">
                    <a:solidFill>
                      <a:srgbClr val="F7F6F2"/>
                    </a:solidFill>
                  </a:tcPr>
                </a:tc>
                <a:tc>
                  <a:txBody>
                    <a:bodyPr/>
                    <a:lstStyle/>
                    <a:p>
                      <a:pPr algn="r"/>
                      <a:r>
                        <a:rPr sz="1100" b="0">
                          <a:solidFill>
                            <a:srgbClr val="14213D"/>
                          </a:solidFill>
                          <a:latin typeface="Arial"/>
                        </a:rPr>
                        <a:t>20</a:t>
                      </a:r>
                    </a:p>
                  </a:txBody>
                  <a:tcPr marL="73152" marR="73152" marT="27432" marB="27432" anchor="ctr">
                    <a:solidFill>
                      <a:srgbClr val="F7F6F2"/>
                    </a:solidFill>
                  </a:tcPr>
                </a:tc>
                <a:tc>
                  <a:txBody>
                    <a:bodyPr/>
                    <a:lstStyle/>
                    <a:p>
                      <a:pPr algn="r"/>
                      <a:r>
                        <a:rPr sz="1100" b="0">
                          <a:solidFill>
                            <a:srgbClr val="14213D"/>
                          </a:solidFill>
                          <a:latin typeface="Arial"/>
                        </a:rPr>
                        <a:t>$8,127</a:t>
                      </a:r>
                    </a:p>
                  </a:txBody>
                  <a:tcPr marL="73152" marR="73152" marT="27432" marB="27432" anchor="ctr">
                    <a:solidFill>
                      <a:srgbClr val="F7F6F2"/>
                    </a:solidFill>
                  </a:tcPr>
                </a:tc>
                <a:tc>
                  <a:txBody>
                    <a:bodyPr/>
                    <a:lstStyle/>
                    <a:p>
                      <a:pPr algn="r"/>
                      <a:r>
                        <a:rPr sz="1100" b="0">
                          <a:solidFill>
                            <a:srgbClr val="14213D"/>
                          </a:solidFill>
                          <a:latin typeface="Arial"/>
                        </a:rPr>
                        <a:t>0.32x</a:t>
                      </a:r>
                    </a:p>
                  </a:txBody>
                  <a:tcPr marL="73152" marR="73152" marT="27432" marB="27432" anchor="ctr">
                    <a:solidFill>
                      <a:srgbClr val="F7F6F2"/>
                    </a:solidFill>
                  </a:tcPr>
                </a:tc>
                <a:extLst>
                  <a:ext uri="{0D108BD9-81ED-4DB2-BD59-A6C34878D82A}">
                    <a16:rowId xmlns:a16="http://schemas.microsoft.com/office/drawing/2014/main" val="10002"/>
                  </a:ext>
                </a:extLst>
              </a:tr>
              <a:tr h="310896">
                <a:tc>
                  <a:txBody>
                    <a:bodyPr/>
                    <a:lstStyle/>
                    <a:p>
                      <a:pPr algn="r"/>
                      <a:r>
                        <a:rPr sz="1100" b="0">
                          <a:solidFill>
                            <a:srgbClr val="14213D"/>
                          </a:solidFill>
                          <a:latin typeface="Arial"/>
                        </a:rPr>
                        <a:t>17</a:t>
                      </a:r>
                    </a:p>
                  </a:txBody>
                  <a:tcPr marL="73152" marR="73152" marT="27432" marB="27432" anchor="ctr">
                    <a:solidFill>
                      <a:srgbClr val="FFFFFF"/>
                    </a:solidFill>
                  </a:tcPr>
                </a:tc>
                <a:tc>
                  <a:txBody>
                    <a:bodyPr/>
                    <a:lstStyle/>
                    <a:p>
                      <a:pPr algn="l"/>
                      <a:r>
                        <a:rPr sz="1100" b="0">
                          <a:solidFill>
                            <a:srgbClr val="14213D"/>
                          </a:solidFill>
                          <a:latin typeface="Arial"/>
                        </a:rPr>
                        <a:t>Avoca Live Transfer</a:t>
                      </a:r>
                    </a:p>
                  </a:txBody>
                  <a:tcPr marL="73152" marR="73152" marT="27432" marB="27432" anchor="ctr">
                    <a:solidFill>
                      <a:srgbClr val="FFFFFF"/>
                    </a:solidFill>
                  </a:tcPr>
                </a:tc>
                <a:tc>
                  <a:txBody>
                    <a:bodyPr/>
                    <a:lstStyle/>
                    <a:p>
                      <a:pPr algn="l"/>
                      <a:r>
                        <a:rPr sz="1100" b="0">
                          <a:solidFill>
                            <a:srgbClr val="14213D"/>
                          </a:solidFill>
                          <a:latin typeface="Arial"/>
                        </a:rPr>
                        <a:t>Other</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tc>
                  <a:txBody>
                    <a:bodyPr/>
                    <a:lstStyle/>
                    <a:p>
                      <a:pPr algn="r"/>
                      <a:r>
                        <a:rPr sz="1100" b="0">
                          <a:solidFill>
                            <a:srgbClr val="14213D"/>
                          </a:solidFill>
                          <a:latin typeface="Arial"/>
                        </a:rPr>
                        <a:t>14</a:t>
                      </a:r>
                    </a:p>
                  </a:txBody>
                  <a:tcPr marL="73152" marR="73152" marT="27432" marB="27432" anchor="ctr">
                    <a:solidFill>
                      <a:srgbClr val="FFFFFF"/>
                    </a:solidFill>
                  </a:tcPr>
                </a:tc>
                <a:tc>
                  <a:txBody>
                    <a:bodyPr/>
                    <a:lstStyle/>
                    <a:p>
                      <a:pPr algn="r"/>
                      <a:r>
                        <a:rPr sz="1100" b="0">
                          <a:solidFill>
                            <a:srgbClr val="14213D"/>
                          </a:solidFill>
                          <a:latin typeface="Arial"/>
                        </a:rPr>
                        <a:t>4</a:t>
                      </a:r>
                    </a:p>
                  </a:txBody>
                  <a:tcPr marL="73152" marR="73152" marT="27432" marB="27432" anchor="ctr">
                    <a:solidFill>
                      <a:srgbClr val="FFFFFF"/>
                    </a:solidFill>
                  </a:tcPr>
                </a:tc>
                <a:tc>
                  <a:txBody>
                    <a:bodyPr/>
                    <a:lstStyle/>
                    <a:p>
                      <a:pPr algn="r"/>
                      <a:r>
                        <a:rPr sz="1100" b="0">
                          <a:solidFill>
                            <a:srgbClr val="14213D"/>
                          </a:solidFill>
                          <a:latin typeface="Arial"/>
                        </a:rPr>
                        <a:t>$7,469</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extLst>
                  <a:ext uri="{0D108BD9-81ED-4DB2-BD59-A6C34878D82A}">
                    <a16:rowId xmlns:a16="http://schemas.microsoft.com/office/drawing/2014/main" val="10003"/>
                  </a:ext>
                </a:extLst>
              </a:tr>
              <a:tr h="310896">
                <a:tc>
                  <a:txBody>
                    <a:bodyPr/>
                    <a:lstStyle/>
                    <a:p>
                      <a:pPr algn="r"/>
                      <a:r>
                        <a:rPr sz="1100" b="0">
                          <a:solidFill>
                            <a:srgbClr val="14213D"/>
                          </a:solidFill>
                          <a:latin typeface="Arial"/>
                        </a:rPr>
                        <a:t>18</a:t>
                      </a:r>
                    </a:p>
                  </a:txBody>
                  <a:tcPr marL="73152" marR="73152" marT="27432" marB="27432" anchor="ctr">
                    <a:solidFill>
                      <a:srgbClr val="F7F6F2"/>
                    </a:solidFill>
                  </a:tcPr>
                </a:tc>
                <a:tc>
                  <a:txBody>
                    <a:bodyPr/>
                    <a:lstStyle/>
                    <a:p>
                      <a:pPr algn="l"/>
                      <a:r>
                        <a:rPr sz="1100" b="0">
                          <a:solidFill>
                            <a:srgbClr val="14213D"/>
                          </a:solidFill>
                          <a:latin typeface="Arial"/>
                        </a:rPr>
                        <a:t>PPC_NB_Competitor_Myrtle-Beach</a:t>
                      </a:r>
                    </a:p>
                  </a:txBody>
                  <a:tcPr marL="73152" marR="73152" marT="27432" marB="27432" anchor="ctr">
                    <a:solidFill>
                      <a:srgbClr val="F7F6F2"/>
                    </a:solidFill>
                  </a:tcPr>
                </a:tc>
                <a:tc>
                  <a:txBody>
                    <a:bodyPr/>
                    <a:lstStyle/>
                    <a:p>
                      <a:pPr algn="l"/>
                      <a:r>
                        <a:rPr sz="1100" b="0">
                          <a:solidFill>
                            <a:srgbClr val="14213D"/>
                          </a:solidFill>
                          <a:latin typeface="Arial"/>
                        </a:rPr>
                        <a:t>Advertising</a:t>
                      </a:r>
                    </a:p>
                  </a:txBody>
                  <a:tcPr marL="73152" marR="73152" marT="27432" marB="27432" anchor="ctr">
                    <a:solidFill>
                      <a:srgbClr val="F7F6F2"/>
                    </a:solidFill>
                  </a:tcPr>
                </a:tc>
                <a:tc>
                  <a:txBody>
                    <a:bodyPr/>
                    <a:lstStyle/>
                    <a:p>
                      <a:pPr algn="r"/>
                      <a:r>
                        <a:rPr sz="1100" b="0">
                          <a:solidFill>
                            <a:srgbClr val="14213D"/>
                          </a:solidFill>
                          <a:latin typeface="Arial"/>
                        </a:rPr>
                        <a:t>$8,100</a:t>
                      </a:r>
                    </a:p>
                  </a:txBody>
                  <a:tcPr marL="73152" marR="73152" marT="27432" marB="27432" anchor="ctr">
                    <a:solidFill>
                      <a:srgbClr val="F7F6F2"/>
                    </a:solidFill>
                  </a:tcPr>
                </a:tc>
                <a:tc>
                  <a:txBody>
                    <a:bodyPr/>
                    <a:lstStyle/>
                    <a:p>
                      <a:pPr algn="r"/>
                      <a:r>
                        <a:rPr sz="1100" b="0">
                          <a:solidFill>
                            <a:srgbClr val="14213D"/>
                          </a:solidFill>
                          <a:latin typeface="Arial"/>
                        </a:rPr>
                        <a:t>62</a:t>
                      </a:r>
                    </a:p>
                  </a:txBody>
                  <a:tcPr marL="73152" marR="73152" marT="27432" marB="27432" anchor="ctr">
                    <a:solidFill>
                      <a:srgbClr val="F7F6F2"/>
                    </a:solidFill>
                  </a:tcPr>
                </a:tc>
                <a:tc>
                  <a:txBody>
                    <a:bodyPr/>
                    <a:lstStyle/>
                    <a:p>
                      <a:pPr algn="r"/>
                      <a:r>
                        <a:rPr sz="1100" b="0">
                          <a:solidFill>
                            <a:srgbClr val="14213D"/>
                          </a:solidFill>
                          <a:latin typeface="Arial"/>
                        </a:rPr>
                        <a:t>15</a:t>
                      </a:r>
                    </a:p>
                  </a:txBody>
                  <a:tcPr marL="73152" marR="73152" marT="27432" marB="27432" anchor="ctr">
                    <a:solidFill>
                      <a:srgbClr val="F7F6F2"/>
                    </a:solidFill>
                  </a:tcPr>
                </a:tc>
                <a:tc>
                  <a:txBody>
                    <a:bodyPr/>
                    <a:lstStyle/>
                    <a:p>
                      <a:pPr algn="r"/>
                      <a:r>
                        <a:rPr sz="1100" b="0">
                          <a:solidFill>
                            <a:srgbClr val="14213D"/>
                          </a:solidFill>
                          <a:latin typeface="Arial"/>
                        </a:rPr>
                        <a:t>$4,833</a:t>
                      </a:r>
                    </a:p>
                  </a:txBody>
                  <a:tcPr marL="73152" marR="73152" marT="27432" marB="27432" anchor="ctr">
                    <a:solidFill>
                      <a:srgbClr val="F7F6F2"/>
                    </a:solidFill>
                  </a:tcPr>
                </a:tc>
                <a:tc>
                  <a:txBody>
                    <a:bodyPr/>
                    <a:lstStyle/>
                    <a:p>
                      <a:pPr algn="r"/>
                      <a:r>
                        <a:rPr sz="1100" b="0">
                          <a:solidFill>
                            <a:srgbClr val="14213D"/>
                          </a:solidFill>
                          <a:latin typeface="Arial"/>
                        </a:rPr>
                        <a:t>0.60x</a:t>
                      </a:r>
                    </a:p>
                  </a:txBody>
                  <a:tcPr marL="73152" marR="73152" marT="27432" marB="27432" anchor="ctr">
                    <a:solidFill>
                      <a:srgbClr val="F7F6F2"/>
                    </a:solidFill>
                  </a:tcPr>
                </a:tc>
                <a:extLst>
                  <a:ext uri="{0D108BD9-81ED-4DB2-BD59-A6C34878D82A}">
                    <a16:rowId xmlns:a16="http://schemas.microsoft.com/office/drawing/2014/main" val="10004"/>
                  </a:ext>
                </a:extLst>
              </a:tr>
              <a:tr h="310896">
                <a:tc>
                  <a:txBody>
                    <a:bodyPr/>
                    <a:lstStyle/>
                    <a:p>
                      <a:pPr algn="r"/>
                      <a:r>
                        <a:rPr sz="1100" b="0">
                          <a:solidFill>
                            <a:srgbClr val="14213D"/>
                          </a:solidFill>
                          <a:latin typeface="Arial"/>
                        </a:rPr>
                        <a:t>19</a:t>
                      </a:r>
                    </a:p>
                  </a:txBody>
                  <a:tcPr marL="73152" marR="73152" marT="27432" marB="27432" anchor="ctr">
                    <a:solidFill>
                      <a:srgbClr val="FFFFFF"/>
                    </a:solidFill>
                  </a:tcPr>
                </a:tc>
                <a:tc>
                  <a:txBody>
                    <a:bodyPr/>
                    <a:lstStyle/>
                    <a:p>
                      <a:pPr algn="l"/>
                      <a:r>
                        <a:rPr sz="1100" b="0">
                          <a:solidFill>
                            <a:srgbClr val="14213D"/>
                          </a:solidFill>
                          <a:latin typeface="Arial"/>
                        </a:rPr>
                        <a:t>Honey Do List Plumbing Campaign</a:t>
                      </a:r>
                    </a:p>
                  </a:txBody>
                  <a:tcPr marL="73152" marR="73152" marT="27432" marB="27432" anchor="ctr">
                    <a:solidFill>
                      <a:srgbClr val="FFFFFF"/>
                    </a:solidFill>
                  </a:tcPr>
                </a:tc>
                <a:tc>
                  <a:txBody>
                    <a:bodyPr/>
                    <a:lstStyle/>
                    <a:p>
                      <a:pPr algn="l"/>
                      <a:r>
                        <a:rPr sz="1100" b="0">
                          <a:solidFill>
                            <a:srgbClr val="14213D"/>
                          </a:solidFill>
                          <a:latin typeface="Arial"/>
                        </a:rPr>
                        <a:t>Other</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tc>
                  <a:txBody>
                    <a:bodyPr/>
                    <a:lstStyle/>
                    <a:p>
                      <a:pPr algn="r"/>
                      <a:r>
                        <a:rPr sz="1100" b="0">
                          <a:solidFill>
                            <a:srgbClr val="14213D"/>
                          </a:solidFill>
                          <a:latin typeface="Arial"/>
                        </a:rPr>
                        <a:t>12</a:t>
                      </a:r>
                    </a:p>
                  </a:txBody>
                  <a:tcPr marL="73152" marR="73152" marT="27432" marB="27432" anchor="ctr">
                    <a:solidFill>
                      <a:srgbClr val="FFFFFF"/>
                    </a:solidFill>
                  </a:tcPr>
                </a:tc>
                <a:tc>
                  <a:txBody>
                    <a:bodyPr/>
                    <a:lstStyle/>
                    <a:p>
                      <a:pPr algn="r"/>
                      <a:r>
                        <a:rPr sz="1100" b="0">
                          <a:solidFill>
                            <a:srgbClr val="14213D"/>
                          </a:solidFill>
                          <a:latin typeface="Arial"/>
                        </a:rPr>
                        <a:t>6</a:t>
                      </a:r>
                    </a:p>
                  </a:txBody>
                  <a:tcPr marL="73152" marR="73152" marT="27432" marB="27432" anchor="ctr">
                    <a:solidFill>
                      <a:srgbClr val="FFFFFF"/>
                    </a:solidFill>
                  </a:tcPr>
                </a:tc>
                <a:tc>
                  <a:txBody>
                    <a:bodyPr/>
                    <a:lstStyle/>
                    <a:p>
                      <a:pPr algn="r"/>
                      <a:r>
                        <a:rPr sz="1100" b="0">
                          <a:solidFill>
                            <a:srgbClr val="14213D"/>
                          </a:solidFill>
                          <a:latin typeface="Arial"/>
                        </a:rPr>
                        <a:t>$3,672</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extLst>
                  <a:ext uri="{0D108BD9-81ED-4DB2-BD59-A6C34878D82A}">
                    <a16:rowId xmlns:a16="http://schemas.microsoft.com/office/drawing/2014/main" val="10005"/>
                  </a:ext>
                </a:extLst>
              </a:tr>
              <a:tr h="310896">
                <a:tc>
                  <a:txBody>
                    <a:bodyPr/>
                    <a:lstStyle/>
                    <a:p>
                      <a:pPr algn="r"/>
                      <a:r>
                        <a:rPr sz="1100" b="0">
                          <a:solidFill>
                            <a:srgbClr val="14213D"/>
                          </a:solidFill>
                          <a:latin typeface="Arial"/>
                        </a:rPr>
                        <a:t>20</a:t>
                      </a:r>
                    </a:p>
                  </a:txBody>
                  <a:tcPr marL="73152" marR="73152" marT="27432" marB="27432" anchor="ctr">
                    <a:solidFill>
                      <a:srgbClr val="F7F6F2"/>
                    </a:solidFill>
                  </a:tcPr>
                </a:tc>
                <a:tc>
                  <a:txBody>
                    <a:bodyPr/>
                    <a:lstStyle/>
                    <a:p>
                      <a:pPr algn="l"/>
                      <a:r>
                        <a:rPr sz="1100" b="0">
                          <a:solidFill>
                            <a:srgbClr val="14213D"/>
                          </a:solidFill>
                          <a:latin typeface="Arial"/>
                        </a:rPr>
                        <a:t>Bing Organic</a:t>
                      </a:r>
                    </a:p>
                  </a:txBody>
                  <a:tcPr marL="73152" marR="73152" marT="27432" marB="27432" anchor="ctr">
                    <a:solidFill>
                      <a:srgbClr val="F7F6F2"/>
                    </a:solidFill>
                  </a:tcPr>
                </a:tc>
                <a:tc>
                  <a:txBody>
                    <a:bodyPr/>
                    <a:lstStyle/>
                    <a:p>
                      <a:pPr algn="l"/>
                      <a:r>
                        <a:rPr sz="1100" b="0">
                          <a:solidFill>
                            <a:srgbClr val="14213D"/>
                          </a:solidFill>
                          <a:latin typeface="Arial"/>
                        </a:rPr>
                        <a:t>Organic</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tc>
                  <a:txBody>
                    <a:bodyPr/>
                    <a:lstStyle/>
                    <a:p>
                      <a:pPr algn="r"/>
                      <a:r>
                        <a:rPr sz="1100" b="0">
                          <a:solidFill>
                            <a:srgbClr val="14213D"/>
                          </a:solidFill>
                          <a:latin typeface="Arial"/>
                        </a:rPr>
                        <a:t>24</a:t>
                      </a:r>
                    </a:p>
                  </a:txBody>
                  <a:tcPr marL="73152" marR="73152" marT="27432" marB="27432" anchor="ctr">
                    <a:solidFill>
                      <a:srgbClr val="F7F6F2"/>
                    </a:solidFill>
                  </a:tcPr>
                </a:tc>
                <a:tc>
                  <a:txBody>
                    <a:bodyPr/>
                    <a:lstStyle/>
                    <a:p>
                      <a:pPr algn="r"/>
                      <a:r>
                        <a:rPr sz="1100" b="0">
                          <a:solidFill>
                            <a:srgbClr val="14213D"/>
                          </a:solidFill>
                          <a:latin typeface="Arial"/>
                        </a:rPr>
                        <a:t>7</a:t>
                      </a:r>
                    </a:p>
                  </a:txBody>
                  <a:tcPr marL="73152" marR="73152" marT="27432" marB="27432" anchor="ctr">
                    <a:solidFill>
                      <a:srgbClr val="F7F6F2"/>
                    </a:solidFill>
                  </a:tcPr>
                </a:tc>
                <a:tc>
                  <a:txBody>
                    <a:bodyPr/>
                    <a:lstStyle/>
                    <a:p>
                      <a:pPr algn="r"/>
                      <a:r>
                        <a:rPr sz="1100" b="0">
                          <a:solidFill>
                            <a:srgbClr val="14213D"/>
                          </a:solidFill>
                          <a:latin typeface="Arial"/>
                        </a:rPr>
                        <a:t>$2,781</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extLst>
                  <a:ext uri="{0D108BD9-81ED-4DB2-BD59-A6C34878D82A}">
                    <a16:rowId xmlns:a16="http://schemas.microsoft.com/office/drawing/2014/main" val="10006"/>
                  </a:ext>
                </a:extLst>
              </a:tr>
              <a:tr h="310896">
                <a:tc>
                  <a:txBody>
                    <a:bodyPr/>
                    <a:lstStyle/>
                    <a:p>
                      <a:pPr algn="r"/>
                      <a:r>
                        <a:rPr sz="1100" b="0">
                          <a:solidFill>
                            <a:srgbClr val="14213D"/>
                          </a:solidFill>
                          <a:latin typeface="Arial"/>
                        </a:rPr>
                        <a:t>21</a:t>
                      </a:r>
                    </a:p>
                  </a:txBody>
                  <a:tcPr marL="73152" marR="73152" marT="27432" marB="27432" anchor="ctr">
                    <a:solidFill>
                      <a:srgbClr val="FFFFFF"/>
                    </a:solidFill>
                  </a:tcPr>
                </a:tc>
                <a:tc>
                  <a:txBody>
                    <a:bodyPr/>
                    <a:lstStyle/>
                    <a:p>
                      <a:pPr algn="l"/>
                      <a:r>
                        <a:rPr sz="1100" b="0">
                          <a:solidFill>
                            <a:srgbClr val="14213D"/>
                          </a:solidFill>
                          <a:latin typeface="Arial"/>
                        </a:rPr>
                        <a:t>Direct Web Traffic</a:t>
                      </a:r>
                    </a:p>
                  </a:txBody>
                  <a:tcPr marL="73152" marR="73152" marT="27432" marB="27432" anchor="ctr">
                    <a:solidFill>
                      <a:srgbClr val="FFFFFF"/>
                    </a:solidFill>
                  </a:tcPr>
                </a:tc>
                <a:tc>
                  <a:txBody>
                    <a:bodyPr/>
                    <a:lstStyle/>
                    <a:p>
                      <a:pPr algn="l"/>
                      <a:r>
                        <a:rPr sz="1100" b="0">
                          <a:solidFill>
                            <a:srgbClr val="14213D"/>
                          </a:solidFill>
                          <a:latin typeface="Arial"/>
                        </a:rPr>
                        <a:t>Organic</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tc>
                  <a:txBody>
                    <a:bodyPr/>
                    <a:lstStyle/>
                    <a:p>
                      <a:pPr algn="r"/>
                      <a:r>
                        <a:rPr sz="1100" b="0">
                          <a:solidFill>
                            <a:srgbClr val="14213D"/>
                          </a:solidFill>
                          <a:latin typeface="Arial"/>
                        </a:rPr>
                        <a:t>25</a:t>
                      </a:r>
                    </a:p>
                  </a:txBody>
                  <a:tcPr marL="73152" marR="73152" marT="27432" marB="27432" anchor="ctr">
                    <a:solidFill>
                      <a:srgbClr val="FFFFFF"/>
                    </a:solidFill>
                  </a:tcPr>
                </a:tc>
                <a:tc>
                  <a:txBody>
                    <a:bodyPr/>
                    <a:lstStyle/>
                    <a:p>
                      <a:pPr algn="r"/>
                      <a:r>
                        <a:rPr sz="1100" b="0">
                          <a:solidFill>
                            <a:srgbClr val="14213D"/>
                          </a:solidFill>
                          <a:latin typeface="Arial"/>
                        </a:rPr>
                        <a:t>6</a:t>
                      </a:r>
                    </a:p>
                  </a:txBody>
                  <a:tcPr marL="73152" marR="73152" marT="27432" marB="27432" anchor="ctr">
                    <a:solidFill>
                      <a:srgbClr val="FFFFFF"/>
                    </a:solidFill>
                  </a:tcPr>
                </a:tc>
                <a:tc>
                  <a:txBody>
                    <a:bodyPr/>
                    <a:lstStyle/>
                    <a:p>
                      <a:pPr algn="r"/>
                      <a:r>
                        <a:rPr sz="1100" b="0">
                          <a:solidFill>
                            <a:srgbClr val="14213D"/>
                          </a:solidFill>
                          <a:latin typeface="Arial"/>
                        </a:rPr>
                        <a:t>$2,597</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extLst>
                  <a:ext uri="{0D108BD9-81ED-4DB2-BD59-A6C34878D82A}">
                    <a16:rowId xmlns:a16="http://schemas.microsoft.com/office/drawing/2014/main" val="10007"/>
                  </a:ext>
                </a:extLst>
              </a:tr>
              <a:tr h="310896">
                <a:tc>
                  <a:txBody>
                    <a:bodyPr/>
                    <a:lstStyle/>
                    <a:p>
                      <a:pPr algn="r"/>
                      <a:r>
                        <a:rPr sz="1100" b="0">
                          <a:solidFill>
                            <a:srgbClr val="14213D"/>
                          </a:solidFill>
                          <a:latin typeface="Arial"/>
                        </a:rPr>
                        <a:t>22</a:t>
                      </a:r>
                    </a:p>
                  </a:txBody>
                  <a:tcPr marL="73152" marR="73152" marT="27432" marB="27432" anchor="ctr">
                    <a:solidFill>
                      <a:srgbClr val="F7F6F2"/>
                    </a:solidFill>
                  </a:tcPr>
                </a:tc>
                <a:tc>
                  <a:txBody>
                    <a:bodyPr/>
                    <a:lstStyle/>
                    <a:p>
                      <a:pPr algn="l"/>
                      <a:r>
                        <a:rPr sz="1100" b="0">
                          <a:solidFill>
                            <a:srgbClr val="14213D"/>
                          </a:solidFill>
                          <a:latin typeface="Arial"/>
                        </a:rPr>
                        <a:t>Facebooks Ads</a:t>
                      </a:r>
                    </a:p>
                  </a:txBody>
                  <a:tcPr marL="73152" marR="73152" marT="27432" marB="27432" anchor="ctr">
                    <a:solidFill>
                      <a:srgbClr val="F7F6F2"/>
                    </a:solidFill>
                  </a:tcPr>
                </a:tc>
                <a:tc>
                  <a:txBody>
                    <a:bodyPr/>
                    <a:lstStyle/>
                    <a:p>
                      <a:pPr algn="l"/>
                      <a:r>
                        <a:rPr sz="1100" b="0">
                          <a:solidFill>
                            <a:srgbClr val="14213D"/>
                          </a:solidFill>
                          <a:latin typeface="Arial"/>
                        </a:rPr>
                        <a:t>Advertising</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tc>
                  <a:txBody>
                    <a:bodyPr/>
                    <a:lstStyle/>
                    <a:p>
                      <a:pPr algn="r"/>
                      <a:r>
                        <a:rPr sz="1100" b="0">
                          <a:solidFill>
                            <a:srgbClr val="14213D"/>
                          </a:solidFill>
                          <a:latin typeface="Arial"/>
                        </a:rPr>
                        <a:t>27</a:t>
                      </a:r>
                    </a:p>
                  </a:txBody>
                  <a:tcPr marL="73152" marR="73152" marT="27432" marB="27432" anchor="ctr">
                    <a:solidFill>
                      <a:srgbClr val="F7F6F2"/>
                    </a:solidFill>
                  </a:tcPr>
                </a:tc>
                <a:tc>
                  <a:txBody>
                    <a:bodyPr/>
                    <a:lstStyle/>
                    <a:p>
                      <a:pPr algn="r"/>
                      <a:r>
                        <a:rPr sz="1100" b="0">
                          <a:solidFill>
                            <a:srgbClr val="14213D"/>
                          </a:solidFill>
                          <a:latin typeface="Arial"/>
                        </a:rPr>
                        <a:t>10</a:t>
                      </a:r>
                    </a:p>
                  </a:txBody>
                  <a:tcPr marL="73152" marR="73152" marT="27432" marB="27432" anchor="ctr">
                    <a:solidFill>
                      <a:srgbClr val="F7F6F2"/>
                    </a:solidFill>
                  </a:tcPr>
                </a:tc>
                <a:tc>
                  <a:txBody>
                    <a:bodyPr/>
                    <a:lstStyle/>
                    <a:p>
                      <a:pPr algn="r"/>
                      <a:r>
                        <a:rPr sz="1100" b="0">
                          <a:solidFill>
                            <a:srgbClr val="14213D"/>
                          </a:solidFill>
                          <a:latin typeface="Arial"/>
                        </a:rPr>
                        <a:t>$2,237</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extLst>
                  <a:ext uri="{0D108BD9-81ED-4DB2-BD59-A6C34878D82A}">
                    <a16:rowId xmlns:a16="http://schemas.microsoft.com/office/drawing/2014/main" val="10008"/>
                  </a:ext>
                </a:extLst>
              </a:tr>
              <a:tr h="310896">
                <a:tc>
                  <a:txBody>
                    <a:bodyPr/>
                    <a:lstStyle/>
                    <a:p>
                      <a:pPr algn="r"/>
                      <a:r>
                        <a:rPr sz="1100" b="0">
                          <a:solidFill>
                            <a:srgbClr val="14213D"/>
                          </a:solidFill>
                          <a:latin typeface="Arial"/>
                        </a:rPr>
                        <a:t>23</a:t>
                      </a:r>
                    </a:p>
                  </a:txBody>
                  <a:tcPr marL="73152" marR="73152" marT="27432" marB="27432" anchor="ctr">
                    <a:solidFill>
                      <a:srgbClr val="FFFFFF"/>
                    </a:solidFill>
                  </a:tcPr>
                </a:tc>
                <a:tc>
                  <a:txBody>
                    <a:bodyPr/>
                    <a:lstStyle/>
                    <a:p>
                      <a:pPr algn="l"/>
                      <a:r>
                        <a:rPr sz="1100" b="0">
                          <a:solidFill>
                            <a:srgbClr val="14213D"/>
                          </a:solidFill>
                          <a:latin typeface="Arial"/>
                        </a:rPr>
                        <a:t>Updated Unsold SMS 9-2024</a:t>
                      </a:r>
                    </a:p>
                  </a:txBody>
                  <a:tcPr marL="73152" marR="73152" marT="27432" marB="27432" anchor="ctr">
                    <a:solidFill>
                      <a:srgbClr val="FFFFFF"/>
                    </a:solidFill>
                  </a:tcPr>
                </a:tc>
                <a:tc>
                  <a:txBody>
                    <a:bodyPr/>
                    <a:lstStyle/>
                    <a:p>
                      <a:pPr algn="l"/>
                      <a:r>
                        <a:rPr sz="1100" b="0">
                          <a:solidFill>
                            <a:srgbClr val="14213D"/>
                          </a:solidFill>
                          <a:latin typeface="Arial"/>
                        </a:rPr>
                        <a:t>Other</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tc>
                  <a:txBody>
                    <a:bodyPr/>
                    <a:lstStyle/>
                    <a:p>
                      <a:pPr algn="r"/>
                      <a:r>
                        <a:rPr sz="1100" b="0">
                          <a:solidFill>
                            <a:srgbClr val="14213D"/>
                          </a:solidFill>
                          <a:latin typeface="Arial"/>
                        </a:rPr>
                        <a:t>11</a:t>
                      </a:r>
                    </a:p>
                  </a:txBody>
                  <a:tcPr marL="73152" marR="73152" marT="27432" marB="27432" anchor="ctr">
                    <a:solidFill>
                      <a:srgbClr val="FFFFFF"/>
                    </a:solidFill>
                  </a:tcPr>
                </a:tc>
                <a:tc>
                  <a:txBody>
                    <a:bodyPr/>
                    <a:lstStyle/>
                    <a:p>
                      <a:pPr algn="r"/>
                      <a:r>
                        <a:rPr sz="1100" b="0">
                          <a:solidFill>
                            <a:srgbClr val="14213D"/>
                          </a:solidFill>
                          <a:latin typeface="Arial"/>
                        </a:rPr>
                        <a:t>1</a:t>
                      </a:r>
                    </a:p>
                  </a:txBody>
                  <a:tcPr marL="73152" marR="73152" marT="27432" marB="27432" anchor="ctr">
                    <a:solidFill>
                      <a:srgbClr val="FFFFFF"/>
                    </a:solidFill>
                  </a:tcPr>
                </a:tc>
                <a:tc>
                  <a:txBody>
                    <a:bodyPr/>
                    <a:lstStyle/>
                    <a:p>
                      <a:pPr algn="r"/>
                      <a:r>
                        <a:rPr sz="1100" b="0">
                          <a:solidFill>
                            <a:srgbClr val="14213D"/>
                          </a:solidFill>
                          <a:latin typeface="Arial"/>
                        </a:rPr>
                        <a:t>$1,871</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extLst>
                  <a:ext uri="{0D108BD9-81ED-4DB2-BD59-A6C34878D82A}">
                    <a16:rowId xmlns:a16="http://schemas.microsoft.com/office/drawing/2014/main" val="10009"/>
                  </a:ext>
                </a:extLst>
              </a:tr>
              <a:tr h="310896">
                <a:tc>
                  <a:txBody>
                    <a:bodyPr/>
                    <a:lstStyle/>
                    <a:p>
                      <a:pPr algn="r"/>
                      <a:r>
                        <a:rPr sz="1100" b="0">
                          <a:solidFill>
                            <a:srgbClr val="14213D"/>
                          </a:solidFill>
                          <a:latin typeface="Arial"/>
                        </a:rPr>
                        <a:t>24</a:t>
                      </a:r>
                    </a:p>
                  </a:txBody>
                  <a:tcPr marL="73152" marR="73152" marT="27432" marB="27432" anchor="ctr">
                    <a:solidFill>
                      <a:srgbClr val="F7F6F2"/>
                    </a:solidFill>
                  </a:tcPr>
                </a:tc>
                <a:tc>
                  <a:txBody>
                    <a:bodyPr/>
                    <a:lstStyle/>
                    <a:p>
                      <a:pPr algn="l"/>
                      <a:r>
                        <a:rPr sz="1100" b="0">
                          <a:solidFill>
                            <a:srgbClr val="14213D"/>
                          </a:solidFill>
                          <a:latin typeface="Arial"/>
                        </a:rPr>
                        <a:t>[Va] [Search] | Brand | mCPC</a:t>
                      </a:r>
                    </a:p>
                  </a:txBody>
                  <a:tcPr marL="73152" marR="73152" marT="27432" marB="27432" anchor="ctr">
                    <a:solidFill>
                      <a:srgbClr val="F7F6F2"/>
                    </a:solidFill>
                  </a:tcPr>
                </a:tc>
                <a:tc>
                  <a:txBody>
                    <a:bodyPr/>
                    <a:lstStyle/>
                    <a:p>
                      <a:pPr algn="l"/>
                      <a:r>
                        <a:rPr sz="1100" b="0">
                          <a:solidFill>
                            <a:srgbClr val="14213D"/>
                          </a:solidFill>
                          <a:latin typeface="Arial"/>
                        </a:rPr>
                        <a:t>Advertising</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tc>
                  <a:txBody>
                    <a:bodyPr/>
                    <a:lstStyle/>
                    <a:p>
                      <a:pPr algn="r"/>
                      <a:r>
                        <a:rPr sz="1100" b="0">
                          <a:solidFill>
                            <a:srgbClr val="14213D"/>
                          </a:solidFill>
                          <a:latin typeface="Arial"/>
                        </a:rPr>
                        <a:t>1</a:t>
                      </a:r>
                    </a:p>
                  </a:txBody>
                  <a:tcPr marL="73152" marR="73152" marT="27432" marB="27432" anchor="ctr">
                    <a:solidFill>
                      <a:srgbClr val="F7F6F2"/>
                    </a:solidFill>
                  </a:tcPr>
                </a:tc>
                <a:tc>
                  <a:txBody>
                    <a:bodyPr/>
                    <a:lstStyle/>
                    <a:p>
                      <a:pPr algn="r"/>
                      <a:r>
                        <a:rPr sz="1100" b="0">
                          <a:solidFill>
                            <a:srgbClr val="14213D"/>
                          </a:solidFill>
                          <a:latin typeface="Arial"/>
                        </a:rPr>
                        <a:t>1</a:t>
                      </a:r>
                    </a:p>
                  </a:txBody>
                  <a:tcPr marL="73152" marR="73152" marT="27432" marB="27432" anchor="ctr">
                    <a:solidFill>
                      <a:srgbClr val="F7F6F2"/>
                    </a:solidFill>
                  </a:tcPr>
                </a:tc>
                <a:tc>
                  <a:txBody>
                    <a:bodyPr/>
                    <a:lstStyle/>
                    <a:p>
                      <a:pPr algn="r"/>
                      <a:r>
                        <a:rPr sz="1100" b="0">
                          <a:solidFill>
                            <a:srgbClr val="14213D"/>
                          </a:solidFill>
                          <a:latin typeface="Arial"/>
                        </a:rPr>
                        <a:t>$1,814</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extLst>
                  <a:ext uri="{0D108BD9-81ED-4DB2-BD59-A6C34878D82A}">
                    <a16:rowId xmlns:a16="http://schemas.microsoft.com/office/drawing/2014/main" val="10010"/>
                  </a:ext>
                </a:extLst>
              </a:tr>
              <a:tr h="310896">
                <a:tc>
                  <a:txBody>
                    <a:bodyPr/>
                    <a:lstStyle/>
                    <a:p>
                      <a:pPr algn="r"/>
                      <a:r>
                        <a:rPr sz="1100" b="0">
                          <a:solidFill>
                            <a:srgbClr val="14213D"/>
                          </a:solidFill>
                          <a:latin typeface="Arial"/>
                        </a:rPr>
                        <a:t>25</a:t>
                      </a:r>
                    </a:p>
                  </a:txBody>
                  <a:tcPr marL="73152" marR="73152" marT="27432" marB="27432" anchor="ctr">
                    <a:solidFill>
                      <a:srgbClr val="FFFFFF"/>
                    </a:solidFill>
                  </a:tcPr>
                </a:tc>
                <a:tc>
                  <a:txBody>
                    <a:bodyPr/>
                    <a:lstStyle/>
                    <a:p>
                      <a:pPr algn="l"/>
                      <a:r>
                        <a:rPr sz="1100" b="0">
                          <a:solidFill>
                            <a:srgbClr val="14213D"/>
                          </a:solidFill>
                          <a:latin typeface="Arial"/>
                        </a:rPr>
                        <a:t>PPC Plumbing</a:t>
                      </a:r>
                    </a:p>
                  </a:txBody>
                  <a:tcPr marL="73152" marR="73152" marT="27432" marB="27432" anchor="ctr">
                    <a:solidFill>
                      <a:srgbClr val="FFFFFF"/>
                    </a:solidFill>
                  </a:tcPr>
                </a:tc>
                <a:tc>
                  <a:txBody>
                    <a:bodyPr/>
                    <a:lstStyle/>
                    <a:p>
                      <a:pPr algn="l"/>
                      <a:r>
                        <a:rPr sz="1100" b="0">
                          <a:solidFill>
                            <a:srgbClr val="14213D"/>
                          </a:solidFill>
                          <a:latin typeface="Arial"/>
                        </a:rPr>
                        <a:t>Advertising</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tc>
                  <a:txBody>
                    <a:bodyPr/>
                    <a:lstStyle/>
                    <a:p>
                      <a:pPr algn="r"/>
                      <a:r>
                        <a:rPr sz="1100" b="0">
                          <a:solidFill>
                            <a:srgbClr val="14213D"/>
                          </a:solidFill>
                          <a:latin typeface="Arial"/>
                        </a:rPr>
                        <a:t>21</a:t>
                      </a:r>
                    </a:p>
                  </a:txBody>
                  <a:tcPr marL="73152" marR="73152" marT="27432" marB="27432" anchor="ctr">
                    <a:solidFill>
                      <a:srgbClr val="FFFFFF"/>
                    </a:solidFill>
                  </a:tcPr>
                </a:tc>
                <a:tc>
                  <a:txBody>
                    <a:bodyPr/>
                    <a:lstStyle/>
                    <a:p>
                      <a:pPr algn="r"/>
                      <a:r>
                        <a:rPr sz="1100" b="0">
                          <a:solidFill>
                            <a:srgbClr val="14213D"/>
                          </a:solidFill>
                          <a:latin typeface="Arial"/>
                        </a:rPr>
                        <a:t>8</a:t>
                      </a:r>
                    </a:p>
                  </a:txBody>
                  <a:tcPr marL="73152" marR="73152" marT="27432" marB="27432" anchor="ctr">
                    <a:solidFill>
                      <a:srgbClr val="FFFFFF"/>
                    </a:solidFill>
                  </a:tcPr>
                </a:tc>
                <a:tc>
                  <a:txBody>
                    <a:bodyPr/>
                    <a:lstStyle/>
                    <a:p>
                      <a:pPr algn="r"/>
                      <a:r>
                        <a:rPr sz="1100" b="0">
                          <a:solidFill>
                            <a:srgbClr val="14213D"/>
                          </a:solidFill>
                          <a:latin typeface="Arial"/>
                        </a:rPr>
                        <a:t>$1,448</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extLst>
                  <a:ext uri="{0D108BD9-81ED-4DB2-BD59-A6C34878D82A}">
                    <a16:rowId xmlns:a16="http://schemas.microsoft.com/office/drawing/2014/main" val="10011"/>
                  </a:ext>
                </a:extLst>
              </a:tr>
              <a:tr h="310896">
                <a:tc>
                  <a:txBody>
                    <a:bodyPr/>
                    <a:lstStyle/>
                    <a:p>
                      <a:pPr algn="r"/>
                      <a:r>
                        <a:rPr sz="1100" b="0">
                          <a:solidFill>
                            <a:srgbClr val="14213D"/>
                          </a:solidFill>
                          <a:latin typeface="Arial"/>
                        </a:rPr>
                        <a:t>26</a:t>
                      </a:r>
                    </a:p>
                  </a:txBody>
                  <a:tcPr marL="73152" marR="73152" marT="27432" marB="27432" anchor="ctr">
                    <a:solidFill>
                      <a:srgbClr val="F7F6F2"/>
                    </a:solidFill>
                  </a:tcPr>
                </a:tc>
                <a:tc>
                  <a:txBody>
                    <a:bodyPr/>
                    <a:lstStyle/>
                    <a:p>
                      <a:pPr algn="l"/>
                      <a:r>
                        <a:rPr sz="1100" b="0">
                          <a:solidFill>
                            <a:srgbClr val="14213D"/>
                          </a:solidFill>
                          <a:latin typeface="Arial"/>
                        </a:rPr>
                        <a:t>(no campaign)</a:t>
                      </a:r>
                    </a:p>
                  </a:txBody>
                  <a:tcPr marL="73152" marR="73152" marT="27432" marB="27432" anchor="ctr">
                    <a:solidFill>
                      <a:srgbClr val="F7F6F2"/>
                    </a:solidFill>
                  </a:tcPr>
                </a:tc>
                <a:tc>
                  <a:txBody>
                    <a:bodyPr/>
                    <a:lstStyle/>
                    <a:p>
                      <a:pPr algn="l"/>
                      <a:r>
                        <a:rPr sz="1100" b="0">
                          <a:solidFill>
                            <a:srgbClr val="14213D"/>
                          </a:solidFill>
                          <a:latin typeface="Arial"/>
                        </a:rPr>
                        <a:t>Other</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tc>
                  <a:txBody>
                    <a:bodyPr/>
                    <a:lstStyle/>
                    <a:p>
                      <a:pPr algn="r"/>
                      <a:r>
                        <a:rPr sz="1100" b="0">
                          <a:solidFill>
                            <a:srgbClr val="14213D"/>
                          </a:solidFill>
                          <a:latin typeface="Arial"/>
                        </a:rPr>
                        <a:t>47</a:t>
                      </a:r>
                    </a:p>
                  </a:txBody>
                  <a:tcPr marL="73152" marR="73152" marT="27432" marB="27432" anchor="ctr">
                    <a:solidFill>
                      <a:srgbClr val="F7F6F2"/>
                    </a:solidFill>
                  </a:tcPr>
                </a:tc>
                <a:tc>
                  <a:txBody>
                    <a:bodyPr/>
                    <a:lstStyle/>
                    <a:p>
                      <a:pPr algn="r"/>
                      <a:r>
                        <a:rPr sz="1100" b="0">
                          <a:solidFill>
                            <a:srgbClr val="14213D"/>
                          </a:solidFill>
                          <a:latin typeface="Arial"/>
                        </a:rPr>
                        <a:t>8</a:t>
                      </a:r>
                    </a:p>
                  </a:txBody>
                  <a:tcPr marL="73152" marR="73152" marT="27432" marB="27432" anchor="ctr">
                    <a:solidFill>
                      <a:srgbClr val="F7F6F2"/>
                    </a:solidFill>
                  </a:tcPr>
                </a:tc>
                <a:tc>
                  <a:txBody>
                    <a:bodyPr/>
                    <a:lstStyle/>
                    <a:p>
                      <a:pPr algn="r"/>
                      <a:r>
                        <a:rPr sz="1100" b="0">
                          <a:solidFill>
                            <a:srgbClr val="14213D"/>
                          </a:solidFill>
                          <a:latin typeface="Arial"/>
                        </a:rPr>
                        <a:t>$1,307</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extLst>
                  <a:ext uri="{0D108BD9-81ED-4DB2-BD59-A6C34878D82A}">
                    <a16:rowId xmlns:a16="http://schemas.microsoft.com/office/drawing/2014/main" val="10012"/>
                  </a:ext>
                </a:extLst>
              </a:tr>
              <a:tr h="310896">
                <a:tc>
                  <a:txBody>
                    <a:bodyPr/>
                    <a:lstStyle/>
                    <a:p>
                      <a:pPr algn="r"/>
                      <a:r>
                        <a:rPr sz="1100" b="0">
                          <a:solidFill>
                            <a:srgbClr val="14213D"/>
                          </a:solidFill>
                          <a:latin typeface="Arial"/>
                        </a:rPr>
                        <a:t>27</a:t>
                      </a:r>
                    </a:p>
                  </a:txBody>
                  <a:tcPr marL="73152" marR="73152" marT="27432" marB="27432" anchor="ctr">
                    <a:solidFill>
                      <a:srgbClr val="FFFFFF"/>
                    </a:solidFill>
                  </a:tcPr>
                </a:tc>
                <a:tc>
                  <a:txBody>
                    <a:bodyPr/>
                    <a:lstStyle/>
                    <a:p>
                      <a:pPr algn="l"/>
                      <a:r>
                        <a:rPr sz="1100" b="0">
                          <a:solidFill>
                            <a:srgbClr val="14213D"/>
                          </a:solidFill>
                          <a:latin typeface="Arial"/>
                        </a:rPr>
                        <a:t>Direct Mail</a:t>
                      </a:r>
                    </a:p>
                  </a:txBody>
                  <a:tcPr marL="73152" marR="73152" marT="27432" marB="27432" anchor="ctr">
                    <a:solidFill>
                      <a:srgbClr val="FFFFFF"/>
                    </a:solidFill>
                  </a:tcPr>
                </a:tc>
                <a:tc>
                  <a:txBody>
                    <a:bodyPr/>
                    <a:lstStyle/>
                    <a:p>
                      <a:pPr algn="l"/>
                      <a:r>
                        <a:rPr sz="1100" b="0">
                          <a:solidFill>
                            <a:srgbClr val="14213D"/>
                          </a:solidFill>
                          <a:latin typeface="Arial"/>
                        </a:rPr>
                        <a:t>Direct Mktg</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tc>
                  <a:txBody>
                    <a:bodyPr/>
                    <a:lstStyle/>
                    <a:p>
                      <a:pPr algn="r"/>
                      <a:r>
                        <a:rPr sz="1100" b="0">
                          <a:solidFill>
                            <a:srgbClr val="14213D"/>
                          </a:solidFill>
                          <a:latin typeface="Arial"/>
                        </a:rPr>
                        <a:t>9</a:t>
                      </a:r>
                    </a:p>
                  </a:txBody>
                  <a:tcPr marL="73152" marR="73152" marT="27432" marB="27432" anchor="ctr">
                    <a:solidFill>
                      <a:srgbClr val="FFFFFF"/>
                    </a:solidFill>
                  </a:tcPr>
                </a:tc>
                <a:tc>
                  <a:txBody>
                    <a:bodyPr/>
                    <a:lstStyle/>
                    <a:p>
                      <a:pPr algn="r"/>
                      <a:r>
                        <a:rPr sz="1100" b="0">
                          <a:solidFill>
                            <a:srgbClr val="14213D"/>
                          </a:solidFill>
                          <a:latin typeface="Arial"/>
                        </a:rPr>
                        <a:t>5</a:t>
                      </a:r>
                    </a:p>
                  </a:txBody>
                  <a:tcPr marL="73152" marR="73152" marT="27432" marB="27432" anchor="ctr">
                    <a:solidFill>
                      <a:srgbClr val="FFFFFF"/>
                    </a:solidFill>
                  </a:tcPr>
                </a:tc>
                <a:tc>
                  <a:txBody>
                    <a:bodyPr/>
                    <a:lstStyle/>
                    <a:p>
                      <a:pPr algn="r"/>
                      <a:r>
                        <a:rPr sz="1100" b="0">
                          <a:solidFill>
                            <a:srgbClr val="14213D"/>
                          </a:solidFill>
                          <a:latin typeface="Arial"/>
                        </a:rPr>
                        <a:t>$1,177</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extLst>
                  <a:ext uri="{0D108BD9-81ED-4DB2-BD59-A6C34878D82A}">
                    <a16:rowId xmlns:a16="http://schemas.microsoft.com/office/drawing/2014/main" val="10013"/>
                  </a:ext>
                </a:extLst>
              </a:tr>
              <a:tr h="310896">
                <a:tc>
                  <a:txBody>
                    <a:bodyPr/>
                    <a:lstStyle/>
                    <a:p>
                      <a:pPr algn="r"/>
                      <a:r>
                        <a:rPr sz="1100" b="0">
                          <a:solidFill>
                            <a:srgbClr val="14213D"/>
                          </a:solidFill>
                          <a:latin typeface="Arial"/>
                        </a:rPr>
                        <a:t>28</a:t>
                      </a:r>
                    </a:p>
                  </a:txBody>
                  <a:tcPr marL="73152" marR="73152" marT="27432" marB="27432" anchor="ctr">
                    <a:solidFill>
                      <a:srgbClr val="F7F6F2"/>
                    </a:solidFill>
                  </a:tcPr>
                </a:tc>
                <a:tc>
                  <a:txBody>
                    <a:bodyPr/>
                    <a:lstStyle/>
                    <a:p>
                      <a:pPr algn="l"/>
                      <a:r>
                        <a:rPr sz="1100" b="0">
                          <a:solidFill>
                            <a:srgbClr val="14213D"/>
                          </a:solidFill>
                          <a:latin typeface="Arial"/>
                        </a:rPr>
                        <a:t>Website</a:t>
                      </a:r>
                    </a:p>
                  </a:txBody>
                  <a:tcPr marL="73152" marR="73152" marT="27432" marB="27432" anchor="ctr">
                    <a:solidFill>
                      <a:srgbClr val="F7F6F2"/>
                    </a:solidFill>
                  </a:tcPr>
                </a:tc>
                <a:tc>
                  <a:txBody>
                    <a:bodyPr/>
                    <a:lstStyle/>
                    <a:p>
                      <a:pPr algn="l"/>
                      <a:r>
                        <a:rPr sz="1100" b="0">
                          <a:solidFill>
                            <a:srgbClr val="14213D"/>
                          </a:solidFill>
                          <a:latin typeface="Arial"/>
                        </a:rPr>
                        <a:t>Organic</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tc>
                  <a:txBody>
                    <a:bodyPr/>
                    <a:lstStyle/>
                    <a:p>
                      <a:pPr algn="r"/>
                      <a:r>
                        <a:rPr sz="1100" b="0">
                          <a:solidFill>
                            <a:srgbClr val="14213D"/>
                          </a:solidFill>
                          <a:latin typeface="Arial"/>
                        </a:rPr>
                        <a:t>2</a:t>
                      </a:r>
                    </a:p>
                  </a:txBody>
                  <a:tcPr marL="73152" marR="73152" marT="27432" marB="27432" anchor="ctr">
                    <a:solidFill>
                      <a:srgbClr val="F7F6F2"/>
                    </a:solidFill>
                  </a:tcPr>
                </a:tc>
                <a:tc>
                  <a:txBody>
                    <a:bodyPr/>
                    <a:lstStyle/>
                    <a:p>
                      <a:pPr algn="r"/>
                      <a:r>
                        <a:rPr sz="1100" b="0">
                          <a:solidFill>
                            <a:srgbClr val="14213D"/>
                          </a:solidFill>
                          <a:latin typeface="Arial"/>
                        </a:rPr>
                        <a:t>2</a:t>
                      </a:r>
                    </a:p>
                  </a:txBody>
                  <a:tcPr marL="73152" marR="73152" marT="27432" marB="27432" anchor="ctr">
                    <a:solidFill>
                      <a:srgbClr val="F7F6F2"/>
                    </a:solidFill>
                  </a:tcPr>
                </a:tc>
                <a:tc>
                  <a:txBody>
                    <a:bodyPr/>
                    <a:lstStyle/>
                    <a:p>
                      <a:pPr algn="r"/>
                      <a:r>
                        <a:rPr sz="1100" b="0">
                          <a:solidFill>
                            <a:srgbClr val="14213D"/>
                          </a:solidFill>
                          <a:latin typeface="Arial"/>
                        </a:rPr>
                        <a:t>$1,174</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extLst>
                  <a:ext uri="{0D108BD9-81ED-4DB2-BD59-A6C34878D82A}">
                    <a16:rowId xmlns:a16="http://schemas.microsoft.com/office/drawing/2014/main" val="1001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itle"/>
          <p:cNvSpPr txBox="1"/>
          <p:nvPr/>
        </p:nvSpPr>
        <p:spPr>
          <a:xfrm>
            <a:off x="548640" y="411480"/>
            <a:ext cx="11094415" cy="822960"/>
          </a:xfrm>
          <a:prstGeom prst="rect">
            <a:avLst/>
          </a:prstGeom>
          <a:noFill/>
        </p:spPr>
        <p:txBody>
          <a:bodyPr wrap="square" lIns="0" tIns="0" rIns="0" bIns="0" anchor="t">
            <a:spAutoFit/>
          </a:bodyPr>
          <a:lstStyle/>
          <a:p>
            <a:pPr algn="l"/>
            <a:r>
              <a:rPr sz="2800" b="1">
                <a:solidFill>
                  <a:srgbClr val="14213D"/>
                </a:solidFill>
                <a:latin typeface="Arial"/>
              </a:rPr>
              <a:t>All campaigns ranked by closed revenue · 29–42</a:t>
            </a:r>
          </a:p>
        </p:txBody>
      </p:sp>
      <p:sp>
        <p:nvSpPr>
          <p:cNvPr id="3" name="Footer"/>
          <p:cNvSpPr txBox="1"/>
          <p:nvPr/>
        </p:nvSpPr>
        <p:spPr>
          <a:xfrm>
            <a:off x="548640" y="6355080"/>
            <a:ext cx="10180015" cy="274320"/>
          </a:xfrm>
          <a:prstGeom prst="rect">
            <a:avLst/>
          </a:prstGeom>
          <a:noFill/>
        </p:spPr>
        <p:txBody>
          <a:bodyPr wrap="square" lIns="0" tIns="0" rIns="0" bIns="0" anchor="t">
            <a:spAutoFit/>
          </a:bodyPr>
          <a:lstStyle/>
          <a:p>
            <a:pPr algn="l"/>
            <a:r>
              <a:rPr sz="1000" b="0">
                <a:solidFill>
                  <a:srgbClr val="5A6478"/>
                </a:solidFill>
                <a:latin typeface="Arial"/>
              </a:rPr>
              <a:t>Source: Searchlight performance-by export · Jan 1 – Oct 23, 2026 · 46 retention, follow-up and Mainline campaigns excluded</a:t>
            </a:r>
          </a:p>
        </p:txBody>
      </p:sp>
      <p:sp>
        <p:nvSpPr>
          <p:cNvPr id="4" name="Page number"/>
          <p:cNvSpPr txBox="1"/>
          <p:nvPr/>
        </p:nvSpPr>
        <p:spPr>
          <a:xfrm>
            <a:off x="11094415" y="6355080"/>
            <a:ext cx="548640" cy="274320"/>
          </a:xfrm>
          <a:prstGeom prst="rect">
            <a:avLst/>
          </a:prstGeom>
          <a:noFill/>
        </p:spPr>
        <p:txBody>
          <a:bodyPr wrap="square" lIns="0" tIns="0" rIns="0" bIns="0" anchor="t">
            <a:spAutoFit/>
          </a:bodyPr>
          <a:lstStyle/>
          <a:p>
            <a:pPr algn="r"/>
            <a:r>
              <a:rPr sz="1000" b="0">
                <a:solidFill>
                  <a:srgbClr val="5A6478"/>
                </a:solidFill>
                <a:latin typeface="Arial"/>
              </a:rPr>
              <a:t>18</a:t>
            </a:r>
          </a:p>
        </p:txBody>
      </p:sp>
      <p:graphicFrame>
        <p:nvGraphicFramePr>
          <p:cNvPr id="5" name="Ranking 29-42"/>
          <p:cNvGraphicFramePr>
            <a:graphicFrameLocks noGrp="1"/>
          </p:cNvGraphicFramePr>
          <p:nvPr/>
        </p:nvGraphicFramePr>
        <p:xfrm>
          <a:off x="548640" y="1234440"/>
          <a:ext cx="11094415" cy="4663440"/>
        </p:xfrm>
        <a:graphic>
          <a:graphicData uri="http://schemas.openxmlformats.org/drawingml/2006/table">
            <a:tbl>
              <a:tblPr firstRow="1">
                <a:tableStyleId>{5C22544A-7EE6-4342-B048-85BDC9FD1C3A}</a:tableStyleId>
              </a:tblPr>
              <a:tblGrid>
                <a:gridCol w="4572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777240">
                  <a:extLst>
                    <a:ext uri="{9D8B030D-6E8A-4147-A177-3AD203B41FA5}">
                      <a16:colId xmlns:a16="http://schemas.microsoft.com/office/drawing/2014/main" val="20005"/>
                    </a:ext>
                  </a:extLst>
                </a:gridCol>
                <a:gridCol w="1188720">
                  <a:extLst>
                    <a:ext uri="{9D8B030D-6E8A-4147-A177-3AD203B41FA5}">
                      <a16:colId xmlns:a16="http://schemas.microsoft.com/office/drawing/2014/main" val="20006"/>
                    </a:ext>
                  </a:extLst>
                </a:gridCol>
                <a:gridCol w="853135">
                  <a:extLst>
                    <a:ext uri="{9D8B030D-6E8A-4147-A177-3AD203B41FA5}">
                      <a16:colId xmlns:a16="http://schemas.microsoft.com/office/drawing/2014/main" val="20007"/>
                    </a:ext>
                  </a:extLst>
                </a:gridCol>
              </a:tblGrid>
              <a:tr h="310896">
                <a:tc>
                  <a:txBody>
                    <a:bodyPr/>
                    <a:lstStyle/>
                    <a:p>
                      <a:pPr algn="r"/>
                      <a:r>
                        <a:rPr sz="1100" b="1">
                          <a:solidFill>
                            <a:srgbClr val="FFFFFF"/>
                          </a:solidFill>
                          <a:latin typeface="Arial"/>
                        </a:rPr>
                        <a:t>#</a:t>
                      </a:r>
                    </a:p>
                  </a:txBody>
                  <a:tcPr marL="73152" marR="73152" marT="27432" marB="27432" anchor="ctr">
                    <a:solidFill>
                      <a:srgbClr val="14213D"/>
                    </a:solidFill>
                  </a:tcPr>
                </a:tc>
                <a:tc>
                  <a:txBody>
                    <a:bodyPr/>
                    <a:lstStyle/>
                    <a:p>
                      <a:pPr algn="l"/>
                      <a:r>
                        <a:rPr sz="1100" b="1">
                          <a:solidFill>
                            <a:srgbClr val="FFFFFF"/>
                          </a:solidFill>
                          <a:latin typeface="Arial"/>
                        </a:rPr>
                        <a:t>Campaign</a:t>
                      </a:r>
                    </a:p>
                  </a:txBody>
                  <a:tcPr marL="73152" marR="73152" marT="27432" marB="27432" anchor="ctr">
                    <a:solidFill>
                      <a:srgbClr val="14213D"/>
                    </a:solidFill>
                  </a:tcPr>
                </a:tc>
                <a:tc>
                  <a:txBody>
                    <a:bodyPr/>
                    <a:lstStyle/>
                    <a:p>
                      <a:pPr algn="l"/>
                      <a:r>
                        <a:rPr sz="1100" b="1">
                          <a:solidFill>
                            <a:srgbClr val="FFFFFF"/>
                          </a:solidFill>
                          <a:latin typeface="Arial"/>
                        </a:rPr>
                        <a:t>Channel</a:t>
                      </a:r>
                    </a:p>
                  </a:txBody>
                  <a:tcPr marL="73152" marR="73152" marT="27432" marB="27432" anchor="ctr">
                    <a:solidFill>
                      <a:srgbClr val="14213D"/>
                    </a:solidFill>
                  </a:tcPr>
                </a:tc>
                <a:tc>
                  <a:txBody>
                    <a:bodyPr/>
                    <a:lstStyle/>
                    <a:p>
                      <a:pPr algn="r"/>
                      <a:r>
                        <a:rPr sz="1100" b="1">
                          <a:solidFill>
                            <a:srgbClr val="FFFFFF"/>
                          </a:solidFill>
                          <a:latin typeface="Arial"/>
                        </a:rPr>
                        <a:t>Spend</a:t>
                      </a:r>
                    </a:p>
                  </a:txBody>
                  <a:tcPr marL="73152" marR="73152" marT="27432" marB="27432" anchor="ctr">
                    <a:solidFill>
                      <a:srgbClr val="14213D"/>
                    </a:solidFill>
                  </a:tcPr>
                </a:tc>
                <a:tc>
                  <a:txBody>
                    <a:bodyPr/>
                    <a:lstStyle/>
                    <a:p>
                      <a:pPr algn="r"/>
                      <a:r>
                        <a:rPr sz="1100" b="1">
                          <a:solidFill>
                            <a:srgbClr val="FFFFFF"/>
                          </a:solidFill>
                          <a:latin typeface="Arial"/>
                        </a:rPr>
                        <a:t>Leads</a:t>
                      </a:r>
                    </a:p>
                  </a:txBody>
                  <a:tcPr marL="73152" marR="73152" marT="27432" marB="27432" anchor="ctr">
                    <a:solidFill>
                      <a:srgbClr val="14213D"/>
                    </a:solidFill>
                  </a:tcPr>
                </a:tc>
                <a:tc>
                  <a:txBody>
                    <a:bodyPr/>
                    <a:lstStyle/>
                    <a:p>
                      <a:pPr algn="r"/>
                      <a:r>
                        <a:rPr sz="1100" b="1">
                          <a:solidFill>
                            <a:srgbClr val="FFFFFF"/>
                          </a:solidFill>
                          <a:latin typeface="Arial"/>
                        </a:rPr>
                        <a:t>Booked</a:t>
                      </a:r>
                    </a:p>
                  </a:txBody>
                  <a:tcPr marL="73152" marR="73152" marT="27432" marB="27432" anchor="ctr">
                    <a:solidFill>
                      <a:srgbClr val="14213D"/>
                    </a:solidFill>
                  </a:tcPr>
                </a:tc>
                <a:tc>
                  <a:txBody>
                    <a:bodyPr/>
                    <a:lstStyle/>
                    <a:p>
                      <a:pPr algn="r"/>
                      <a:r>
                        <a:rPr sz="1100" b="1">
                          <a:solidFill>
                            <a:srgbClr val="FFFFFF"/>
                          </a:solidFill>
                          <a:latin typeface="Arial"/>
                        </a:rPr>
                        <a:t>Closed rev.</a:t>
                      </a:r>
                    </a:p>
                  </a:txBody>
                  <a:tcPr marL="73152" marR="73152" marT="27432" marB="27432" anchor="ctr">
                    <a:solidFill>
                      <a:srgbClr val="14213D"/>
                    </a:solidFill>
                  </a:tcPr>
                </a:tc>
                <a:tc>
                  <a:txBody>
                    <a:bodyPr/>
                    <a:lstStyle/>
                    <a:p>
                      <a:pPr algn="r"/>
                      <a:r>
                        <a:rPr sz="1100" b="1">
                          <a:solidFill>
                            <a:srgbClr val="FFFFFF"/>
                          </a:solidFill>
                          <a:latin typeface="Arial"/>
                        </a:rPr>
                        <a:t>ROAS</a:t>
                      </a:r>
                    </a:p>
                  </a:txBody>
                  <a:tcPr marL="73152" marR="73152" marT="27432" marB="27432" anchor="ctr">
                    <a:solidFill>
                      <a:srgbClr val="14213D"/>
                    </a:solidFill>
                  </a:tcPr>
                </a:tc>
                <a:extLst>
                  <a:ext uri="{0D108BD9-81ED-4DB2-BD59-A6C34878D82A}">
                    <a16:rowId xmlns:a16="http://schemas.microsoft.com/office/drawing/2014/main" val="10000"/>
                  </a:ext>
                </a:extLst>
              </a:tr>
              <a:tr h="310896">
                <a:tc>
                  <a:txBody>
                    <a:bodyPr/>
                    <a:lstStyle/>
                    <a:p>
                      <a:pPr algn="r"/>
                      <a:r>
                        <a:rPr sz="1100" b="0">
                          <a:solidFill>
                            <a:srgbClr val="14213D"/>
                          </a:solidFill>
                          <a:latin typeface="Arial"/>
                        </a:rPr>
                        <a:t>29</a:t>
                      </a:r>
                    </a:p>
                  </a:txBody>
                  <a:tcPr marL="73152" marR="73152" marT="27432" marB="27432" anchor="ctr">
                    <a:solidFill>
                      <a:srgbClr val="FFFFFF"/>
                    </a:solidFill>
                  </a:tcPr>
                </a:tc>
                <a:tc>
                  <a:txBody>
                    <a:bodyPr/>
                    <a:lstStyle/>
                    <a:p>
                      <a:pPr algn="l"/>
                      <a:r>
                        <a:rPr sz="1100" b="0">
                          <a:solidFill>
                            <a:srgbClr val="14213D"/>
                          </a:solidFill>
                          <a:latin typeface="Arial"/>
                        </a:rPr>
                        <a:t>Performance Max - HVAC</a:t>
                      </a:r>
                    </a:p>
                  </a:txBody>
                  <a:tcPr marL="73152" marR="73152" marT="27432" marB="27432" anchor="ctr">
                    <a:solidFill>
                      <a:srgbClr val="FFFFFF"/>
                    </a:solidFill>
                  </a:tcPr>
                </a:tc>
                <a:tc>
                  <a:txBody>
                    <a:bodyPr/>
                    <a:lstStyle/>
                    <a:p>
                      <a:pPr algn="l"/>
                      <a:r>
                        <a:rPr sz="1100" b="0">
                          <a:solidFill>
                            <a:srgbClr val="14213D"/>
                          </a:solidFill>
                          <a:latin typeface="Arial"/>
                        </a:rPr>
                        <a:t>Advertising</a:t>
                      </a:r>
                    </a:p>
                  </a:txBody>
                  <a:tcPr marL="73152" marR="73152" marT="27432" marB="27432" anchor="ctr">
                    <a:solidFill>
                      <a:srgbClr val="FFFFFF"/>
                    </a:solidFill>
                  </a:tcPr>
                </a:tc>
                <a:tc>
                  <a:txBody>
                    <a:bodyPr/>
                    <a:lstStyle/>
                    <a:p>
                      <a:pPr algn="r"/>
                      <a:r>
                        <a:rPr sz="1100" b="0">
                          <a:solidFill>
                            <a:srgbClr val="14213D"/>
                          </a:solidFill>
                          <a:latin typeface="Arial"/>
                        </a:rPr>
                        <a:t>$3,663</a:t>
                      </a:r>
                    </a:p>
                  </a:txBody>
                  <a:tcPr marL="73152" marR="73152" marT="27432" marB="27432" anchor="ctr">
                    <a:solidFill>
                      <a:srgbClr val="FFFFFF"/>
                    </a:solidFill>
                  </a:tcPr>
                </a:tc>
                <a:tc>
                  <a:txBody>
                    <a:bodyPr/>
                    <a:lstStyle/>
                    <a:p>
                      <a:pPr algn="r"/>
                      <a:r>
                        <a:rPr sz="1100" b="0">
                          <a:solidFill>
                            <a:srgbClr val="14213D"/>
                          </a:solidFill>
                          <a:latin typeface="Arial"/>
                        </a:rPr>
                        <a:t>55</a:t>
                      </a:r>
                    </a:p>
                  </a:txBody>
                  <a:tcPr marL="73152" marR="73152" marT="27432" marB="27432" anchor="ctr">
                    <a:solidFill>
                      <a:srgbClr val="FFFFFF"/>
                    </a:solidFill>
                  </a:tcPr>
                </a:tc>
                <a:tc>
                  <a:txBody>
                    <a:bodyPr/>
                    <a:lstStyle/>
                    <a:p>
                      <a:pPr algn="r"/>
                      <a:r>
                        <a:rPr sz="1100" b="0">
                          <a:solidFill>
                            <a:srgbClr val="14213D"/>
                          </a:solidFill>
                          <a:latin typeface="Arial"/>
                        </a:rPr>
                        <a:t>4</a:t>
                      </a:r>
                    </a:p>
                  </a:txBody>
                  <a:tcPr marL="73152" marR="73152" marT="27432" marB="27432" anchor="ctr">
                    <a:solidFill>
                      <a:srgbClr val="FFFFFF"/>
                    </a:solidFill>
                  </a:tcPr>
                </a:tc>
                <a:tc>
                  <a:txBody>
                    <a:bodyPr/>
                    <a:lstStyle/>
                    <a:p>
                      <a:pPr algn="r"/>
                      <a:r>
                        <a:rPr sz="1100" b="0">
                          <a:solidFill>
                            <a:srgbClr val="14213D"/>
                          </a:solidFill>
                          <a:latin typeface="Arial"/>
                        </a:rPr>
                        <a:t>$1,146</a:t>
                      </a:r>
                    </a:p>
                  </a:txBody>
                  <a:tcPr marL="73152" marR="73152" marT="27432" marB="27432" anchor="ctr">
                    <a:solidFill>
                      <a:srgbClr val="FFFFFF"/>
                    </a:solidFill>
                  </a:tcPr>
                </a:tc>
                <a:tc>
                  <a:txBody>
                    <a:bodyPr/>
                    <a:lstStyle/>
                    <a:p>
                      <a:pPr algn="r"/>
                      <a:r>
                        <a:rPr sz="1100" b="0">
                          <a:solidFill>
                            <a:srgbClr val="14213D"/>
                          </a:solidFill>
                          <a:latin typeface="Arial"/>
                        </a:rPr>
                        <a:t>0.31x</a:t>
                      </a:r>
                    </a:p>
                  </a:txBody>
                  <a:tcPr marL="73152" marR="73152" marT="27432" marB="27432" anchor="ctr">
                    <a:solidFill>
                      <a:srgbClr val="FFFFFF"/>
                    </a:solidFill>
                  </a:tcPr>
                </a:tc>
                <a:extLst>
                  <a:ext uri="{0D108BD9-81ED-4DB2-BD59-A6C34878D82A}">
                    <a16:rowId xmlns:a16="http://schemas.microsoft.com/office/drawing/2014/main" val="10001"/>
                  </a:ext>
                </a:extLst>
              </a:tr>
              <a:tr h="310896">
                <a:tc>
                  <a:txBody>
                    <a:bodyPr/>
                    <a:lstStyle/>
                    <a:p>
                      <a:pPr algn="r"/>
                      <a:r>
                        <a:rPr sz="1100" b="0">
                          <a:solidFill>
                            <a:srgbClr val="14213D"/>
                          </a:solidFill>
                          <a:latin typeface="Arial"/>
                        </a:rPr>
                        <a:t>30</a:t>
                      </a:r>
                    </a:p>
                  </a:txBody>
                  <a:tcPr marL="73152" marR="73152" marT="27432" marB="27432" anchor="ctr">
                    <a:solidFill>
                      <a:srgbClr val="F7F6F2"/>
                    </a:solidFill>
                  </a:tcPr>
                </a:tc>
                <a:tc>
                  <a:txBody>
                    <a:bodyPr/>
                    <a:lstStyle/>
                    <a:p>
                      <a:pPr algn="l"/>
                      <a:r>
                        <a:rPr sz="1100" b="0">
                          <a:solidFill>
                            <a:srgbClr val="14213D"/>
                          </a:solidFill>
                          <a:latin typeface="Arial"/>
                        </a:rPr>
                        <a:t>Direct Mail</a:t>
                      </a:r>
                    </a:p>
                  </a:txBody>
                  <a:tcPr marL="73152" marR="73152" marT="27432" marB="27432" anchor="ctr">
                    <a:solidFill>
                      <a:srgbClr val="F7F6F2"/>
                    </a:solidFill>
                  </a:tcPr>
                </a:tc>
                <a:tc>
                  <a:txBody>
                    <a:bodyPr/>
                    <a:lstStyle/>
                    <a:p>
                      <a:pPr algn="l"/>
                      <a:r>
                        <a:rPr sz="1100" b="0">
                          <a:solidFill>
                            <a:srgbClr val="14213D"/>
                          </a:solidFill>
                          <a:latin typeface="Arial"/>
                        </a:rPr>
                        <a:t>Organic</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tc>
                  <a:txBody>
                    <a:bodyPr/>
                    <a:lstStyle/>
                    <a:p>
                      <a:pPr algn="r"/>
                      <a:r>
                        <a:rPr sz="1100" b="0">
                          <a:solidFill>
                            <a:srgbClr val="14213D"/>
                          </a:solidFill>
                          <a:latin typeface="Arial"/>
                        </a:rPr>
                        <a:t>1</a:t>
                      </a:r>
                    </a:p>
                  </a:txBody>
                  <a:tcPr marL="73152" marR="73152" marT="27432" marB="27432" anchor="ctr">
                    <a:solidFill>
                      <a:srgbClr val="F7F6F2"/>
                    </a:solidFill>
                  </a:tcPr>
                </a:tc>
                <a:tc>
                  <a:txBody>
                    <a:bodyPr/>
                    <a:lstStyle/>
                    <a:p>
                      <a:pPr algn="r"/>
                      <a:r>
                        <a:rPr sz="1100" b="0">
                          <a:solidFill>
                            <a:srgbClr val="14213D"/>
                          </a:solidFill>
                          <a:latin typeface="Arial"/>
                        </a:rPr>
                        <a:t>1</a:t>
                      </a:r>
                    </a:p>
                  </a:txBody>
                  <a:tcPr marL="73152" marR="73152" marT="27432" marB="27432" anchor="ctr">
                    <a:solidFill>
                      <a:srgbClr val="F7F6F2"/>
                    </a:solidFill>
                  </a:tcPr>
                </a:tc>
                <a:tc>
                  <a:txBody>
                    <a:bodyPr/>
                    <a:lstStyle/>
                    <a:p>
                      <a:pPr algn="r"/>
                      <a:r>
                        <a:rPr sz="1100" b="0">
                          <a:solidFill>
                            <a:srgbClr val="14213D"/>
                          </a:solidFill>
                          <a:latin typeface="Arial"/>
                        </a:rPr>
                        <a:t>$450</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extLst>
                  <a:ext uri="{0D108BD9-81ED-4DB2-BD59-A6C34878D82A}">
                    <a16:rowId xmlns:a16="http://schemas.microsoft.com/office/drawing/2014/main" val="10002"/>
                  </a:ext>
                </a:extLst>
              </a:tr>
              <a:tr h="310896">
                <a:tc>
                  <a:txBody>
                    <a:bodyPr/>
                    <a:lstStyle/>
                    <a:p>
                      <a:pPr algn="r"/>
                      <a:r>
                        <a:rPr sz="1100" b="0">
                          <a:solidFill>
                            <a:srgbClr val="14213D"/>
                          </a:solidFill>
                          <a:latin typeface="Arial"/>
                        </a:rPr>
                        <a:t>31</a:t>
                      </a:r>
                    </a:p>
                  </a:txBody>
                  <a:tcPr marL="73152" marR="73152" marT="27432" marB="27432" anchor="ctr">
                    <a:solidFill>
                      <a:srgbClr val="FFFFFF"/>
                    </a:solidFill>
                  </a:tcPr>
                </a:tc>
                <a:tc>
                  <a:txBody>
                    <a:bodyPr/>
                    <a:lstStyle/>
                    <a:p>
                      <a:pPr algn="l"/>
                      <a:r>
                        <a:rPr sz="1100" b="0">
                          <a:solidFill>
                            <a:srgbClr val="14213D"/>
                          </a:solidFill>
                          <a:latin typeface="Arial"/>
                        </a:rPr>
                        <a:t>Google Ads Pending Validation</a:t>
                      </a:r>
                    </a:p>
                  </a:txBody>
                  <a:tcPr marL="73152" marR="73152" marT="27432" marB="27432" anchor="ctr">
                    <a:solidFill>
                      <a:srgbClr val="FFFFFF"/>
                    </a:solidFill>
                  </a:tcPr>
                </a:tc>
                <a:tc>
                  <a:txBody>
                    <a:bodyPr/>
                    <a:lstStyle/>
                    <a:p>
                      <a:pPr algn="l"/>
                      <a:r>
                        <a:rPr sz="1100" b="0">
                          <a:solidFill>
                            <a:srgbClr val="14213D"/>
                          </a:solidFill>
                          <a:latin typeface="Arial"/>
                        </a:rPr>
                        <a:t>Advertising</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tc>
                  <a:txBody>
                    <a:bodyPr/>
                    <a:lstStyle/>
                    <a:p>
                      <a:pPr algn="r"/>
                      <a:r>
                        <a:rPr sz="1100" b="0">
                          <a:solidFill>
                            <a:srgbClr val="14213D"/>
                          </a:solidFill>
                          <a:latin typeface="Arial"/>
                        </a:rPr>
                        <a:t>14</a:t>
                      </a:r>
                    </a:p>
                  </a:txBody>
                  <a:tcPr marL="73152" marR="73152" marT="27432" marB="27432" anchor="ctr">
                    <a:solidFill>
                      <a:srgbClr val="FFFFFF"/>
                    </a:solidFill>
                  </a:tcPr>
                </a:tc>
                <a:tc>
                  <a:txBody>
                    <a:bodyPr/>
                    <a:lstStyle/>
                    <a:p>
                      <a:pPr algn="r"/>
                      <a:r>
                        <a:rPr sz="1100" b="0">
                          <a:solidFill>
                            <a:srgbClr val="14213D"/>
                          </a:solidFill>
                          <a:latin typeface="Arial"/>
                        </a:rPr>
                        <a:t>5</a:t>
                      </a:r>
                    </a:p>
                  </a:txBody>
                  <a:tcPr marL="73152" marR="73152" marT="27432" marB="27432" anchor="ctr">
                    <a:solidFill>
                      <a:srgbClr val="FFFFFF"/>
                    </a:solidFill>
                  </a:tcPr>
                </a:tc>
                <a:tc>
                  <a:txBody>
                    <a:bodyPr/>
                    <a:lstStyle/>
                    <a:p>
                      <a:pPr algn="r"/>
                      <a:r>
                        <a:rPr sz="1100" b="0">
                          <a:solidFill>
                            <a:srgbClr val="14213D"/>
                          </a:solidFill>
                          <a:latin typeface="Arial"/>
                        </a:rPr>
                        <a:t>$404</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extLst>
                  <a:ext uri="{0D108BD9-81ED-4DB2-BD59-A6C34878D82A}">
                    <a16:rowId xmlns:a16="http://schemas.microsoft.com/office/drawing/2014/main" val="10003"/>
                  </a:ext>
                </a:extLst>
              </a:tr>
              <a:tr h="310896">
                <a:tc>
                  <a:txBody>
                    <a:bodyPr/>
                    <a:lstStyle/>
                    <a:p>
                      <a:pPr algn="r"/>
                      <a:r>
                        <a:rPr sz="1100" b="0">
                          <a:solidFill>
                            <a:srgbClr val="14213D"/>
                          </a:solidFill>
                          <a:latin typeface="Arial"/>
                        </a:rPr>
                        <a:t>32</a:t>
                      </a:r>
                    </a:p>
                  </a:txBody>
                  <a:tcPr marL="73152" marR="73152" marT="27432" marB="27432" anchor="ctr">
                    <a:solidFill>
                      <a:srgbClr val="F7F6F2"/>
                    </a:solidFill>
                  </a:tcPr>
                </a:tc>
                <a:tc>
                  <a:txBody>
                    <a:bodyPr/>
                    <a:lstStyle/>
                    <a:p>
                      <a:pPr algn="l"/>
                      <a:r>
                        <a:rPr sz="1100" b="0">
                          <a:solidFill>
                            <a:srgbClr val="14213D"/>
                          </a:solidFill>
                          <a:latin typeface="Arial"/>
                        </a:rPr>
                        <a:t>Yahoo Organic</a:t>
                      </a:r>
                    </a:p>
                  </a:txBody>
                  <a:tcPr marL="73152" marR="73152" marT="27432" marB="27432" anchor="ctr">
                    <a:solidFill>
                      <a:srgbClr val="F7F6F2"/>
                    </a:solidFill>
                  </a:tcPr>
                </a:tc>
                <a:tc>
                  <a:txBody>
                    <a:bodyPr/>
                    <a:lstStyle/>
                    <a:p>
                      <a:pPr algn="l"/>
                      <a:r>
                        <a:rPr sz="1100" b="0">
                          <a:solidFill>
                            <a:srgbClr val="14213D"/>
                          </a:solidFill>
                          <a:latin typeface="Arial"/>
                        </a:rPr>
                        <a:t>Organic</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tc>
                  <a:txBody>
                    <a:bodyPr/>
                    <a:lstStyle/>
                    <a:p>
                      <a:pPr algn="r"/>
                      <a:r>
                        <a:rPr sz="1100" b="0">
                          <a:solidFill>
                            <a:srgbClr val="14213D"/>
                          </a:solidFill>
                          <a:latin typeface="Arial"/>
                        </a:rPr>
                        <a:t>10</a:t>
                      </a:r>
                    </a:p>
                  </a:txBody>
                  <a:tcPr marL="73152" marR="73152" marT="27432" marB="27432" anchor="ctr">
                    <a:solidFill>
                      <a:srgbClr val="F7F6F2"/>
                    </a:solidFill>
                  </a:tcPr>
                </a:tc>
                <a:tc>
                  <a:txBody>
                    <a:bodyPr/>
                    <a:lstStyle/>
                    <a:p>
                      <a:pPr algn="r"/>
                      <a:r>
                        <a:rPr sz="1100" b="0">
                          <a:solidFill>
                            <a:srgbClr val="14213D"/>
                          </a:solidFill>
                          <a:latin typeface="Arial"/>
                        </a:rPr>
                        <a:t>2</a:t>
                      </a:r>
                    </a:p>
                  </a:txBody>
                  <a:tcPr marL="73152" marR="73152" marT="27432" marB="27432" anchor="ctr">
                    <a:solidFill>
                      <a:srgbClr val="F7F6F2"/>
                    </a:solidFill>
                  </a:tcPr>
                </a:tc>
                <a:tc>
                  <a:txBody>
                    <a:bodyPr/>
                    <a:lstStyle/>
                    <a:p>
                      <a:pPr algn="r"/>
                      <a:r>
                        <a:rPr sz="1100" b="0">
                          <a:solidFill>
                            <a:srgbClr val="14213D"/>
                          </a:solidFill>
                          <a:latin typeface="Arial"/>
                        </a:rPr>
                        <a:t>$375</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extLst>
                  <a:ext uri="{0D108BD9-81ED-4DB2-BD59-A6C34878D82A}">
                    <a16:rowId xmlns:a16="http://schemas.microsoft.com/office/drawing/2014/main" val="10004"/>
                  </a:ext>
                </a:extLst>
              </a:tr>
              <a:tr h="310896">
                <a:tc>
                  <a:txBody>
                    <a:bodyPr/>
                    <a:lstStyle/>
                    <a:p>
                      <a:pPr algn="r"/>
                      <a:r>
                        <a:rPr sz="1100" b="0">
                          <a:solidFill>
                            <a:srgbClr val="14213D"/>
                          </a:solidFill>
                          <a:latin typeface="Arial"/>
                        </a:rPr>
                        <a:t>33</a:t>
                      </a:r>
                    </a:p>
                  </a:txBody>
                  <a:tcPr marL="73152" marR="73152" marT="27432" marB="27432" anchor="ctr">
                    <a:solidFill>
                      <a:srgbClr val="FFFFFF"/>
                    </a:solidFill>
                  </a:tcPr>
                </a:tc>
                <a:tc>
                  <a:txBody>
                    <a:bodyPr/>
                    <a:lstStyle/>
                    <a:p>
                      <a:pPr algn="l"/>
                      <a:r>
                        <a:rPr sz="1100" b="0">
                          <a:solidFill>
                            <a:srgbClr val="14213D"/>
                          </a:solidFill>
                          <a:latin typeface="Arial"/>
                        </a:rPr>
                        <a:t>Aug 2026 Special | $100 Off Plumbing</a:t>
                      </a:r>
                    </a:p>
                  </a:txBody>
                  <a:tcPr marL="73152" marR="73152" marT="27432" marB="27432" anchor="ctr">
                    <a:solidFill>
                      <a:srgbClr val="FFFFFF"/>
                    </a:solidFill>
                  </a:tcPr>
                </a:tc>
                <a:tc>
                  <a:txBody>
                    <a:bodyPr/>
                    <a:lstStyle/>
                    <a:p>
                      <a:pPr algn="l"/>
                      <a:r>
                        <a:rPr sz="1100" b="0">
                          <a:solidFill>
                            <a:srgbClr val="14213D"/>
                          </a:solidFill>
                          <a:latin typeface="Arial"/>
                        </a:rPr>
                        <a:t>Advertising</a:t>
                      </a:r>
                    </a:p>
                  </a:txBody>
                  <a:tcPr marL="73152" marR="73152" marT="27432" marB="27432" anchor="ctr">
                    <a:solidFill>
                      <a:srgbClr val="FFFFFF"/>
                    </a:solidFill>
                  </a:tcPr>
                </a:tc>
                <a:tc>
                  <a:txBody>
                    <a:bodyPr/>
                    <a:lstStyle/>
                    <a:p>
                      <a:pPr algn="r"/>
                      <a:r>
                        <a:rPr sz="1100" b="0">
                          <a:solidFill>
                            <a:srgbClr val="14213D"/>
                          </a:solidFill>
                          <a:latin typeface="Arial"/>
                        </a:rPr>
                        <a:t>$2,313</a:t>
                      </a:r>
                    </a:p>
                  </a:txBody>
                  <a:tcPr marL="73152" marR="73152" marT="27432" marB="27432" anchor="ctr">
                    <a:solidFill>
                      <a:srgbClr val="FFFFFF"/>
                    </a:solidFill>
                  </a:tcPr>
                </a:tc>
                <a:tc>
                  <a:txBody>
                    <a:bodyPr/>
                    <a:lstStyle/>
                    <a:p>
                      <a:pPr algn="r"/>
                      <a:r>
                        <a:rPr sz="1100" b="0">
                          <a:solidFill>
                            <a:srgbClr val="14213D"/>
                          </a:solidFill>
                          <a:latin typeface="Arial"/>
                        </a:rPr>
                        <a:t>7</a:t>
                      </a:r>
                    </a:p>
                  </a:txBody>
                  <a:tcPr marL="73152" marR="73152" marT="27432" marB="27432" anchor="ctr">
                    <a:solidFill>
                      <a:srgbClr val="FFFFFF"/>
                    </a:solidFill>
                  </a:tcPr>
                </a:tc>
                <a:tc>
                  <a:txBody>
                    <a:bodyPr/>
                    <a:lstStyle/>
                    <a:p>
                      <a:pPr algn="r"/>
                      <a:r>
                        <a:rPr sz="1100" b="0">
                          <a:solidFill>
                            <a:srgbClr val="14213D"/>
                          </a:solidFill>
                          <a:latin typeface="Arial"/>
                        </a:rPr>
                        <a:t>1</a:t>
                      </a:r>
                    </a:p>
                  </a:txBody>
                  <a:tcPr marL="73152" marR="73152" marT="27432" marB="27432" anchor="ctr">
                    <a:solidFill>
                      <a:srgbClr val="FFFFFF"/>
                    </a:solidFill>
                  </a:tcPr>
                </a:tc>
                <a:tc>
                  <a:txBody>
                    <a:bodyPr/>
                    <a:lstStyle/>
                    <a:p>
                      <a:pPr algn="r"/>
                      <a:r>
                        <a:rPr sz="1100" b="0">
                          <a:solidFill>
                            <a:srgbClr val="14213D"/>
                          </a:solidFill>
                          <a:latin typeface="Arial"/>
                        </a:rPr>
                        <a:t>$319</a:t>
                      </a:r>
                    </a:p>
                  </a:txBody>
                  <a:tcPr marL="73152" marR="73152" marT="27432" marB="27432" anchor="ctr">
                    <a:solidFill>
                      <a:srgbClr val="FFFFFF"/>
                    </a:solidFill>
                  </a:tcPr>
                </a:tc>
                <a:tc>
                  <a:txBody>
                    <a:bodyPr/>
                    <a:lstStyle/>
                    <a:p>
                      <a:pPr algn="r"/>
                      <a:r>
                        <a:rPr sz="1100" b="0">
                          <a:solidFill>
                            <a:srgbClr val="14213D"/>
                          </a:solidFill>
                          <a:latin typeface="Arial"/>
                        </a:rPr>
                        <a:t>0.14x</a:t>
                      </a:r>
                    </a:p>
                  </a:txBody>
                  <a:tcPr marL="73152" marR="73152" marT="27432" marB="27432" anchor="ctr">
                    <a:solidFill>
                      <a:srgbClr val="FFFFFF"/>
                    </a:solidFill>
                  </a:tcPr>
                </a:tc>
                <a:extLst>
                  <a:ext uri="{0D108BD9-81ED-4DB2-BD59-A6C34878D82A}">
                    <a16:rowId xmlns:a16="http://schemas.microsoft.com/office/drawing/2014/main" val="10005"/>
                  </a:ext>
                </a:extLst>
              </a:tr>
              <a:tr h="310896">
                <a:tc>
                  <a:txBody>
                    <a:bodyPr/>
                    <a:lstStyle/>
                    <a:p>
                      <a:pPr algn="r"/>
                      <a:r>
                        <a:rPr sz="1100" b="0">
                          <a:solidFill>
                            <a:srgbClr val="14213D"/>
                          </a:solidFill>
                          <a:latin typeface="Arial"/>
                        </a:rPr>
                        <a:t>34</a:t>
                      </a:r>
                    </a:p>
                  </a:txBody>
                  <a:tcPr marL="73152" marR="73152" marT="27432" marB="27432" anchor="ctr">
                    <a:solidFill>
                      <a:srgbClr val="F7F6F2"/>
                    </a:solidFill>
                  </a:tcPr>
                </a:tc>
                <a:tc>
                  <a:txBody>
                    <a:bodyPr/>
                    <a:lstStyle/>
                    <a:p>
                      <a:pPr algn="l"/>
                      <a:r>
                        <a:rPr sz="1100" b="0">
                          <a:solidFill>
                            <a:srgbClr val="14213D"/>
                          </a:solidFill>
                          <a:latin typeface="Arial"/>
                        </a:rPr>
                        <a:t>mapstakeover</a:t>
                      </a:r>
                    </a:p>
                  </a:txBody>
                  <a:tcPr marL="73152" marR="73152" marT="27432" marB="27432" anchor="ctr">
                    <a:solidFill>
                      <a:srgbClr val="F7F6F2"/>
                    </a:solidFill>
                  </a:tcPr>
                </a:tc>
                <a:tc>
                  <a:txBody>
                    <a:bodyPr/>
                    <a:lstStyle/>
                    <a:p>
                      <a:pPr algn="l"/>
                      <a:r>
                        <a:rPr sz="1100" b="0">
                          <a:solidFill>
                            <a:srgbClr val="14213D"/>
                          </a:solidFill>
                          <a:latin typeface="Arial"/>
                        </a:rPr>
                        <a:t>Organic</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tc>
                  <a:txBody>
                    <a:bodyPr/>
                    <a:lstStyle/>
                    <a:p>
                      <a:pPr algn="r"/>
                      <a:r>
                        <a:rPr sz="1100" b="0">
                          <a:solidFill>
                            <a:srgbClr val="14213D"/>
                          </a:solidFill>
                          <a:latin typeface="Arial"/>
                        </a:rPr>
                        <a:t>18</a:t>
                      </a:r>
                    </a:p>
                  </a:txBody>
                  <a:tcPr marL="73152" marR="73152" marT="27432" marB="27432" anchor="ctr">
                    <a:solidFill>
                      <a:srgbClr val="F7F6F2"/>
                    </a:solidFill>
                  </a:tcPr>
                </a:tc>
                <a:tc>
                  <a:txBody>
                    <a:bodyPr/>
                    <a:lstStyle/>
                    <a:p>
                      <a:pPr algn="r"/>
                      <a:r>
                        <a:rPr sz="1100" b="0">
                          <a:solidFill>
                            <a:srgbClr val="14213D"/>
                          </a:solidFill>
                          <a:latin typeface="Arial"/>
                        </a:rPr>
                        <a:t>2</a:t>
                      </a:r>
                    </a:p>
                  </a:txBody>
                  <a:tcPr marL="73152" marR="73152" marT="27432" marB="27432" anchor="ctr">
                    <a:solidFill>
                      <a:srgbClr val="F7F6F2"/>
                    </a:solidFill>
                  </a:tcPr>
                </a:tc>
                <a:tc>
                  <a:txBody>
                    <a:bodyPr/>
                    <a:lstStyle/>
                    <a:p>
                      <a:pPr algn="r"/>
                      <a:r>
                        <a:rPr sz="1100" b="0">
                          <a:solidFill>
                            <a:srgbClr val="14213D"/>
                          </a:solidFill>
                          <a:latin typeface="Arial"/>
                        </a:rPr>
                        <a:t>$99</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extLst>
                  <a:ext uri="{0D108BD9-81ED-4DB2-BD59-A6C34878D82A}">
                    <a16:rowId xmlns:a16="http://schemas.microsoft.com/office/drawing/2014/main" val="10006"/>
                  </a:ext>
                </a:extLst>
              </a:tr>
              <a:tr h="310896">
                <a:tc>
                  <a:txBody>
                    <a:bodyPr/>
                    <a:lstStyle/>
                    <a:p>
                      <a:pPr algn="r"/>
                      <a:r>
                        <a:rPr sz="1100" b="0">
                          <a:solidFill>
                            <a:srgbClr val="14213D"/>
                          </a:solidFill>
                          <a:latin typeface="Arial"/>
                        </a:rPr>
                        <a:t>35</a:t>
                      </a:r>
                    </a:p>
                  </a:txBody>
                  <a:tcPr marL="73152" marR="73152" marT="27432" marB="27432" anchor="ctr">
                    <a:solidFill>
                      <a:srgbClr val="FFFFFF"/>
                    </a:solidFill>
                  </a:tcPr>
                </a:tc>
                <a:tc>
                  <a:txBody>
                    <a:bodyPr/>
                    <a:lstStyle/>
                    <a:p>
                      <a:pPr algn="l"/>
                      <a:r>
                        <a:rPr sz="1100" b="0">
                          <a:solidFill>
                            <a:srgbClr val="14213D"/>
                          </a:solidFill>
                          <a:latin typeface="Arial"/>
                        </a:rPr>
                        <a:t>Promotional Maintenance MailChimp</a:t>
                      </a:r>
                    </a:p>
                  </a:txBody>
                  <a:tcPr marL="73152" marR="73152" marT="27432" marB="27432" anchor="ctr">
                    <a:solidFill>
                      <a:srgbClr val="FFFFFF"/>
                    </a:solidFill>
                  </a:tcPr>
                </a:tc>
                <a:tc>
                  <a:txBody>
                    <a:bodyPr/>
                    <a:lstStyle/>
                    <a:p>
                      <a:pPr algn="l"/>
                      <a:r>
                        <a:rPr sz="1100" b="0">
                          <a:solidFill>
                            <a:srgbClr val="14213D"/>
                          </a:solidFill>
                          <a:latin typeface="Arial"/>
                        </a:rPr>
                        <a:t>Other</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tc>
                  <a:txBody>
                    <a:bodyPr/>
                    <a:lstStyle/>
                    <a:p>
                      <a:pPr algn="r"/>
                      <a:r>
                        <a:rPr sz="1100" b="0">
                          <a:solidFill>
                            <a:srgbClr val="14213D"/>
                          </a:solidFill>
                          <a:latin typeface="Arial"/>
                        </a:rPr>
                        <a:t>151</a:t>
                      </a:r>
                    </a:p>
                  </a:txBody>
                  <a:tcPr marL="73152" marR="73152" marT="27432" marB="27432" anchor="ctr">
                    <a:solidFill>
                      <a:srgbClr val="FFFFFF"/>
                    </a:solidFill>
                  </a:tcPr>
                </a:tc>
                <a:tc>
                  <a:txBody>
                    <a:bodyPr/>
                    <a:lstStyle/>
                    <a:p>
                      <a:pPr algn="r"/>
                      <a:r>
                        <a:rPr sz="1100" b="0">
                          <a:solidFill>
                            <a:srgbClr val="14213D"/>
                          </a:solidFill>
                          <a:latin typeface="Arial"/>
                        </a:rPr>
                        <a:t>0</a:t>
                      </a:r>
                    </a:p>
                  </a:txBody>
                  <a:tcPr marL="73152" marR="73152" marT="27432" marB="27432" anchor="ctr">
                    <a:solidFill>
                      <a:srgbClr val="FFFFFF"/>
                    </a:solidFill>
                  </a:tcPr>
                </a:tc>
                <a:tc>
                  <a:txBody>
                    <a:bodyPr/>
                    <a:lstStyle/>
                    <a:p>
                      <a:pPr algn="r"/>
                      <a:r>
                        <a:rPr sz="1100" b="0">
                          <a:solidFill>
                            <a:srgbClr val="14213D"/>
                          </a:solidFill>
                          <a:latin typeface="Arial"/>
                        </a:rPr>
                        <a:t>$0</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extLst>
                  <a:ext uri="{0D108BD9-81ED-4DB2-BD59-A6C34878D82A}">
                    <a16:rowId xmlns:a16="http://schemas.microsoft.com/office/drawing/2014/main" val="10007"/>
                  </a:ext>
                </a:extLst>
              </a:tr>
              <a:tr h="310896">
                <a:tc>
                  <a:txBody>
                    <a:bodyPr/>
                    <a:lstStyle/>
                    <a:p>
                      <a:pPr algn="r"/>
                      <a:r>
                        <a:rPr sz="1100" b="0">
                          <a:solidFill>
                            <a:srgbClr val="14213D"/>
                          </a:solidFill>
                          <a:latin typeface="Arial"/>
                        </a:rPr>
                        <a:t>36</a:t>
                      </a:r>
                    </a:p>
                  </a:txBody>
                  <a:tcPr marL="73152" marR="73152" marT="27432" marB="27432" anchor="ctr">
                    <a:solidFill>
                      <a:srgbClr val="F7F6F2"/>
                    </a:solidFill>
                  </a:tcPr>
                </a:tc>
                <a:tc>
                  <a:txBody>
                    <a:bodyPr/>
                    <a:lstStyle/>
                    <a:p>
                      <a:pPr algn="l"/>
                      <a:r>
                        <a:rPr sz="1100" b="0">
                          <a:solidFill>
                            <a:srgbClr val="14213D"/>
                          </a:solidFill>
                          <a:latin typeface="Arial"/>
                        </a:rPr>
                        <a:t>August 2026 Special | $100 Off HVAC Repair - Copy</a:t>
                      </a:r>
                    </a:p>
                  </a:txBody>
                  <a:tcPr marL="73152" marR="73152" marT="27432" marB="27432" anchor="ctr">
                    <a:solidFill>
                      <a:srgbClr val="F7F6F2"/>
                    </a:solidFill>
                  </a:tcPr>
                </a:tc>
                <a:tc>
                  <a:txBody>
                    <a:bodyPr/>
                    <a:lstStyle/>
                    <a:p>
                      <a:pPr algn="l"/>
                      <a:r>
                        <a:rPr sz="1100" b="0">
                          <a:solidFill>
                            <a:srgbClr val="14213D"/>
                          </a:solidFill>
                          <a:latin typeface="Arial"/>
                        </a:rPr>
                        <a:t>Advertising</a:t>
                      </a:r>
                    </a:p>
                  </a:txBody>
                  <a:tcPr marL="73152" marR="73152" marT="27432" marB="27432" anchor="ctr">
                    <a:solidFill>
                      <a:srgbClr val="F7F6F2"/>
                    </a:solidFill>
                  </a:tcPr>
                </a:tc>
                <a:tc>
                  <a:txBody>
                    <a:bodyPr/>
                    <a:lstStyle/>
                    <a:p>
                      <a:pPr algn="r"/>
                      <a:r>
                        <a:rPr sz="1100" b="0">
                          <a:solidFill>
                            <a:srgbClr val="14213D"/>
                          </a:solidFill>
                          <a:latin typeface="Arial"/>
                        </a:rPr>
                        <a:t>$5,022</a:t>
                      </a:r>
                    </a:p>
                  </a:txBody>
                  <a:tcPr marL="73152" marR="73152" marT="27432" marB="27432" anchor="ctr">
                    <a:solidFill>
                      <a:srgbClr val="F7F6F2"/>
                    </a:solidFill>
                  </a:tcPr>
                </a:tc>
                <a:tc>
                  <a:txBody>
                    <a:bodyPr/>
                    <a:lstStyle/>
                    <a:p>
                      <a:pPr algn="r"/>
                      <a:r>
                        <a:rPr sz="1100" b="0">
                          <a:solidFill>
                            <a:srgbClr val="14213D"/>
                          </a:solidFill>
                          <a:latin typeface="Arial"/>
                        </a:rPr>
                        <a:t>23</a:t>
                      </a:r>
                    </a:p>
                  </a:txBody>
                  <a:tcPr marL="73152" marR="73152" marT="27432" marB="27432" anchor="ctr">
                    <a:solidFill>
                      <a:srgbClr val="F7F6F2"/>
                    </a:solidFill>
                  </a:tcPr>
                </a:tc>
                <a:tc>
                  <a:txBody>
                    <a:bodyPr/>
                    <a:lstStyle/>
                    <a:p>
                      <a:pPr algn="r"/>
                      <a:r>
                        <a:rPr sz="1100" b="0">
                          <a:solidFill>
                            <a:srgbClr val="14213D"/>
                          </a:solidFill>
                          <a:latin typeface="Arial"/>
                        </a:rPr>
                        <a:t>2</a:t>
                      </a:r>
                    </a:p>
                  </a:txBody>
                  <a:tcPr marL="73152" marR="73152" marT="27432" marB="27432" anchor="ctr">
                    <a:solidFill>
                      <a:srgbClr val="F7F6F2"/>
                    </a:solidFill>
                  </a:tcPr>
                </a:tc>
                <a:tc>
                  <a:txBody>
                    <a:bodyPr/>
                    <a:lstStyle/>
                    <a:p>
                      <a:pPr algn="r"/>
                      <a:r>
                        <a:rPr sz="1100" b="0">
                          <a:solidFill>
                            <a:srgbClr val="14213D"/>
                          </a:solidFill>
                          <a:latin typeface="Arial"/>
                        </a:rPr>
                        <a:t>$0</a:t>
                      </a:r>
                    </a:p>
                  </a:txBody>
                  <a:tcPr marL="73152" marR="73152" marT="27432" marB="27432" anchor="ctr">
                    <a:solidFill>
                      <a:srgbClr val="F7F6F2"/>
                    </a:solidFill>
                  </a:tcPr>
                </a:tc>
                <a:tc>
                  <a:txBody>
                    <a:bodyPr/>
                    <a:lstStyle/>
                    <a:p>
                      <a:pPr algn="r"/>
                      <a:r>
                        <a:rPr sz="1100" b="0">
                          <a:solidFill>
                            <a:srgbClr val="14213D"/>
                          </a:solidFill>
                          <a:latin typeface="Arial"/>
                        </a:rPr>
                        <a:t>0.00x</a:t>
                      </a:r>
                    </a:p>
                  </a:txBody>
                  <a:tcPr marL="73152" marR="73152" marT="27432" marB="27432" anchor="ctr">
                    <a:solidFill>
                      <a:srgbClr val="F7F6F2"/>
                    </a:solidFill>
                  </a:tcPr>
                </a:tc>
                <a:extLst>
                  <a:ext uri="{0D108BD9-81ED-4DB2-BD59-A6C34878D82A}">
                    <a16:rowId xmlns:a16="http://schemas.microsoft.com/office/drawing/2014/main" val="10008"/>
                  </a:ext>
                </a:extLst>
              </a:tr>
              <a:tr h="310896">
                <a:tc>
                  <a:txBody>
                    <a:bodyPr/>
                    <a:lstStyle/>
                    <a:p>
                      <a:pPr algn="r"/>
                      <a:r>
                        <a:rPr sz="1100" b="0">
                          <a:solidFill>
                            <a:srgbClr val="14213D"/>
                          </a:solidFill>
                          <a:latin typeface="Arial"/>
                        </a:rPr>
                        <a:t>37</a:t>
                      </a:r>
                    </a:p>
                  </a:txBody>
                  <a:tcPr marL="73152" marR="73152" marT="27432" marB="27432" anchor="ctr">
                    <a:solidFill>
                      <a:srgbClr val="FFFFFF"/>
                    </a:solidFill>
                  </a:tcPr>
                </a:tc>
                <a:tc>
                  <a:txBody>
                    <a:bodyPr/>
                    <a:lstStyle/>
                    <a:p>
                      <a:pPr algn="l"/>
                      <a:r>
                        <a:rPr sz="1100" b="0">
                          <a:solidFill>
                            <a:srgbClr val="14213D"/>
                          </a:solidFill>
                          <a:latin typeface="Arial"/>
                        </a:rPr>
                        <a:t>Uncategorized</a:t>
                      </a:r>
                    </a:p>
                  </a:txBody>
                  <a:tcPr marL="73152" marR="73152" marT="27432" marB="27432" anchor="ctr">
                    <a:solidFill>
                      <a:srgbClr val="FFFFFF"/>
                    </a:solidFill>
                  </a:tcPr>
                </a:tc>
                <a:tc>
                  <a:txBody>
                    <a:bodyPr/>
                    <a:lstStyle/>
                    <a:p>
                      <a:pPr algn="l"/>
                      <a:r>
                        <a:rPr sz="1100" b="0">
                          <a:solidFill>
                            <a:srgbClr val="14213D"/>
                          </a:solidFill>
                          <a:latin typeface="Arial"/>
                        </a:rPr>
                        <a:t>Organic</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tc>
                  <a:txBody>
                    <a:bodyPr/>
                    <a:lstStyle/>
                    <a:p>
                      <a:pPr algn="r"/>
                      <a:r>
                        <a:rPr sz="1100" b="0">
                          <a:solidFill>
                            <a:srgbClr val="14213D"/>
                          </a:solidFill>
                          <a:latin typeface="Arial"/>
                        </a:rPr>
                        <a:t>10</a:t>
                      </a:r>
                    </a:p>
                  </a:txBody>
                  <a:tcPr marL="73152" marR="73152" marT="27432" marB="27432" anchor="ctr">
                    <a:solidFill>
                      <a:srgbClr val="FFFFFF"/>
                    </a:solidFill>
                  </a:tcPr>
                </a:tc>
                <a:tc>
                  <a:txBody>
                    <a:bodyPr/>
                    <a:lstStyle/>
                    <a:p>
                      <a:pPr algn="r"/>
                      <a:r>
                        <a:rPr sz="1100" b="0">
                          <a:solidFill>
                            <a:srgbClr val="14213D"/>
                          </a:solidFill>
                          <a:latin typeface="Arial"/>
                        </a:rPr>
                        <a:t>1</a:t>
                      </a:r>
                    </a:p>
                  </a:txBody>
                  <a:tcPr marL="73152" marR="73152" marT="27432" marB="27432" anchor="ctr">
                    <a:solidFill>
                      <a:srgbClr val="FFFFFF"/>
                    </a:solidFill>
                  </a:tcPr>
                </a:tc>
                <a:tc>
                  <a:txBody>
                    <a:bodyPr/>
                    <a:lstStyle/>
                    <a:p>
                      <a:pPr algn="r"/>
                      <a:r>
                        <a:rPr sz="1100" b="0">
                          <a:solidFill>
                            <a:srgbClr val="14213D"/>
                          </a:solidFill>
                          <a:latin typeface="Arial"/>
                        </a:rPr>
                        <a:t>$0</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extLst>
                  <a:ext uri="{0D108BD9-81ED-4DB2-BD59-A6C34878D82A}">
                    <a16:rowId xmlns:a16="http://schemas.microsoft.com/office/drawing/2014/main" val="10009"/>
                  </a:ext>
                </a:extLst>
              </a:tr>
              <a:tr h="310896">
                <a:tc>
                  <a:txBody>
                    <a:bodyPr/>
                    <a:lstStyle/>
                    <a:p>
                      <a:pPr algn="r"/>
                      <a:r>
                        <a:rPr sz="1100" b="0">
                          <a:solidFill>
                            <a:srgbClr val="14213D"/>
                          </a:solidFill>
                          <a:latin typeface="Arial"/>
                        </a:rPr>
                        <a:t>38</a:t>
                      </a:r>
                    </a:p>
                  </a:txBody>
                  <a:tcPr marL="73152" marR="73152" marT="27432" marB="27432" anchor="ctr">
                    <a:solidFill>
                      <a:srgbClr val="F7F6F2"/>
                    </a:solidFill>
                  </a:tcPr>
                </a:tc>
                <a:tc>
                  <a:txBody>
                    <a:bodyPr/>
                    <a:lstStyle/>
                    <a:p>
                      <a:pPr algn="l"/>
                      <a:r>
                        <a:rPr sz="1100" b="0">
                          <a:solidFill>
                            <a:srgbClr val="14213D"/>
                          </a:solidFill>
                          <a:latin typeface="Arial"/>
                        </a:rPr>
                        <a:t>DuckDuckGo Organic</a:t>
                      </a:r>
                    </a:p>
                  </a:txBody>
                  <a:tcPr marL="73152" marR="73152" marT="27432" marB="27432" anchor="ctr">
                    <a:solidFill>
                      <a:srgbClr val="F7F6F2"/>
                    </a:solidFill>
                  </a:tcPr>
                </a:tc>
                <a:tc>
                  <a:txBody>
                    <a:bodyPr/>
                    <a:lstStyle/>
                    <a:p>
                      <a:pPr algn="l"/>
                      <a:r>
                        <a:rPr sz="1100" b="0">
                          <a:solidFill>
                            <a:srgbClr val="14213D"/>
                          </a:solidFill>
                          <a:latin typeface="Arial"/>
                        </a:rPr>
                        <a:t>Organic</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tc>
                  <a:txBody>
                    <a:bodyPr/>
                    <a:lstStyle/>
                    <a:p>
                      <a:pPr algn="r"/>
                      <a:r>
                        <a:rPr sz="1100" b="0">
                          <a:solidFill>
                            <a:srgbClr val="14213D"/>
                          </a:solidFill>
                          <a:latin typeface="Arial"/>
                        </a:rPr>
                        <a:t>9</a:t>
                      </a:r>
                    </a:p>
                  </a:txBody>
                  <a:tcPr marL="73152" marR="73152" marT="27432" marB="27432" anchor="ctr">
                    <a:solidFill>
                      <a:srgbClr val="F7F6F2"/>
                    </a:solidFill>
                  </a:tcPr>
                </a:tc>
                <a:tc>
                  <a:txBody>
                    <a:bodyPr/>
                    <a:lstStyle/>
                    <a:p>
                      <a:pPr algn="r"/>
                      <a:r>
                        <a:rPr sz="1100" b="0">
                          <a:solidFill>
                            <a:srgbClr val="14213D"/>
                          </a:solidFill>
                          <a:latin typeface="Arial"/>
                        </a:rPr>
                        <a:t>4</a:t>
                      </a:r>
                    </a:p>
                  </a:txBody>
                  <a:tcPr marL="73152" marR="73152" marT="27432" marB="27432" anchor="ctr">
                    <a:solidFill>
                      <a:srgbClr val="F7F6F2"/>
                    </a:solidFill>
                  </a:tcPr>
                </a:tc>
                <a:tc>
                  <a:txBody>
                    <a:bodyPr/>
                    <a:lstStyle/>
                    <a:p>
                      <a:pPr algn="r"/>
                      <a:r>
                        <a:rPr sz="1100" b="0">
                          <a:solidFill>
                            <a:srgbClr val="14213D"/>
                          </a:solidFill>
                          <a:latin typeface="Arial"/>
                        </a:rPr>
                        <a:t>$0</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extLst>
                  <a:ext uri="{0D108BD9-81ED-4DB2-BD59-A6C34878D82A}">
                    <a16:rowId xmlns:a16="http://schemas.microsoft.com/office/drawing/2014/main" val="10010"/>
                  </a:ext>
                </a:extLst>
              </a:tr>
              <a:tr h="310896">
                <a:tc>
                  <a:txBody>
                    <a:bodyPr/>
                    <a:lstStyle/>
                    <a:p>
                      <a:pPr algn="r"/>
                      <a:r>
                        <a:rPr sz="1100" b="0">
                          <a:solidFill>
                            <a:srgbClr val="14213D"/>
                          </a:solidFill>
                          <a:latin typeface="Arial"/>
                        </a:rPr>
                        <a:t>39</a:t>
                      </a:r>
                    </a:p>
                  </a:txBody>
                  <a:tcPr marL="73152" marR="73152" marT="27432" marB="27432" anchor="ctr">
                    <a:solidFill>
                      <a:srgbClr val="FFFFFF"/>
                    </a:solidFill>
                  </a:tcPr>
                </a:tc>
                <a:tc>
                  <a:txBody>
                    <a:bodyPr/>
                    <a:lstStyle/>
                    <a:p>
                      <a:pPr algn="l"/>
                      <a:r>
                        <a:rPr sz="1100" b="0">
                          <a:solidFill>
                            <a:srgbClr val="14213D"/>
                          </a:solidFill>
                          <a:latin typeface="Arial"/>
                        </a:rPr>
                        <a:t>Spring HVAC Tuneup $79</a:t>
                      </a:r>
                    </a:p>
                  </a:txBody>
                  <a:tcPr marL="73152" marR="73152" marT="27432" marB="27432" anchor="ctr">
                    <a:solidFill>
                      <a:srgbClr val="FFFFFF"/>
                    </a:solidFill>
                  </a:tcPr>
                </a:tc>
                <a:tc>
                  <a:txBody>
                    <a:bodyPr/>
                    <a:lstStyle/>
                    <a:p>
                      <a:pPr algn="l"/>
                      <a:r>
                        <a:rPr sz="1100" b="0">
                          <a:solidFill>
                            <a:srgbClr val="14213D"/>
                          </a:solidFill>
                          <a:latin typeface="Arial"/>
                        </a:rPr>
                        <a:t>Other</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tc>
                  <a:txBody>
                    <a:bodyPr/>
                    <a:lstStyle/>
                    <a:p>
                      <a:pPr algn="r"/>
                      <a:r>
                        <a:rPr sz="1100" b="0">
                          <a:solidFill>
                            <a:srgbClr val="14213D"/>
                          </a:solidFill>
                          <a:latin typeface="Arial"/>
                        </a:rPr>
                        <a:t>8</a:t>
                      </a:r>
                    </a:p>
                  </a:txBody>
                  <a:tcPr marL="73152" marR="73152" marT="27432" marB="27432" anchor="ctr">
                    <a:solidFill>
                      <a:srgbClr val="FFFFFF"/>
                    </a:solidFill>
                  </a:tcPr>
                </a:tc>
                <a:tc>
                  <a:txBody>
                    <a:bodyPr/>
                    <a:lstStyle/>
                    <a:p>
                      <a:pPr algn="r"/>
                      <a:r>
                        <a:rPr sz="1100" b="0">
                          <a:solidFill>
                            <a:srgbClr val="14213D"/>
                          </a:solidFill>
                          <a:latin typeface="Arial"/>
                        </a:rPr>
                        <a:t>0</a:t>
                      </a:r>
                    </a:p>
                  </a:txBody>
                  <a:tcPr marL="73152" marR="73152" marT="27432" marB="27432" anchor="ctr">
                    <a:solidFill>
                      <a:srgbClr val="FFFFFF"/>
                    </a:solidFill>
                  </a:tcPr>
                </a:tc>
                <a:tc>
                  <a:txBody>
                    <a:bodyPr/>
                    <a:lstStyle/>
                    <a:p>
                      <a:pPr algn="r"/>
                      <a:r>
                        <a:rPr sz="1100" b="0">
                          <a:solidFill>
                            <a:srgbClr val="14213D"/>
                          </a:solidFill>
                          <a:latin typeface="Arial"/>
                        </a:rPr>
                        <a:t>$0</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extLst>
                  <a:ext uri="{0D108BD9-81ED-4DB2-BD59-A6C34878D82A}">
                    <a16:rowId xmlns:a16="http://schemas.microsoft.com/office/drawing/2014/main" val="10011"/>
                  </a:ext>
                </a:extLst>
              </a:tr>
              <a:tr h="310896">
                <a:tc>
                  <a:txBody>
                    <a:bodyPr/>
                    <a:lstStyle/>
                    <a:p>
                      <a:pPr algn="r"/>
                      <a:r>
                        <a:rPr sz="1100" b="0">
                          <a:solidFill>
                            <a:srgbClr val="14213D"/>
                          </a:solidFill>
                          <a:latin typeface="Arial"/>
                        </a:rPr>
                        <a:t>40</a:t>
                      </a:r>
                    </a:p>
                  </a:txBody>
                  <a:tcPr marL="73152" marR="73152" marT="27432" marB="27432" anchor="ctr">
                    <a:solidFill>
                      <a:srgbClr val="F7F6F2"/>
                    </a:solidFill>
                  </a:tcPr>
                </a:tc>
                <a:tc>
                  <a:txBody>
                    <a:bodyPr/>
                    <a:lstStyle/>
                    <a:p>
                      <a:pPr algn="l"/>
                      <a:r>
                        <a:rPr sz="1100" b="0">
                          <a:solidFill>
                            <a:srgbClr val="14213D"/>
                          </a:solidFill>
                          <a:latin typeface="Arial"/>
                        </a:rPr>
                        <a:t>Leads Campaign June Offers</a:t>
                      </a:r>
                    </a:p>
                  </a:txBody>
                  <a:tcPr marL="73152" marR="73152" marT="27432" marB="27432" anchor="ctr">
                    <a:solidFill>
                      <a:srgbClr val="F7F6F2"/>
                    </a:solidFill>
                  </a:tcPr>
                </a:tc>
                <a:tc>
                  <a:txBody>
                    <a:bodyPr/>
                    <a:lstStyle/>
                    <a:p>
                      <a:pPr algn="l"/>
                      <a:r>
                        <a:rPr sz="1100" b="0">
                          <a:solidFill>
                            <a:srgbClr val="14213D"/>
                          </a:solidFill>
                          <a:latin typeface="Arial"/>
                        </a:rPr>
                        <a:t>Advertising</a:t>
                      </a:r>
                    </a:p>
                  </a:txBody>
                  <a:tcPr marL="73152" marR="73152" marT="27432" marB="27432" anchor="ctr">
                    <a:solidFill>
                      <a:srgbClr val="F7F6F2"/>
                    </a:solidFill>
                  </a:tcPr>
                </a:tc>
                <a:tc>
                  <a:txBody>
                    <a:bodyPr/>
                    <a:lstStyle/>
                    <a:p>
                      <a:pPr algn="r"/>
                      <a:r>
                        <a:rPr sz="1100" b="0">
                          <a:solidFill>
                            <a:srgbClr val="14213D"/>
                          </a:solidFill>
                          <a:latin typeface="Arial"/>
                        </a:rPr>
                        <a:t>$2,082</a:t>
                      </a:r>
                    </a:p>
                  </a:txBody>
                  <a:tcPr marL="73152" marR="73152" marT="27432" marB="27432" anchor="ctr">
                    <a:solidFill>
                      <a:srgbClr val="F7F6F2"/>
                    </a:solidFill>
                  </a:tcPr>
                </a:tc>
                <a:tc>
                  <a:txBody>
                    <a:bodyPr/>
                    <a:lstStyle/>
                    <a:p>
                      <a:pPr algn="r"/>
                      <a:r>
                        <a:rPr sz="1100" b="0">
                          <a:solidFill>
                            <a:srgbClr val="14213D"/>
                          </a:solidFill>
                          <a:latin typeface="Arial"/>
                        </a:rPr>
                        <a:t>5</a:t>
                      </a:r>
                    </a:p>
                  </a:txBody>
                  <a:tcPr marL="73152" marR="73152" marT="27432" marB="27432" anchor="ctr">
                    <a:solidFill>
                      <a:srgbClr val="F7F6F2"/>
                    </a:solidFill>
                  </a:tcPr>
                </a:tc>
                <a:tc>
                  <a:txBody>
                    <a:bodyPr/>
                    <a:lstStyle/>
                    <a:p>
                      <a:pPr algn="r"/>
                      <a:r>
                        <a:rPr sz="1100" b="0">
                          <a:solidFill>
                            <a:srgbClr val="14213D"/>
                          </a:solidFill>
                          <a:latin typeface="Arial"/>
                        </a:rPr>
                        <a:t>0</a:t>
                      </a:r>
                    </a:p>
                  </a:txBody>
                  <a:tcPr marL="73152" marR="73152" marT="27432" marB="27432" anchor="ctr">
                    <a:solidFill>
                      <a:srgbClr val="F7F6F2"/>
                    </a:solidFill>
                  </a:tcPr>
                </a:tc>
                <a:tc>
                  <a:txBody>
                    <a:bodyPr/>
                    <a:lstStyle/>
                    <a:p>
                      <a:pPr algn="r"/>
                      <a:r>
                        <a:rPr sz="1100" b="0">
                          <a:solidFill>
                            <a:srgbClr val="14213D"/>
                          </a:solidFill>
                          <a:latin typeface="Arial"/>
                        </a:rPr>
                        <a:t>$0</a:t>
                      </a:r>
                    </a:p>
                  </a:txBody>
                  <a:tcPr marL="73152" marR="73152" marT="27432" marB="27432" anchor="ctr">
                    <a:solidFill>
                      <a:srgbClr val="F7F6F2"/>
                    </a:solidFill>
                  </a:tcPr>
                </a:tc>
                <a:tc>
                  <a:txBody>
                    <a:bodyPr/>
                    <a:lstStyle/>
                    <a:p>
                      <a:pPr algn="r"/>
                      <a:r>
                        <a:rPr sz="1100" b="0">
                          <a:solidFill>
                            <a:srgbClr val="14213D"/>
                          </a:solidFill>
                          <a:latin typeface="Arial"/>
                        </a:rPr>
                        <a:t>0.00x</a:t>
                      </a:r>
                    </a:p>
                  </a:txBody>
                  <a:tcPr marL="73152" marR="73152" marT="27432" marB="27432" anchor="ctr">
                    <a:solidFill>
                      <a:srgbClr val="F7F6F2"/>
                    </a:solidFill>
                  </a:tcPr>
                </a:tc>
                <a:extLst>
                  <a:ext uri="{0D108BD9-81ED-4DB2-BD59-A6C34878D82A}">
                    <a16:rowId xmlns:a16="http://schemas.microsoft.com/office/drawing/2014/main" val="10012"/>
                  </a:ext>
                </a:extLst>
              </a:tr>
              <a:tr h="310896">
                <a:tc>
                  <a:txBody>
                    <a:bodyPr/>
                    <a:lstStyle/>
                    <a:p>
                      <a:pPr algn="r"/>
                      <a:r>
                        <a:rPr sz="1100" b="0">
                          <a:solidFill>
                            <a:srgbClr val="14213D"/>
                          </a:solidFill>
                          <a:latin typeface="Arial"/>
                        </a:rPr>
                        <a:t>41</a:t>
                      </a:r>
                    </a:p>
                  </a:txBody>
                  <a:tcPr marL="73152" marR="73152" marT="27432" marB="27432" anchor="ctr">
                    <a:solidFill>
                      <a:srgbClr val="FFFFFF"/>
                    </a:solidFill>
                  </a:tcPr>
                </a:tc>
                <a:tc>
                  <a:txBody>
                    <a:bodyPr/>
                    <a:lstStyle/>
                    <a:p>
                      <a:pPr algn="l"/>
                      <a:r>
                        <a:rPr sz="1100" b="0">
                          <a:solidFill>
                            <a:srgbClr val="14213D"/>
                          </a:solidFill>
                          <a:latin typeface="Arial"/>
                        </a:rPr>
                        <a:t>PDM -  Sept Plumbing Offer</a:t>
                      </a:r>
                    </a:p>
                  </a:txBody>
                  <a:tcPr marL="73152" marR="73152" marT="27432" marB="27432" anchor="ctr">
                    <a:solidFill>
                      <a:srgbClr val="FFFFFF"/>
                    </a:solidFill>
                  </a:tcPr>
                </a:tc>
                <a:tc>
                  <a:txBody>
                    <a:bodyPr/>
                    <a:lstStyle/>
                    <a:p>
                      <a:pPr algn="l"/>
                      <a:r>
                        <a:rPr sz="1100" b="0">
                          <a:solidFill>
                            <a:srgbClr val="14213D"/>
                          </a:solidFill>
                          <a:latin typeface="Arial"/>
                        </a:rPr>
                        <a:t>Advertising</a:t>
                      </a:r>
                    </a:p>
                  </a:txBody>
                  <a:tcPr marL="73152" marR="73152" marT="27432" marB="27432" anchor="ctr">
                    <a:solidFill>
                      <a:srgbClr val="FFFFFF"/>
                    </a:solidFill>
                  </a:tcPr>
                </a:tc>
                <a:tc>
                  <a:txBody>
                    <a:bodyPr/>
                    <a:lstStyle/>
                    <a:p>
                      <a:pPr algn="r"/>
                      <a:r>
                        <a:rPr sz="1100" b="0">
                          <a:solidFill>
                            <a:srgbClr val="14213D"/>
                          </a:solidFill>
                          <a:latin typeface="Arial"/>
                        </a:rPr>
                        <a:t>$828</a:t>
                      </a:r>
                    </a:p>
                  </a:txBody>
                  <a:tcPr marL="73152" marR="73152" marT="27432" marB="27432" anchor="ctr">
                    <a:solidFill>
                      <a:srgbClr val="FFFFFF"/>
                    </a:solidFill>
                  </a:tcPr>
                </a:tc>
                <a:tc>
                  <a:txBody>
                    <a:bodyPr/>
                    <a:lstStyle/>
                    <a:p>
                      <a:pPr algn="r"/>
                      <a:r>
                        <a:rPr sz="1100" b="0">
                          <a:solidFill>
                            <a:srgbClr val="14213D"/>
                          </a:solidFill>
                          <a:latin typeface="Arial"/>
                        </a:rPr>
                        <a:t>5</a:t>
                      </a:r>
                    </a:p>
                  </a:txBody>
                  <a:tcPr marL="73152" marR="73152" marT="27432" marB="27432" anchor="ctr">
                    <a:solidFill>
                      <a:srgbClr val="FFFFFF"/>
                    </a:solidFill>
                  </a:tcPr>
                </a:tc>
                <a:tc>
                  <a:txBody>
                    <a:bodyPr/>
                    <a:lstStyle/>
                    <a:p>
                      <a:pPr algn="r"/>
                      <a:r>
                        <a:rPr sz="1100" b="0">
                          <a:solidFill>
                            <a:srgbClr val="14213D"/>
                          </a:solidFill>
                          <a:latin typeface="Arial"/>
                        </a:rPr>
                        <a:t>0</a:t>
                      </a:r>
                    </a:p>
                  </a:txBody>
                  <a:tcPr marL="73152" marR="73152" marT="27432" marB="27432" anchor="ctr">
                    <a:solidFill>
                      <a:srgbClr val="FFFFFF"/>
                    </a:solidFill>
                  </a:tcPr>
                </a:tc>
                <a:tc>
                  <a:txBody>
                    <a:bodyPr/>
                    <a:lstStyle/>
                    <a:p>
                      <a:pPr algn="r"/>
                      <a:r>
                        <a:rPr sz="1100" b="0">
                          <a:solidFill>
                            <a:srgbClr val="14213D"/>
                          </a:solidFill>
                          <a:latin typeface="Arial"/>
                        </a:rPr>
                        <a:t>$0</a:t>
                      </a:r>
                    </a:p>
                  </a:txBody>
                  <a:tcPr marL="73152" marR="73152" marT="27432" marB="27432" anchor="ctr">
                    <a:solidFill>
                      <a:srgbClr val="FFFFFF"/>
                    </a:solidFill>
                  </a:tcPr>
                </a:tc>
                <a:tc>
                  <a:txBody>
                    <a:bodyPr/>
                    <a:lstStyle/>
                    <a:p>
                      <a:pPr algn="r"/>
                      <a:r>
                        <a:rPr sz="1100" b="0">
                          <a:solidFill>
                            <a:srgbClr val="14213D"/>
                          </a:solidFill>
                          <a:latin typeface="Arial"/>
                        </a:rPr>
                        <a:t>0.00x</a:t>
                      </a:r>
                    </a:p>
                  </a:txBody>
                  <a:tcPr marL="73152" marR="73152" marT="27432" marB="27432" anchor="ctr">
                    <a:solidFill>
                      <a:srgbClr val="FFFFFF"/>
                    </a:solidFill>
                  </a:tcPr>
                </a:tc>
                <a:extLst>
                  <a:ext uri="{0D108BD9-81ED-4DB2-BD59-A6C34878D82A}">
                    <a16:rowId xmlns:a16="http://schemas.microsoft.com/office/drawing/2014/main" val="10013"/>
                  </a:ext>
                </a:extLst>
              </a:tr>
              <a:tr h="310896">
                <a:tc>
                  <a:txBody>
                    <a:bodyPr/>
                    <a:lstStyle/>
                    <a:p>
                      <a:pPr algn="r"/>
                      <a:r>
                        <a:rPr sz="1100" b="0">
                          <a:solidFill>
                            <a:srgbClr val="14213D"/>
                          </a:solidFill>
                          <a:latin typeface="Arial"/>
                        </a:rPr>
                        <a:t>42</a:t>
                      </a:r>
                    </a:p>
                  </a:txBody>
                  <a:tcPr marL="73152" marR="73152" marT="27432" marB="27432" anchor="ctr">
                    <a:solidFill>
                      <a:srgbClr val="F7F6F2"/>
                    </a:solidFill>
                  </a:tcPr>
                </a:tc>
                <a:tc>
                  <a:txBody>
                    <a:bodyPr/>
                    <a:lstStyle/>
                    <a:p>
                      <a:pPr algn="l"/>
                      <a:r>
                        <a:rPr sz="1100" b="0">
                          <a:solidFill>
                            <a:srgbClr val="14213D"/>
                          </a:solidFill>
                          <a:latin typeface="Arial"/>
                        </a:rPr>
                        <a:t>Trane TCS Leads</a:t>
                      </a:r>
                    </a:p>
                  </a:txBody>
                  <a:tcPr marL="73152" marR="73152" marT="27432" marB="27432" anchor="ctr">
                    <a:solidFill>
                      <a:srgbClr val="F7F6F2"/>
                    </a:solidFill>
                  </a:tcPr>
                </a:tc>
                <a:tc>
                  <a:txBody>
                    <a:bodyPr/>
                    <a:lstStyle/>
                    <a:p>
                      <a:pPr algn="l"/>
                      <a:r>
                        <a:rPr sz="1100" b="0">
                          <a:solidFill>
                            <a:srgbClr val="14213D"/>
                          </a:solidFill>
                          <a:latin typeface="Arial"/>
                        </a:rPr>
                        <a:t>Other</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tc>
                  <a:txBody>
                    <a:bodyPr/>
                    <a:lstStyle/>
                    <a:p>
                      <a:pPr algn="r"/>
                      <a:r>
                        <a:rPr sz="1100" b="0">
                          <a:solidFill>
                            <a:srgbClr val="14213D"/>
                          </a:solidFill>
                          <a:latin typeface="Arial"/>
                        </a:rPr>
                        <a:t>5</a:t>
                      </a:r>
                    </a:p>
                  </a:txBody>
                  <a:tcPr marL="73152" marR="73152" marT="27432" marB="27432" anchor="ctr">
                    <a:solidFill>
                      <a:srgbClr val="F7F6F2"/>
                    </a:solidFill>
                  </a:tcPr>
                </a:tc>
                <a:tc>
                  <a:txBody>
                    <a:bodyPr/>
                    <a:lstStyle/>
                    <a:p>
                      <a:pPr algn="r"/>
                      <a:r>
                        <a:rPr sz="1100" b="0">
                          <a:solidFill>
                            <a:srgbClr val="14213D"/>
                          </a:solidFill>
                          <a:latin typeface="Arial"/>
                        </a:rPr>
                        <a:t>0</a:t>
                      </a:r>
                    </a:p>
                  </a:txBody>
                  <a:tcPr marL="73152" marR="73152" marT="27432" marB="27432" anchor="ctr">
                    <a:solidFill>
                      <a:srgbClr val="F7F6F2"/>
                    </a:solidFill>
                  </a:tcPr>
                </a:tc>
                <a:tc>
                  <a:txBody>
                    <a:bodyPr/>
                    <a:lstStyle/>
                    <a:p>
                      <a:pPr algn="r"/>
                      <a:r>
                        <a:rPr sz="1100" b="0">
                          <a:solidFill>
                            <a:srgbClr val="14213D"/>
                          </a:solidFill>
                          <a:latin typeface="Arial"/>
                        </a:rPr>
                        <a:t>$0</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extLst>
                  <a:ext uri="{0D108BD9-81ED-4DB2-BD59-A6C34878D82A}">
                    <a16:rowId xmlns:a16="http://schemas.microsoft.com/office/drawing/2014/main" val="10014"/>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itle"/>
          <p:cNvSpPr txBox="1"/>
          <p:nvPr/>
        </p:nvSpPr>
        <p:spPr>
          <a:xfrm>
            <a:off x="548640" y="411480"/>
            <a:ext cx="11094415" cy="822960"/>
          </a:xfrm>
          <a:prstGeom prst="rect">
            <a:avLst/>
          </a:prstGeom>
          <a:noFill/>
        </p:spPr>
        <p:txBody>
          <a:bodyPr wrap="square" lIns="0" tIns="0" rIns="0" bIns="0" anchor="t">
            <a:spAutoFit/>
          </a:bodyPr>
          <a:lstStyle/>
          <a:p>
            <a:pPr algn="l"/>
            <a:r>
              <a:rPr sz="2800" b="1">
                <a:solidFill>
                  <a:srgbClr val="14213D"/>
                </a:solidFill>
                <a:latin typeface="Arial"/>
              </a:rPr>
              <a:t>All campaigns ranked by closed revenue · 43–56</a:t>
            </a:r>
          </a:p>
        </p:txBody>
      </p:sp>
      <p:sp>
        <p:nvSpPr>
          <p:cNvPr id="3" name="Footer"/>
          <p:cNvSpPr txBox="1"/>
          <p:nvPr/>
        </p:nvSpPr>
        <p:spPr>
          <a:xfrm>
            <a:off x="548640" y="6355080"/>
            <a:ext cx="10180015" cy="274320"/>
          </a:xfrm>
          <a:prstGeom prst="rect">
            <a:avLst/>
          </a:prstGeom>
          <a:noFill/>
        </p:spPr>
        <p:txBody>
          <a:bodyPr wrap="square" lIns="0" tIns="0" rIns="0" bIns="0" anchor="t">
            <a:spAutoFit/>
          </a:bodyPr>
          <a:lstStyle/>
          <a:p>
            <a:pPr algn="l"/>
            <a:r>
              <a:rPr sz="1000" b="0">
                <a:solidFill>
                  <a:srgbClr val="5A6478"/>
                </a:solidFill>
                <a:latin typeface="Arial"/>
              </a:rPr>
              <a:t>Source: Searchlight performance-by export · Jan 1 – Oct 23, 2026 · 46 retention, follow-up and Mainline campaigns excluded</a:t>
            </a:r>
          </a:p>
        </p:txBody>
      </p:sp>
      <p:sp>
        <p:nvSpPr>
          <p:cNvPr id="4" name="Page number"/>
          <p:cNvSpPr txBox="1"/>
          <p:nvPr/>
        </p:nvSpPr>
        <p:spPr>
          <a:xfrm>
            <a:off x="11094415" y="6355080"/>
            <a:ext cx="548640" cy="274320"/>
          </a:xfrm>
          <a:prstGeom prst="rect">
            <a:avLst/>
          </a:prstGeom>
          <a:noFill/>
        </p:spPr>
        <p:txBody>
          <a:bodyPr wrap="square" lIns="0" tIns="0" rIns="0" bIns="0" anchor="t">
            <a:spAutoFit/>
          </a:bodyPr>
          <a:lstStyle/>
          <a:p>
            <a:pPr algn="r"/>
            <a:r>
              <a:rPr sz="1000" b="0">
                <a:solidFill>
                  <a:srgbClr val="5A6478"/>
                </a:solidFill>
                <a:latin typeface="Arial"/>
              </a:rPr>
              <a:t>19</a:t>
            </a:r>
          </a:p>
        </p:txBody>
      </p:sp>
      <p:graphicFrame>
        <p:nvGraphicFramePr>
          <p:cNvPr id="5" name="Ranking 43-56"/>
          <p:cNvGraphicFramePr>
            <a:graphicFrameLocks noGrp="1"/>
          </p:cNvGraphicFramePr>
          <p:nvPr/>
        </p:nvGraphicFramePr>
        <p:xfrm>
          <a:off x="548640" y="1234440"/>
          <a:ext cx="11094415" cy="4992624"/>
        </p:xfrm>
        <a:graphic>
          <a:graphicData uri="http://schemas.openxmlformats.org/drawingml/2006/table">
            <a:tbl>
              <a:tblPr firstRow="1">
                <a:tableStyleId>{5C22544A-7EE6-4342-B048-85BDC9FD1C3A}</a:tableStyleId>
              </a:tblPr>
              <a:tblGrid>
                <a:gridCol w="4572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777240">
                  <a:extLst>
                    <a:ext uri="{9D8B030D-6E8A-4147-A177-3AD203B41FA5}">
                      <a16:colId xmlns:a16="http://schemas.microsoft.com/office/drawing/2014/main" val="20005"/>
                    </a:ext>
                  </a:extLst>
                </a:gridCol>
                <a:gridCol w="1188720">
                  <a:extLst>
                    <a:ext uri="{9D8B030D-6E8A-4147-A177-3AD203B41FA5}">
                      <a16:colId xmlns:a16="http://schemas.microsoft.com/office/drawing/2014/main" val="20006"/>
                    </a:ext>
                  </a:extLst>
                </a:gridCol>
                <a:gridCol w="853135">
                  <a:extLst>
                    <a:ext uri="{9D8B030D-6E8A-4147-A177-3AD203B41FA5}">
                      <a16:colId xmlns:a16="http://schemas.microsoft.com/office/drawing/2014/main" val="20007"/>
                    </a:ext>
                  </a:extLst>
                </a:gridCol>
              </a:tblGrid>
              <a:tr h="310896">
                <a:tc>
                  <a:txBody>
                    <a:bodyPr/>
                    <a:lstStyle/>
                    <a:p>
                      <a:pPr algn="r"/>
                      <a:r>
                        <a:rPr sz="1100" b="1">
                          <a:solidFill>
                            <a:srgbClr val="FFFFFF"/>
                          </a:solidFill>
                          <a:latin typeface="Arial"/>
                        </a:rPr>
                        <a:t>#</a:t>
                      </a:r>
                    </a:p>
                  </a:txBody>
                  <a:tcPr marL="73152" marR="73152" marT="27432" marB="27432" anchor="ctr">
                    <a:solidFill>
                      <a:srgbClr val="14213D"/>
                    </a:solidFill>
                  </a:tcPr>
                </a:tc>
                <a:tc>
                  <a:txBody>
                    <a:bodyPr/>
                    <a:lstStyle/>
                    <a:p>
                      <a:pPr algn="l"/>
                      <a:r>
                        <a:rPr sz="1100" b="1">
                          <a:solidFill>
                            <a:srgbClr val="FFFFFF"/>
                          </a:solidFill>
                          <a:latin typeface="Arial"/>
                        </a:rPr>
                        <a:t>Campaign</a:t>
                      </a:r>
                    </a:p>
                  </a:txBody>
                  <a:tcPr marL="73152" marR="73152" marT="27432" marB="27432" anchor="ctr">
                    <a:solidFill>
                      <a:srgbClr val="14213D"/>
                    </a:solidFill>
                  </a:tcPr>
                </a:tc>
                <a:tc>
                  <a:txBody>
                    <a:bodyPr/>
                    <a:lstStyle/>
                    <a:p>
                      <a:pPr algn="l"/>
                      <a:r>
                        <a:rPr sz="1100" b="1">
                          <a:solidFill>
                            <a:srgbClr val="FFFFFF"/>
                          </a:solidFill>
                          <a:latin typeface="Arial"/>
                        </a:rPr>
                        <a:t>Channel</a:t>
                      </a:r>
                    </a:p>
                  </a:txBody>
                  <a:tcPr marL="73152" marR="73152" marT="27432" marB="27432" anchor="ctr">
                    <a:solidFill>
                      <a:srgbClr val="14213D"/>
                    </a:solidFill>
                  </a:tcPr>
                </a:tc>
                <a:tc>
                  <a:txBody>
                    <a:bodyPr/>
                    <a:lstStyle/>
                    <a:p>
                      <a:pPr algn="r"/>
                      <a:r>
                        <a:rPr sz="1100" b="1">
                          <a:solidFill>
                            <a:srgbClr val="FFFFFF"/>
                          </a:solidFill>
                          <a:latin typeface="Arial"/>
                        </a:rPr>
                        <a:t>Spend</a:t>
                      </a:r>
                    </a:p>
                  </a:txBody>
                  <a:tcPr marL="73152" marR="73152" marT="27432" marB="27432" anchor="ctr">
                    <a:solidFill>
                      <a:srgbClr val="14213D"/>
                    </a:solidFill>
                  </a:tcPr>
                </a:tc>
                <a:tc>
                  <a:txBody>
                    <a:bodyPr/>
                    <a:lstStyle/>
                    <a:p>
                      <a:pPr algn="r"/>
                      <a:r>
                        <a:rPr sz="1100" b="1">
                          <a:solidFill>
                            <a:srgbClr val="FFFFFF"/>
                          </a:solidFill>
                          <a:latin typeface="Arial"/>
                        </a:rPr>
                        <a:t>Leads</a:t>
                      </a:r>
                    </a:p>
                  </a:txBody>
                  <a:tcPr marL="73152" marR="73152" marT="27432" marB="27432" anchor="ctr">
                    <a:solidFill>
                      <a:srgbClr val="14213D"/>
                    </a:solidFill>
                  </a:tcPr>
                </a:tc>
                <a:tc>
                  <a:txBody>
                    <a:bodyPr/>
                    <a:lstStyle/>
                    <a:p>
                      <a:pPr algn="r"/>
                      <a:r>
                        <a:rPr sz="1100" b="1">
                          <a:solidFill>
                            <a:srgbClr val="FFFFFF"/>
                          </a:solidFill>
                          <a:latin typeface="Arial"/>
                        </a:rPr>
                        <a:t>Booked</a:t>
                      </a:r>
                    </a:p>
                  </a:txBody>
                  <a:tcPr marL="73152" marR="73152" marT="27432" marB="27432" anchor="ctr">
                    <a:solidFill>
                      <a:srgbClr val="14213D"/>
                    </a:solidFill>
                  </a:tcPr>
                </a:tc>
                <a:tc>
                  <a:txBody>
                    <a:bodyPr/>
                    <a:lstStyle/>
                    <a:p>
                      <a:pPr algn="r"/>
                      <a:r>
                        <a:rPr sz="1100" b="1">
                          <a:solidFill>
                            <a:srgbClr val="FFFFFF"/>
                          </a:solidFill>
                          <a:latin typeface="Arial"/>
                        </a:rPr>
                        <a:t>Closed rev.</a:t>
                      </a:r>
                    </a:p>
                  </a:txBody>
                  <a:tcPr marL="73152" marR="73152" marT="27432" marB="27432" anchor="ctr">
                    <a:solidFill>
                      <a:srgbClr val="14213D"/>
                    </a:solidFill>
                  </a:tcPr>
                </a:tc>
                <a:tc>
                  <a:txBody>
                    <a:bodyPr/>
                    <a:lstStyle/>
                    <a:p>
                      <a:pPr algn="r"/>
                      <a:r>
                        <a:rPr sz="1100" b="1">
                          <a:solidFill>
                            <a:srgbClr val="FFFFFF"/>
                          </a:solidFill>
                          <a:latin typeface="Arial"/>
                        </a:rPr>
                        <a:t>ROAS</a:t>
                      </a:r>
                    </a:p>
                  </a:txBody>
                  <a:tcPr marL="73152" marR="73152" marT="27432" marB="27432" anchor="ctr">
                    <a:solidFill>
                      <a:srgbClr val="14213D"/>
                    </a:solidFill>
                  </a:tcPr>
                </a:tc>
                <a:extLst>
                  <a:ext uri="{0D108BD9-81ED-4DB2-BD59-A6C34878D82A}">
                    <a16:rowId xmlns:a16="http://schemas.microsoft.com/office/drawing/2014/main" val="10000"/>
                  </a:ext>
                </a:extLst>
              </a:tr>
              <a:tr h="310896">
                <a:tc>
                  <a:txBody>
                    <a:bodyPr/>
                    <a:lstStyle/>
                    <a:p>
                      <a:pPr algn="r"/>
                      <a:r>
                        <a:rPr sz="1100" b="0">
                          <a:solidFill>
                            <a:srgbClr val="14213D"/>
                          </a:solidFill>
                          <a:latin typeface="Arial"/>
                        </a:rPr>
                        <a:t>43</a:t>
                      </a:r>
                    </a:p>
                  </a:txBody>
                  <a:tcPr marL="73152" marR="73152" marT="27432" marB="27432" anchor="ctr">
                    <a:solidFill>
                      <a:srgbClr val="FFFFFF"/>
                    </a:solidFill>
                  </a:tcPr>
                </a:tc>
                <a:tc>
                  <a:txBody>
                    <a:bodyPr/>
                    <a:lstStyle/>
                    <a:p>
                      <a:pPr algn="l"/>
                      <a:r>
                        <a:rPr sz="1100" b="0">
                          <a:solidFill>
                            <a:srgbClr val="14213D"/>
                          </a:solidFill>
                          <a:latin typeface="Arial"/>
                        </a:rPr>
                        <a:t>$99 Winter Tuneup Promo - Unbooked Customers Over 3 years</a:t>
                      </a:r>
                    </a:p>
                  </a:txBody>
                  <a:tcPr marL="73152" marR="73152" marT="27432" marB="27432" anchor="ctr">
                    <a:solidFill>
                      <a:srgbClr val="FFFFFF"/>
                    </a:solidFill>
                  </a:tcPr>
                </a:tc>
                <a:tc>
                  <a:txBody>
                    <a:bodyPr/>
                    <a:lstStyle/>
                    <a:p>
                      <a:pPr algn="l"/>
                      <a:r>
                        <a:rPr sz="1100" b="0">
                          <a:solidFill>
                            <a:srgbClr val="14213D"/>
                          </a:solidFill>
                          <a:latin typeface="Arial"/>
                        </a:rPr>
                        <a:t>Other</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tc>
                  <a:txBody>
                    <a:bodyPr/>
                    <a:lstStyle/>
                    <a:p>
                      <a:pPr algn="r"/>
                      <a:r>
                        <a:rPr sz="1100" b="0">
                          <a:solidFill>
                            <a:srgbClr val="14213D"/>
                          </a:solidFill>
                          <a:latin typeface="Arial"/>
                        </a:rPr>
                        <a:t>5</a:t>
                      </a:r>
                    </a:p>
                  </a:txBody>
                  <a:tcPr marL="73152" marR="73152" marT="27432" marB="27432" anchor="ctr">
                    <a:solidFill>
                      <a:srgbClr val="FFFFFF"/>
                    </a:solidFill>
                  </a:tcPr>
                </a:tc>
                <a:tc>
                  <a:txBody>
                    <a:bodyPr/>
                    <a:lstStyle/>
                    <a:p>
                      <a:pPr algn="r"/>
                      <a:r>
                        <a:rPr sz="1100" b="0">
                          <a:solidFill>
                            <a:srgbClr val="14213D"/>
                          </a:solidFill>
                          <a:latin typeface="Arial"/>
                        </a:rPr>
                        <a:t>0</a:t>
                      </a:r>
                    </a:p>
                  </a:txBody>
                  <a:tcPr marL="73152" marR="73152" marT="27432" marB="27432" anchor="ctr">
                    <a:solidFill>
                      <a:srgbClr val="FFFFFF"/>
                    </a:solidFill>
                  </a:tcPr>
                </a:tc>
                <a:tc>
                  <a:txBody>
                    <a:bodyPr/>
                    <a:lstStyle/>
                    <a:p>
                      <a:pPr algn="r"/>
                      <a:r>
                        <a:rPr sz="1100" b="0">
                          <a:solidFill>
                            <a:srgbClr val="14213D"/>
                          </a:solidFill>
                          <a:latin typeface="Arial"/>
                        </a:rPr>
                        <a:t>$0</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extLst>
                  <a:ext uri="{0D108BD9-81ED-4DB2-BD59-A6C34878D82A}">
                    <a16:rowId xmlns:a16="http://schemas.microsoft.com/office/drawing/2014/main" val="10001"/>
                  </a:ext>
                </a:extLst>
              </a:tr>
              <a:tr h="310896">
                <a:tc>
                  <a:txBody>
                    <a:bodyPr/>
                    <a:lstStyle/>
                    <a:p>
                      <a:pPr algn="r"/>
                      <a:r>
                        <a:rPr sz="1100" b="0">
                          <a:solidFill>
                            <a:srgbClr val="14213D"/>
                          </a:solidFill>
                          <a:latin typeface="Arial"/>
                        </a:rPr>
                        <a:t>44</a:t>
                      </a:r>
                    </a:p>
                  </a:txBody>
                  <a:tcPr marL="73152" marR="73152" marT="27432" marB="27432" anchor="ctr">
                    <a:solidFill>
                      <a:srgbClr val="F7F6F2"/>
                    </a:solidFill>
                  </a:tcPr>
                </a:tc>
                <a:tc>
                  <a:txBody>
                    <a:bodyPr/>
                    <a:lstStyle/>
                    <a:p>
                      <a:pPr algn="l"/>
                      <a:r>
                        <a:rPr sz="1100" b="0">
                          <a:solidFill>
                            <a:srgbClr val="14213D"/>
                          </a:solidFill>
                          <a:latin typeface="Arial"/>
                        </a:rPr>
                        <a:t>test DM</a:t>
                      </a:r>
                    </a:p>
                  </a:txBody>
                  <a:tcPr marL="73152" marR="73152" marT="27432" marB="27432" anchor="ctr">
                    <a:solidFill>
                      <a:srgbClr val="F7F6F2"/>
                    </a:solidFill>
                  </a:tcPr>
                </a:tc>
                <a:tc>
                  <a:txBody>
                    <a:bodyPr/>
                    <a:lstStyle/>
                    <a:p>
                      <a:pPr algn="l"/>
                      <a:r>
                        <a:rPr sz="1100" b="0">
                          <a:solidFill>
                            <a:srgbClr val="14213D"/>
                          </a:solidFill>
                          <a:latin typeface="Arial"/>
                        </a:rPr>
                        <a:t>Other</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tc>
                  <a:txBody>
                    <a:bodyPr/>
                    <a:lstStyle/>
                    <a:p>
                      <a:pPr algn="r"/>
                      <a:r>
                        <a:rPr sz="1100" b="0">
                          <a:solidFill>
                            <a:srgbClr val="14213D"/>
                          </a:solidFill>
                          <a:latin typeface="Arial"/>
                        </a:rPr>
                        <a:t>4</a:t>
                      </a:r>
                    </a:p>
                  </a:txBody>
                  <a:tcPr marL="73152" marR="73152" marT="27432" marB="27432" anchor="ctr">
                    <a:solidFill>
                      <a:srgbClr val="F7F6F2"/>
                    </a:solidFill>
                  </a:tcPr>
                </a:tc>
                <a:tc>
                  <a:txBody>
                    <a:bodyPr/>
                    <a:lstStyle/>
                    <a:p>
                      <a:pPr algn="r"/>
                      <a:r>
                        <a:rPr sz="1100" b="0">
                          <a:solidFill>
                            <a:srgbClr val="14213D"/>
                          </a:solidFill>
                          <a:latin typeface="Arial"/>
                        </a:rPr>
                        <a:t>0</a:t>
                      </a:r>
                    </a:p>
                  </a:txBody>
                  <a:tcPr marL="73152" marR="73152" marT="27432" marB="27432" anchor="ctr">
                    <a:solidFill>
                      <a:srgbClr val="F7F6F2"/>
                    </a:solidFill>
                  </a:tcPr>
                </a:tc>
                <a:tc>
                  <a:txBody>
                    <a:bodyPr/>
                    <a:lstStyle/>
                    <a:p>
                      <a:pPr algn="r"/>
                      <a:r>
                        <a:rPr sz="1100" b="0">
                          <a:solidFill>
                            <a:srgbClr val="14213D"/>
                          </a:solidFill>
                          <a:latin typeface="Arial"/>
                        </a:rPr>
                        <a:t>$0</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extLst>
                  <a:ext uri="{0D108BD9-81ED-4DB2-BD59-A6C34878D82A}">
                    <a16:rowId xmlns:a16="http://schemas.microsoft.com/office/drawing/2014/main" val="10002"/>
                  </a:ext>
                </a:extLst>
              </a:tr>
              <a:tr h="310896">
                <a:tc>
                  <a:txBody>
                    <a:bodyPr/>
                    <a:lstStyle/>
                    <a:p>
                      <a:pPr algn="r"/>
                      <a:r>
                        <a:rPr sz="1100" b="0">
                          <a:solidFill>
                            <a:srgbClr val="14213D"/>
                          </a:solidFill>
                          <a:latin typeface="Arial"/>
                        </a:rPr>
                        <a:t>45</a:t>
                      </a:r>
                    </a:p>
                  </a:txBody>
                  <a:tcPr marL="73152" marR="73152" marT="27432" marB="27432" anchor="ctr">
                    <a:solidFill>
                      <a:srgbClr val="FFFFFF"/>
                    </a:solidFill>
                  </a:tcPr>
                </a:tc>
                <a:tc>
                  <a:txBody>
                    <a:bodyPr/>
                    <a:lstStyle/>
                    <a:p>
                      <a:pPr algn="l"/>
                      <a:r>
                        <a:rPr sz="1100" b="0">
                          <a:solidFill>
                            <a:srgbClr val="14213D"/>
                          </a:solidFill>
                          <a:latin typeface="Arial"/>
                        </a:rPr>
                        <a:t>(no campaign)</a:t>
                      </a:r>
                    </a:p>
                  </a:txBody>
                  <a:tcPr marL="73152" marR="73152" marT="27432" marB="27432" anchor="ctr">
                    <a:solidFill>
                      <a:srgbClr val="FFFFFF"/>
                    </a:solidFill>
                  </a:tcPr>
                </a:tc>
                <a:tc>
                  <a:txBody>
                    <a:bodyPr/>
                    <a:lstStyle/>
                    <a:p>
                      <a:pPr algn="l"/>
                      <a:r>
                        <a:rPr sz="1100" b="0">
                          <a:solidFill>
                            <a:srgbClr val="14213D"/>
                          </a:solidFill>
                          <a:latin typeface="Arial"/>
                        </a:rPr>
                        <a:t>AI</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tc>
                  <a:txBody>
                    <a:bodyPr/>
                    <a:lstStyle/>
                    <a:p>
                      <a:pPr algn="r"/>
                      <a:r>
                        <a:rPr sz="1100" b="0">
                          <a:solidFill>
                            <a:srgbClr val="14213D"/>
                          </a:solidFill>
                          <a:latin typeface="Arial"/>
                        </a:rPr>
                        <a:t>4</a:t>
                      </a:r>
                    </a:p>
                  </a:txBody>
                  <a:tcPr marL="73152" marR="73152" marT="27432" marB="27432" anchor="ctr">
                    <a:solidFill>
                      <a:srgbClr val="FFFFFF"/>
                    </a:solidFill>
                  </a:tcPr>
                </a:tc>
                <a:tc>
                  <a:txBody>
                    <a:bodyPr/>
                    <a:lstStyle/>
                    <a:p>
                      <a:pPr algn="r"/>
                      <a:r>
                        <a:rPr sz="1100" b="0">
                          <a:solidFill>
                            <a:srgbClr val="14213D"/>
                          </a:solidFill>
                          <a:latin typeface="Arial"/>
                        </a:rPr>
                        <a:t>1</a:t>
                      </a:r>
                    </a:p>
                  </a:txBody>
                  <a:tcPr marL="73152" marR="73152" marT="27432" marB="27432" anchor="ctr">
                    <a:solidFill>
                      <a:srgbClr val="FFFFFF"/>
                    </a:solidFill>
                  </a:tcPr>
                </a:tc>
                <a:tc>
                  <a:txBody>
                    <a:bodyPr/>
                    <a:lstStyle/>
                    <a:p>
                      <a:pPr algn="r"/>
                      <a:r>
                        <a:rPr sz="1100" b="0">
                          <a:solidFill>
                            <a:srgbClr val="14213D"/>
                          </a:solidFill>
                          <a:latin typeface="Arial"/>
                        </a:rPr>
                        <a:t>$0</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extLst>
                  <a:ext uri="{0D108BD9-81ED-4DB2-BD59-A6C34878D82A}">
                    <a16:rowId xmlns:a16="http://schemas.microsoft.com/office/drawing/2014/main" val="10003"/>
                  </a:ext>
                </a:extLst>
              </a:tr>
              <a:tr h="310896">
                <a:tc>
                  <a:txBody>
                    <a:bodyPr/>
                    <a:lstStyle/>
                    <a:p>
                      <a:pPr algn="r"/>
                      <a:r>
                        <a:rPr sz="1100" b="0">
                          <a:solidFill>
                            <a:srgbClr val="14213D"/>
                          </a:solidFill>
                          <a:latin typeface="Arial"/>
                        </a:rPr>
                        <a:t>46</a:t>
                      </a:r>
                    </a:p>
                  </a:txBody>
                  <a:tcPr marL="73152" marR="73152" marT="27432" marB="27432" anchor="ctr">
                    <a:solidFill>
                      <a:srgbClr val="F7F6F2"/>
                    </a:solidFill>
                  </a:tcPr>
                </a:tc>
                <a:tc>
                  <a:txBody>
                    <a:bodyPr/>
                    <a:lstStyle/>
                    <a:p>
                      <a:pPr algn="l"/>
                      <a:r>
                        <a:rPr sz="1100" b="0">
                          <a:solidFill>
                            <a:srgbClr val="14213D"/>
                          </a:solidFill>
                          <a:latin typeface="Arial"/>
                        </a:rPr>
                        <a:t>PPC Google Brand</a:t>
                      </a:r>
                    </a:p>
                  </a:txBody>
                  <a:tcPr marL="73152" marR="73152" marT="27432" marB="27432" anchor="ctr">
                    <a:solidFill>
                      <a:srgbClr val="F7F6F2"/>
                    </a:solidFill>
                  </a:tcPr>
                </a:tc>
                <a:tc>
                  <a:txBody>
                    <a:bodyPr/>
                    <a:lstStyle/>
                    <a:p>
                      <a:pPr algn="l"/>
                      <a:r>
                        <a:rPr sz="1100" b="0">
                          <a:solidFill>
                            <a:srgbClr val="14213D"/>
                          </a:solidFill>
                          <a:latin typeface="Arial"/>
                        </a:rPr>
                        <a:t>Advertising</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tc>
                  <a:txBody>
                    <a:bodyPr/>
                    <a:lstStyle/>
                    <a:p>
                      <a:pPr algn="r"/>
                      <a:r>
                        <a:rPr sz="1100" b="0">
                          <a:solidFill>
                            <a:srgbClr val="14213D"/>
                          </a:solidFill>
                          <a:latin typeface="Arial"/>
                        </a:rPr>
                        <a:t>3</a:t>
                      </a:r>
                    </a:p>
                  </a:txBody>
                  <a:tcPr marL="73152" marR="73152" marT="27432" marB="27432" anchor="ctr">
                    <a:solidFill>
                      <a:srgbClr val="F7F6F2"/>
                    </a:solidFill>
                  </a:tcPr>
                </a:tc>
                <a:tc>
                  <a:txBody>
                    <a:bodyPr/>
                    <a:lstStyle/>
                    <a:p>
                      <a:pPr algn="r"/>
                      <a:r>
                        <a:rPr sz="1100" b="0">
                          <a:solidFill>
                            <a:srgbClr val="14213D"/>
                          </a:solidFill>
                          <a:latin typeface="Arial"/>
                        </a:rPr>
                        <a:t>0</a:t>
                      </a:r>
                    </a:p>
                  </a:txBody>
                  <a:tcPr marL="73152" marR="73152" marT="27432" marB="27432" anchor="ctr">
                    <a:solidFill>
                      <a:srgbClr val="F7F6F2"/>
                    </a:solidFill>
                  </a:tcPr>
                </a:tc>
                <a:tc>
                  <a:txBody>
                    <a:bodyPr/>
                    <a:lstStyle/>
                    <a:p>
                      <a:pPr algn="r"/>
                      <a:r>
                        <a:rPr sz="1100" b="0">
                          <a:solidFill>
                            <a:srgbClr val="14213D"/>
                          </a:solidFill>
                          <a:latin typeface="Arial"/>
                        </a:rPr>
                        <a:t>$0</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extLst>
                  <a:ext uri="{0D108BD9-81ED-4DB2-BD59-A6C34878D82A}">
                    <a16:rowId xmlns:a16="http://schemas.microsoft.com/office/drawing/2014/main" val="10004"/>
                  </a:ext>
                </a:extLst>
              </a:tr>
              <a:tr h="310896">
                <a:tc>
                  <a:txBody>
                    <a:bodyPr/>
                    <a:lstStyle/>
                    <a:p>
                      <a:pPr algn="r"/>
                      <a:r>
                        <a:rPr sz="1100" b="0">
                          <a:solidFill>
                            <a:srgbClr val="14213D"/>
                          </a:solidFill>
                          <a:latin typeface="Arial"/>
                        </a:rPr>
                        <a:t>47</a:t>
                      </a:r>
                    </a:p>
                  </a:txBody>
                  <a:tcPr marL="73152" marR="73152" marT="27432" marB="27432" anchor="ctr">
                    <a:solidFill>
                      <a:srgbClr val="FFFFFF"/>
                    </a:solidFill>
                  </a:tcPr>
                </a:tc>
                <a:tc>
                  <a:txBody>
                    <a:bodyPr/>
                    <a:lstStyle/>
                    <a:p>
                      <a:pPr algn="l"/>
                      <a:r>
                        <a:rPr sz="1100" b="0">
                          <a:solidFill>
                            <a:srgbClr val="14213D"/>
                          </a:solidFill>
                          <a:latin typeface="Arial"/>
                        </a:rPr>
                        <a:t>$99 Winter Tuneup Promo Charleston</a:t>
                      </a:r>
                    </a:p>
                  </a:txBody>
                  <a:tcPr marL="73152" marR="73152" marT="27432" marB="27432" anchor="ctr">
                    <a:solidFill>
                      <a:srgbClr val="FFFFFF"/>
                    </a:solidFill>
                  </a:tcPr>
                </a:tc>
                <a:tc>
                  <a:txBody>
                    <a:bodyPr/>
                    <a:lstStyle/>
                    <a:p>
                      <a:pPr algn="l"/>
                      <a:r>
                        <a:rPr sz="1100" b="0">
                          <a:solidFill>
                            <a:srgbClr val="14213D"/>
                          </a:solidFill>
                          <a:latin typeface="Arial"/>
                        </a:rPr>
                        <a:t>Other</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tc>
                  <a:txBody>
                    <a:bodyPr/>
                    <a:lstStyle/>
                    <a:p>
                      <a:pPr algn="r"/>
                      <a:r>
                        <a:rPr sz="1100" b="0">
                          <a:solidFill>
                            <a:srgbClr val="14213D"/>
                          </a:solidFill>
                          <a:latin typeface="Arial"/>
                        </a:rPr>
                        <a:t>3</a:t>
                      </a:r>
                    </a:p>
                  </a:txBody>
                  <a:tcPr marL="73152" marR="73152" marT="27432" marB="27432" anchor="ctr">
                    <a:solidFill>
                      <a:srgbClr val="FFFFFF"/>
                    </a:solidFill>
                  </a:tcPr>
                </a:tc>
                <a:tc>
                  <a:txBody>
                    <a:bodyPr/>
                    <a:lstStyle/>
                    <a:p>
                      <a:pPr algn="r"/>
                      <a:r>
                        <a:rPr sz="1100" b="0">
                          <a:solidFill>
                            <a:srgbClr val="14213D"/>
                          </a:solidFill>
                          <a:latin typeface="Arial"/>
                        </a:rPr>
                        <a:t>0</a:t>
                      </a:r>
                    </a:p>
                  </a:txBody>
                  <a:tcPr marL="73152" marR="73152" marT="27432" marB="27432" anchor="ctr">
                    <a:solidFill>
                      <a:srgbClr val="FFFFFF"/>
                    </a:solidFill>
                  </a:tcPr>
                </a:tc>
                <a:tc>
                  <a:txBody>
                    <a:bodyPr/>
                    <a:lstStyle/>
                    <a:p>
                      <a:pPr algn="r"/>
                      <a:r>
                        <a:rPr sz="1100" b="0">
                          <a:solidFill>
                            <a:srgbClr val="14213D"/>
                          </a:solidFill>
                          <a:latin typeface="Arial"/>
                        </a:rPr>
                        <a:t>$0</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extLst>
                  <a:ext uri="{0D108BD9-81ED-4DB2-BD59-A6C34878D82A}">
                    <a16:rowId xmlns:a16="http://schemas.microsoft.com/office/drawing/2014/main" val="10005"/>
                  </a:ext>
                </a:extLst>
              </a:tr>
              <a:tr h="310896">
                <a:tc>
                  <a:txBody>
                    <a:bodyPr/>
                    <a:lstStyle/>
                    <a:p>
                      <a:pPr algn="r"/>
                      <a:r>
                        <a:rPr sz="1100" b="0">
                          <a:solidFill>
                            <a:srgbClr val="14213D"/>
                          </a:solidFill>
                          <a:latin typeface="Arial"/>
                        </a:rPr>
                        <a:t>48</a:t>
                      </a:r>
                    </a:p>
                  </a:txBody>
                  <a:tcPr marL="73152" marR="73152" marT="27432" marB="27432" anchor="ctr">
                    <a:solidFill>
                      <a:srgbClr val="F7F6F2"/>
                    </a:solidFill>
                  </a:tcPr>
                </a:tc>
                <a:tc>
                  <a:txBody>
                    <a:bodyPr/>
                    <a:lstStyle/>
                    <a:p>
                      <a:pPr algn="l"/>
                      <a:r>
                        <a:rPr sz="1100" b="0">
                          <a:solidFill>
                            <a:srgbClr val="14213D"/>
                          </a:solidFill>
                          <a:latin typeface="Arial"/>
                        </a:rPr>
                        <a:t>Uncategorized</a:t>
                      </a:r>
                    </a:p>
                  </a:txBody>
                  <a:tcPr marL="73152" marR="73152" marT="27432" marB="27432" anchor="ctr">
                    <a:solidFill>
                      <a:srgbClr val="F7F6F2"/>
                    </a:solidFill>
                  </a:tcPr>
                </a:tc>
                <a:tc>
                  <a:txBody>
                    <a:bodyPr/>
                    <a:lstStyle/>
                    <a:p>
                      <a:pPr algn="l"/>
                      <a:r>
                        <a:rPr sz="1100" b="0">
                          <a:solidFill>
                            <a:srgbClr val="14213D"/>
                          </a:solidFill>
                          <a:latin typeface="Arial"/>
                        </a:rPr>
                        <a:t>AI</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tc>
                  <a:txBody>
                    <a:bodyPr/>
                    <a:lstStyle/>
                    <a:p>
                      <a:pPr algn="r"/>
                      <a:r>
                        <a:rPr sz="1100" b="0">
                          <a:solidFill>
                            <a:srgbClr val="14213D"/>
                          </a:solidFill>
                          <a:latin typeface="Arial"/>
                        </a:rPr>
                        <a:t>3</a:t>
                      </a:r>
                    </a:p>
                  </a:txBody>
                  <a:tcPr marL="73152" marR="73152" marT="27432" marB="27432" anchor="ctr">
                    <a:solidFill>
                      <a:srgbClr val="F7F6F2"/>
                    </a:solidFill>
                  </a:tcPr>
                </a:tc>
                <a:tc>
                  <a:txBody>
                    <a:bodyPr/>
                    <a:lstStyle/>
                    <a:p>
                      <a:pPr algn="r"/>
                      <a:r>
                        <a:rPr sz="1100" b="0">
                          <a:solidFill>
                            <a:srgbClr val="14213D"/>
                          </a:solidFill>
                          <a:latin typeface="Arial"/>
                        </a:rPr>
                        <a:t>1</a:t>
                      </a:r>
                    </a:p>
                  </a:txBody>
                  <a:tcPr marL="73152" marR="73152" marT="27432" marB="27432" anchor="ctr">
                    <a:solidFill>
                      <a:srgbClr val="F7F6F2"/>
                    </a:solidFill>
                  </a:tcPr>
                </a:tc>
                <a:tc>
                  <a:txBody>
                    <a:bodyPr/>
                    <a:lstStyle/>
                    <a:p>
                      <a:pPr algn="r"/>
                      <a:r>
                        <a:rPr sz="1100" b="0">
                          <a:solidFill>
                            <a:srgbClr val="14213D"/>
                          </a:solidFill>
                          <a:latin typeface="Arial"/>
                        </a:rPr>
                        <a:t>$0</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extLst>
                  <a:ext uri="{0D108BD9-81ED-4DB2-BD59-A6C34878D82A}">
                    <a16:rowId xmlns:a16="http://schemas.microsoft.com/office/drawing/2014/main" val="10006"/>
                  </a:ext>
                </a:extLst>
              </a:tr>
              <a:tr h="310896">
                <a:tc>
                  <a:txBody>
                    <a:bodyPr/>
                    <a:lstStyle/>
                    <a:p>
                      <a:pPr algn="r"/>
                      <a:r>
                        <a:rPr sz="1100" b="0">
                          <a:solidFill>
                            <a:srgbClr val="14213D"/>
                          </a:solidFill>
                          <a:latin typeface="Arial"/>
                        </a:rPr>
                        <a:t>49</a:t>
                      </a:r>
                    </a:p>
                  </a:txBody>
                  <a:tcPr marL="73152" marR="73152" marT="27432" marB="27432" anchor="ctr">
                    <a:solidFill>
                      <a:srgbClr val="FFFFFF"/>
                    </a:solidFill>
                  </a:tcPr>
                </a:tc>
                <a:tc>
                  <a:txBody>
                    <a:bodyPr/>
                    <a:lstStyle/>
                    <a:p>
                      <a:pPr algn="l"/>
                      <a:r>
                        <a:rPr sz="1100" b="0">
                          <a:solidFill>
                            <a:srgbClr val="14213D"/>
                          </a:solidFill>
                          <a:latin typeface="Arial"/>
                        </a:rPr>
                        <a:t>December 2024 $99 Tune Up Promotional Offer</a:t>
                      </a:r>
                    </a:p>
                  </a:txBody>
                  <a:tcPr marL="73152" marR="73152" marT="27432" marB="27432" anchor="ctr">
                    <a:solidFill>
                      <a:srgbClr val="FFFFFF"/>
                    </a:solidFill>
                  </a:tcPr>
                </a:tc>
                <a:tc>
                  <a:txBody>
                    <a:bodyPr/>
                    <a:lstStyle/>
                    <a:p>
                      <a:pPr algn="l"/>
                      <a:r>
                        <a:rPr sz="1100" b="0">
                          <a:solidFill>
                            <a:srgbClr val="14213D"/>
                          </a:solidFill>
                          <a:latin typeface="Arial"/>
                        </a:rPr>
                        <a:t>Other</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tc>
                  <a:txBody>
                    <a:bodyPr/>
                    <a:lstStyle/>
                    <a:p>
                      <a:pPr algn="r"/>
                      <a:r>
                        <a:rPr sz="1100" b="0">
                          <a:solidFill>
                            <a:srgbClr val="14213D"/>
                          </a:solidFill>
                          <a:latin typeface="Arial"/>
                        </a:rPr>
                        <a:t>3</a:t>
                      </a:r>
                    </a:p>
                  </a:txBody>
                  <a:tcPr marL="73152" marR="73152" marT="27432" marB="27432" anchor="ctr">
                    <a:solidFill>
                      <a:srgbClr val="FFFFFF"/>
                    </a:solidFill>
                  </a:tcPr>
                </a:tc>
                <a:tc>
                  <a:txBody>
                    <a:bodyPr/>
                    <a:lstStyle/>
                    <a:p>
                      <a:pPr algn="r"/>
                      <a:r>
                        <a:rPr sz="1100" b="0">
                          <a:solidFill>
                            <a:srgbClr val="14213D"/>
                          </a:solidFill>
                          <a:latin typeface="Arial"/>
                        </a:rPr>
                        <a:t>0</a:t>
                      </a:r>
                    </a:p>
                  </a:txBody>
                  <a:tcPr marL="73152" marR="73152" marT="27432" marB="27432" anchor="ctr">
                    <a:solidFill>
                      <a:srgbClr val="FFFFFF"/>
                    </a:solidFill>
                  </a:tcPr>
                </a:tc>
                <a:tc>
                  <a:txBody>
                    <a:bodyPr/>
                    <a:lstStyle/>
                    <a:p>
                      <a:pPr algn="r"/>
                      <a:r>
                        <a:rPr sz="1100" b="0">
                          <a:solidFill>
                            <a:srgbClr val="14213D"/>
                          </a:solidFill>
                          <a:latin typeface="Arial"/>
                        </a:rPr>
                        <a:t>$0</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extLst>
                  <a:ext uri="{0D108BD9-81ED-4DB2-BD59-A6C34878D82A}">
                    <a16:rowId xmlns:a16="http://schemas.microsoft.com/office/drawing/2014/main" val="10007"/>
                  </a:ext>
                </a:extLst>
              </a:tr>
              <a:tr h="310896">
                <a:tc>
                  <a:txBody>
                    <a:bodyPr/>
                    <a:lstStyle/>
                    <a:p>
                      <a:pPr algn="r"/>
                      <a:r>
                        <a:rPr sz="1100" b="0">
                          <a:solidFill>
                            <a:srgbClr val="14213D"/>
                          </a:solidFill>
                          <a:latin typeface="Arial"/>
                        </a:rPr>
                        <a:t>50</a:t>
                      </a:r>
                    </a:p>
                  </a:txBody>
                  <a:tcPr marL="73152" marR="73152" marT="27432" marB="27432" anchor="ctr">
                    <a:solidFill>
                      <a:srgbClr val="F7F6F2"/>
                    </a:solidFill>
                  </a:tcPr>
                </a:tc>
                <a:tc>
                  <a:txBody>
                    <a:bodyPr/>
                    <a:lstStyle/>
                    <a:p>
                      <a:pPr algn="l"/>
                      <a:r>
                        <a:rPr sz="1100" b="0">
                          <a:solidFill>
                            <a:srgbClr val="14213D"/>
                          </a:solidFill>
                          <a:latin typeface="Arial"/>
                        </a:rPr>
                        <a:t>Unopened Expired Memberships</a:t>
                      </a:r>
                    </a:p>
                  </a:txBody>
                  <a:tcPr marL="73152" marR="73152" marT="27432" marB="27432" anchor="ctr">
                    <a:solidFill>
                      <a:srgbClr val="F7F6F2"/>
                    </a:solidFill>
                  </a:tcPr>
                </a:tc>
                <a:tc>
                  <a:txBody>
                    <a:bodyPr/>
                    <a:lstStyle/>
                    <a:p>
                      <a:pPr algn="l"/>
                      <a:r>
                        <a:rPr sz="1100" b="0">
                          <a:solidFill>
                            <a:srgbClr val="14213D"/>
                          </a:solidFill>
                          <a:latin typeface="Arial"/>
                        </a:rPr>
                        <a:t>Other</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tc>
                  <a:txBody>
                    <a:bodyPr/>
                    <a:lstStyle/>
                    <a:p>
                      <a:pPr algn="r"/>
                      <a:r>
                        <a:rPr sz="1100" b="0">
                          <a:solidFill>
                            <a:srgbClr val="14213D"/>
                          </a:solidFill>
                          <a:latin typeface="Arial"/>
                        </a:rPr>
                        <a:t>2</a:t>
                      </a:r>
                    </a:p>
                  </a:txBody>
                  <a:tcPr marL="73152" marR="73152" marT="27432" marB="27432" anchor="ctr">
                    <a:solidFill>
                      <a:srgbClr val="F7F6F2"/>
                    </a:solidFill>
                  </a:tcPr>
                </a:tc>
                <a:tc>
                  <a:txBody>
                    <a:bodyPr/>
                    <a:lstStyle/>
                    <a:p>
                      <a:pPr algn="r"/>
                      <a:r>
                        <a:rPr sz="1100" b="0">
                          <a:solidFill>
                            <a:srgbClr val="14213D"/>
                          </a:solidFill>
                          <a:latin typeface="Arial"/>
                        </a:rPr>
                        <a:t>0</a:t>
                      </a:r>
                    </a:p>
                  </a:txBody>
                  <a:tcPr marL="73152" marR="73152" marT="27432" marB="27432" anchor="ctr">
                    <a:solidFill>
                      <a:srgbClr val="F7F6F2"/>
                    </a:solidFill>
                  </a:tcPr>
                </a:tc>
                <a:tc>
                  <a:txBody>
                    <a:bodyPr/>
                    <a:lstStyle/>
                    <a:p>
                      <a:pPr algn="r"/>
                      <a:r>
                        <a:rPr sz="1100" b="0">
                          <a:solidFill>
                            <a:srgbClr val="14213D"/>
                          </a:solidFill>
                          <a:latin typeface="Arial"/>
                        </a:rPr>
                        <a:t>$0</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extLst>
                  <a:ext uri="{0D108BD9-81ED-4DB2-BD59-A6C34878D82A}">
                    <a16:rowId xmlns:a16="http://schemas.microsoft.com/office/drawing/2014/main" val="10008"/>
                  </a:ext>
                </a:extLst>
              </a:tr>
              <a:tr h="310896">
                <a:tc>
                  <a:txBody>
                    <a:bodyPr/>
                    <a:lstStyle/>
                    <a:p>
                      <a:pPr algn="r"/>
                      <a:r>
                        <a:rPr sz="1100" b="0">
                          <a:solidFill>
                            <a:srgbClr val="14213D"/>
                          </a:solidFill>
                          <a:latin typeface="Arial"/>
                        </a:rPr>
                        <a:t>51</a:t>
                      </a:r>
                    </a:p>
                  </a:txBody>
                  <a:tcPr marL="73152" marR="73152" marT="27432" marB="27432" anchor="ctr">
                    <a:solidFill>
                      <a:srgbClr val="FFFFFF"/>
                    </a:solidFill>
                  </a:tcPr>
                </a:tc>
                <a:tc>
                  <a:txBody>
                    <a:bodyPr/>
                    <a:lstStyle/>
                    <a:p>
                      <a:pPr algn="l"/>
                      <a:r>
                        <a:rPr sz="1100" b="0">
                          <a:solidFill>
                            <a:srgbClr val="14213D"/>
                          </a:solidFill>
                          <a:latin typeface="Arial"/>
                        </a:rPr>
                        <a:t>$99 Winter Tuneup Promo</a:t>
                      </a:r>
                    </a:p>
                  </a:txBody>
                  <a:tcPr marL="73152" marR="73152" marT="27432" marB="27432" anchor="ctr">
                    <a:solidFill>
                      <a:srgbClr val="FFFFFF"/>
                    </a:solidFill>
                  </a:tcPr>
                </a:tc>
                <a:tc>
                  <a:txBody>
                    <a:bodyPr/>
                    <a:lstStyle/>
                    <a:p>
                      <a:pPr algn="l"/>
                      <a:r>
                        <a:rPr sz="1100" b="0">
                          <a:solidFill>
                            <a:srgbClr val="14213D"/>
                          </a:solidFill>
                          <a:latin typeface="Arial"/>
                        </a:rPr>
                        <a:t>Other</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tc>
                  <a:txBody>
                    <a:bodyPr/>
                    <a:lstStyle/>
                    <a:p>
                      <a:pPr algn="r"/>
                      <a:r>
                        <a:rPr sz="1100" b="0">
                          <a:solidFill>
                            <a:srgbClr val="14213D"/>
                          </a:solidFill>
                          <a:latin typeface="Arial"/>
                        </a:rPr>
                        <a:t>2</a:t>
                      </a:r>
                    </a:p>
                  </a:txBody>
                  <a:tcPr marL="73152" marR="73152" marT="27432" marB="27432" anchor="ctr">
                    <a:solidFill>
                      <a:srgbClr val="FFFFFF"/>
                    </a:solidFill>
                  </a:tcPr>
                </a:tc>
                <a:tc>
                  <a:txBody>
                    <a:bodyPr/>
                    <a:lstStyle/>
                    <a:p>
                      <a:pPr algn="r"/>
                      <a:r>
                        <a:rPr sz="1100" b="0">
                          <a:solidFill>
                            <a:srgbClr val="14213D"/>
                          </a:solidFill>
                          <a:latin typeface="Arial"/>
                        </a:rPr>
                        <a:t>0</a:t>
                      </a:r>
                    </a:p>
                  </a:txBody>
                  <a:tcPr marL="73152" marR="73152" marT="27432" marB="27432" anchor="ctr">
                    <a:solidFill>
                      <a:srgbClr val="FFFFFF"/>
                    </a:solidFill>
                  </a:tcPr>
                </a:tc>
                <a:tc>
                  <a:txBody>
                    <a:bodyPr/>
                    <a:lstStyle/>
                    <a:p>
                      <a:pPr algn="r"/>
                      <a:r>
                        <a:rPr sz="1100" b="0">
                          <a:solidFill>
                            <a:srgbClr val="14213D"/>
                          </a:solidFill>
                          <a:latin typeface="Arial"/>
                        </a:rPr>
                        <a:t>$0</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extLst>
                  <a:ext uri="{0D108BD9-81ED-4DB2-BD59-A6C34878D82A}">
                    <a16:rowId xmlns:a16="http://schemas.microsoft.com/office/drawing/2014/main" val="10009"/>
                  </a:ext>
                </a:extLst>
              </a:tr>
              <a:tr h="310896">
                <a:tc>
                  <a:txBody>
                    <a:bodyPr/>
                    <a:lstStyle/>
                    <a:p>
                      <a:pPr algn="r"/>
                      <a:r>
                        <a:rPr sz="1100" b="0">
                          <a:solidFill>
                            <a:srgbClr val="14213D"/>
                          </a:solidFill>
                          <a:latin typeface="Arial"/>
                        </a:rPr>
                        <a:t>52</a:t>
                      </a:r>
                    </a:p>
                  </a:txBody>
                  <a:tcPr marL="73152" marR="73152" marT="27432" marB="27432" anchor="ctr">
                    <a:solidFill>
                      <a:srgbClr val="F7F6F2"/>
                    </a:solidFill>
                  </a:tcPr>
                </a:tc>
                <a:tc>
                  <a:txBody>
                    <a:bodyPr/>
                    <a:lstStyle/>
                    <a:p>
                      <a:pPr algn="l"/>
                      <a:r>
                        <a:rPr sz="1100" b="0">
                          <a:solidFill>
                            <a:srgbClr val="14213D"/>
                          </a:solidFill>
                          <a:latin typeface="Arial"/>
                        </a:rPr>
                        <a:t>Performance Max - Carolina Cool</a:t>
                      </a:r>
                    </a:p>
                  </a:txBody>
                  <a:tcPr marL="73152" marR="73152" marT="27432" marB="27432" anchor="ctr">
                    <a:solidFill>
                      <a:srgbClr val="F7F6F2"/>
                    </a:solidFill>
                  </a:tcPr>
                </a:tc>
                <a:tc>
                  <a:txBody>
                    <a:bodyPr/>
                    <a:lstStyle/>
                    <a:p>
                      <a:pPr algn="l"/>
                      <a:r>
                        <a:rPr sz="1100" b="0">
                          <a:solidFill>
                            <a:srgbClr val="14213D"/>
                          </a:solidFill>
                          <a:latin typeface="Arial"/>
                        </a:rPr>
                        <a:t>Advertising</a:t>
                      </a:r>
                    </a:p>
                  </a:txBody>
                  <a:tcPr marL="73152" marR="73152" marT="27432" marB="27432" anchor="ctr">
                    <a:solidFill>
                      <a:srgbClr val="F7F6F2"/>
                    </a:solidFill>
                  </a:tcPr>
                </a:tc>
                <a:tc>
                  <a:txBody>
                    <a:bodyPr/>
                    <a:lstStyle/>
                    <a:p>
                      <a:pPr algn="r"/>
                      <a:r>
                        <a:rPr sz="1100" b="0">
                          <a:solidFill>
                            <a:srgbClr val="14213D"/>
                          </a:solidFill>
                          <a:latin typeface="Arial"/>
                        </a:rPr>
                        <a:t>$345</a:t>
                      </a:r>
                    </a:p>
                  </a:txBody>
                  <a:tcPr marL="73152" marR="73152" marT="27432" marB="27432" anchor="ctr">
                    <a:solidFill>
                      <a:srgbClr val="F7F6F2"/>
                    </a:solidFill>
                  </a:tcPr>
                </a:tc>
                <a:tc>
                  <a:txBody>
                    <a:bodyPr/>
                    <a:lstStyle/>
                    <a:p>
                      <a:pPr algn="r"/>
                      <a:r>
                        <a:rPr sz="1100" b="0">
                          <a:solidFill>
                            <a:srgbClr val="14213D"/>
                          </a:solidFill>
                          <a:latin typeface="Arial"/>
                        </a:rPr>
                        <a:t>1</a:t>
                      </a:r>
                    </a:p>
                  </a:txBody>
                  <a:tcPr marL="73152" marR="73152" marT="27432" marB="27432" anchor="ctr">
                    <a:solidFill>
                      <a:srgbClr val="F7F6F2"/>
                    </a:solidFill>
                  </a:tcPr>
                </a:tc>
                <a:tc>
                  <a:txBody>
                    <a:bodyPr/>
                    <a:lstStyle/>
                    <a:p>
                      <a:pPr algn="r"/>
                      <a:r>
                        <a:rPr sz="1100" b="0">
                          <a:solidFill>
                            <a:srgbClr val="14213D"/>
                          </a:solidFill>
                          <a:latin typeface="Arial"/>
                        </a:rPr>
                        <a:t>0</a:t>
                      </a:r>
                    </a:p>
                  </a:txBody>
                  <a:tcPr marL="73152" marR="73152" marT="27432" marB="27432" anchor="ctr">
                    <a:solidFill>
                      <a:srgbClr val="F7F6F2"/>
                    </a:solidFill>
                  </a:tcPr>
                </a:tc>
                <a:tc>
                  <a:txBody>
                    <a:bodyPr/>
                    <a:lstStyle/>
                    <a:p>
                      <a:pPr algn="r"/>
                      <a:r>
                        <a:rPr sz="1100" b="0">
                          <a:solidFill>
                            <a:srgbClr val="14213D"/>
                          </a:solidFill>
                          <a:latin typeface="Arial"/>
                        </a:rPr>
                        <a:t>$0</a:t>
                      </a:r>
                    </a:p>
                  </a:txBody>
                  <a:tcPr marL="73152" marR="73152" marT="27432" marB="27432" anchor="ctr">
                    <a:solidFill>
                      <a:srgbClr val="F7F6F2"/>
                    </a:solidFill>
                  </a:tcPr>
                </a:tc>
                <a:tc>
                  <a:txBody>
                    <a:bodyPr/>
                    <a:lstStyle/>
                    <a:p>
                      <a:pPr algn="r"/>
                      <a:r>
                        <a:rPr sz="1100" b="0">
                          <a:solidFill>
                            <a:srgbClr val="14213D"/>
                          </a:solidFill>
                          <a:latin typeface="Arial"/>
                        </a:rPr>
                        <a:t>0.00x</a:t>
                      </a:r>
                    </a:p>
                  </a:txBody>
                  <a:tcPr marL="73152" marR="73152" marT="27432" marB="27432" anchor="ctr">
                    <a:solidFill>
                      <a:srgbClr val="F7F6F2"/>
                    </a:solidFill>
                  </a:tcPr>
                </a:tc>
                <a:extLst>
                  <a:ext uri="{0D108BD9-81ED-4DB2-BD59-A6C34878D82A}">
                    <a16:rowId xmlns:a16="http://schemas.microsoft.com/office/drawing/2014/main" val="10010"/>
                  </a:ext>
                </a:extLst>
              </a:tr>
              <a:tr h="310896">
                <a:tc>
                  <a:txBody>
                    <a:bodyPr/>
                    <a:lstStyle/>
                    <a:p>
                      <a:pPr algn="r"/>
                      <a:r>
                        <a:rPr sz="1100" b="0">
                          <a:solidFill>
                            <a:srgbClr val="14213D"/>
                          </a:solidFill>
                          <a:latin typeface="Arial"/>
                        </a:rPr>
                        <a:t>53</a:t>
                      </a:r>
                    </a:p>
                  </a:txBody>
                  <a:tcPr marL="73152" marR="73152" marT="27432" marB="27432" anchor="ctr">
                    <a:solidFill>
                      <a:srgbClr val="FFFFFF"/>
                    </a:solidFill>
                  </a:tcPr>
                </a:tc>
                <a:tc>
                  <a:txBody>
                    <a:bodyPr/>
                    <a:lstStyle/>
                    <a:p>
                      <a:pPr algn="l"/>
                      <a:r>
                        <a:rPr sz="1100" b="0">
                          <a:solidFill>
                            <a:srgbClr val="14213D"/>
                          </a:solidFill>
                          <a:latin typeface="Arial"/>
                        </a:rPr>
                        <a:t>[Va] [Search] | HVAC | mCPC &gt; tCPA $50 &gt; $40 &gt; $61</a:t>
                      </a:r>
                    </a:p>
                  </a:txBody>
                  <a:tcPr marL="73152" marR="73152" marT="27432" marB="27432" anchor="ctr">
                    <a:solidFill>
                      <a:srgbClr val="FFFFFF"/>
                    </a:solidFill>
                  </a:tcPr>
                </a:tc>
                <a:tc>
                  <a:txBody>
                    <a:bodyPr/>
                    <a:lstStyle/>
                    <a:p>
                      <a:pPr algn="l"/>
                      <a:r>
                        <a:rPr sz="1100" b="0">
                          <a:solidFill>
                            <a:srgbClr val="14213D"/>
                          </a:solidFill>
                          <a:latin typeface="Arial"/>
                        </a:rPr>
                        <a:t>Advertising</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tc>
                  <a:txBody>
                    <a:bodyPr/>
                    <a:lstStyle/>
                    <a:p>
                      <a:pPr algn="r"/>
                      <a:r>
                        <a:rPr sz="1100" b="0">
                          <a:solidFill>
                            <a:srgbClr val="14213D"/>
                          </a:solidFill>
                          <a:latin typeface="Arial"/>
                        </a:rPr>
                        <a:t>1</a:t>
                      </a:r>
                    </a:p>
                  </a:txBody>
                  <a:tcPr marL="73152" marR="73152" marT="27432" marB="27432" anchor="ctr">
                    <a:solidFill>
                      <a:srgbClr val="FFFFFF"/>
                    </a:solidFill>
                  </a:tcPr>
                </a:tc>
                <a:tc>
                  <a:txBody>
                    <a:bodyPr/>
                    <a:lstStyle/>
                    <a:p>
                      <a:pPr algn="r"/>
                      <a:r>
                        <a:rPr sz="1100" b="0">
                          <a:solidFill>
                            <a:srgbClr val="14213D"/>
                          </a:solidFill>
                          <a:latin typeface="Arial"/>
                        </a:rPr>
                        <a:t>0</a:t>
                      </a:r>
                    </a:p>
                  </a:txBody>
                  <a:tcPr marL="73152" marR="73152" marT="27432" marB="27432" anchor="ctr">
                    <a:solidFill>
                      <a:srgbClr val="FFFFFF"/>
                    </a:solidFill>
                  </a:tcPr>
                </a:tc>
                <a:tc>
                  <a:txBody>
                    <a:bodyPr/>
                    <a:lstStyle/>
                    <a:p>
                      <a:pPr algn="r"/>
                      <a:r>
                        <a:rPr sz="1100" b="0">
                          <a:solidFill>
                            <a:srgbClr val="14213D"/>
                          </a:solidFill>
                          <a:latin typeface="Arial"/>
                        </a:rPr>
                        <a:t>$0</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extLst>
                  <a:ext uri="{0D108BD9-81ED-4DB2-BD59-A6C34878D82A}">
                    <a16:rowId xmlns:a16="http://schemas.microsoft.com/office/drawing/2014/main" val="10011"/>
                  </a:ext>
                </a:extLst>
              </a:tr>
              <a:tr h="310896">
                <a:tc>
                  <a:txBody>
                    <a:bodyPr/>
                    <a:lstStyle/>
                    <a:p>
                      <a:pPr algn="r"/>
                      <a:r>
                        <a:rPr sz="1100" b="0">
                          <a:solidFill>
                            <a:srgbClr val="14213D"/>
                          </a:solidFill>
                          <a:latin typeface="Arial"/>
                        </a:rPr>
                        <a:t>54</a:t>
                      </a:r>
                    </a:p>
                  </a:txBody>
                  <a:tcPr marL="73152" marR="73152" marT="27432" marB="27432" anchor="ctr">
                    <a:solidFill>
                      <a:srgbClr val="F7F6F2"/>
                    </a:solidFill>
                  </a:tcPr>
                </a:tc>
                <a:tc>
                  <a:txBody>
                    <a:bodyPr/>
                    <a:lstStyle/>
                    <a:p>
                      <a:pPr algn="l"/>
                      <a:r>
                        <a:rPr sz="1100" b="0">
                          <a:solidFill>
                            <a:srgbClr val="14213D"/>
                          </a:solidFill>
                          <a:latin typeface="Arial"/>
                        </a:rPr>
                        <a:t>thebluebook</a:t>
                      </a:r>
                    </a:p>
                  </a:txBody>
                  <a:tcPr marL="73152" marR="73152" marT="27432" marB="27432" anchor="ctr">
                    <a:solidFill>
                      <a:srgbClr val="F7F6F2"/>
                    </a:solidFill>
                  </a:tcPr>
                </a:tc>
                <a:tc>
                  <a:txBody>
                    <a:bodyPr/>
                    <a:lstStyle/>
                    <a:p>
                      <a:pPr algn="l"/>
                      <a:r>
                        <a:rPr sz="1100" b="0">
                          <a:solidFill>
                            <a:srgbClr val="14213D"/>
                          </a:solidFill>
                          <a:latin typeface="Arial"/>
                        </a:rPr>
                        <a:t>Organic</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tc>
                  <a:txBody>
                    <a:bodyPr/>
                    <a:lstStyle/>
                    <a:p>
                      <a:pPr algn="r"/>
                      <a:r>
                        <a:rPr sz="1100" b="0">
                          <a:solidFill>
                            <a:srgbClr val="14213D"/>
                          </a:solidFill>
                          <a:latin typeface="Arial"/>
                        </a:rPr>
                        <a:t>1</a:t>
                      </a:r>
                    </a:p>
                  </a:txBody>
                  <a:tcPr marL="73152" marR="73152" marT="27432" marB="27432" anchor="ctr">
                    <a:solidFill>
                      <a:srgbClr val="F7F6F2"/>
                    </a:solidFill>
                  </a:tcPr>
                </a:tc>
                <a:tc>
                  <a:txBody>
                    <a:bodyPr/>
                    <a:lstStyle/>
                    <a:p>
                      <a:pPr algn="r"/>
                      <a:r>
                        <a:rPr sz="1100" b="0">
                          <a:solidFill>
                            <a:srgbClr val="14213D"/>
                          </a:solidFill>
                          <a:latin typeface="Arial"/>
                        </a:rPr>
                        <a:t>0</a:t>
                      </a:r>
                    </a:p>
                  </a:txBody>
                  <a:tcPr marL="73152" marR="73152" marT="27432" marB="27432" anchor="ctr">
                    <a:solidFill>
                      <a:srgbClr val="F7F6F2"/>
                    </a:solidFill>
                  </a:tcPr>
                </a:tc>
                <a:tc>
                  <a:txBody>
                    <a:bodyPr/>
                    <a:lstStyle/>
                    <a:p>
                      <a:pPr algn="r"/>
                      <a:r>
                        <a:rPr sz="1100" b="0">
                          <a:solidFill>
                            <a:srgbClr val="14213D"/>
                          </a:solidFill>
                          <a:latin typeface="Arial"/>
                        </a:rPr>
                        <a:t>$0</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extLst>
                  <a:ext uri="{0D108BD9-81ED-4DB2-BD59-A6C34878D82A}">
                    <a16:rowId xmlns:a16="http://schemas.microsoft.com/office/drawing/2014/main" val="10012"/>
                  </a:ext>
                </a:extLst>
              </a:tr>
              <a:tr h="310896">
                <a:tc>
                  <a:txBody>
                    <a:bodyPr/>
                    <a:lstStyle/>
                    <a:p>
                      <a:pPr algn="r"/>
                      <a:r>
                        <a:rPr sz="1100" b="0">
                          <a:solidFill>
                            <a:srgbClr val="14213D"/>
                          </a:solidFill>
                          <a:latin typeface="Arial"/>
                        </a:rPr>
                        <a:t>55</a:t>
                      </a:r>
                    </a:p>
                  </a:txBody>
                  <a:tcPr marL="73152" marR="73152" marT="27432" marB="27432" anchor="ctr">
                    <a:solidFill>
                      <a:srgbClr val="FFFFFF"/>
                    </a:solidFill>
                  </a:tcPr>
                </a:tc>
                <a:tc>
                  <a:txBody>
                    <a:bodyPr/>
                    <a:lstStyle/>
                    <a:p>
                      <a:pPr algn="l"/>
                      <a:r>
                        <a:rPr sz="1100" b="0">
                          <a:solidFill>
                            <a:srgbClr val="14213D"/>
                          </a:solidFill>
                          <a:latin typeface="Arial"/>
                        </a:rPr>
                        <a:t>ChatGPT Referral</a:t>
                      </a:r>
                    </a:p>
                  </a:txBody>
                  <a:tcPr marL="73152" marR="73152" marT="27432" marB="27432" anchor="ctr">
                    <a:solidFill>
                      <a:srgbClr val="FFFFFF"/>
                    </a:solidFill>
                  </a:tcPr>
                </a:tc>
                <a:tc>
                  <a:txBody>
                    <a:bodyPr/>
                    <a:lstStyle/>
                    <a:p>
                      <a:pPr algn="l"/>
                      <a:r>
                        <a:rPr sz="1100" b="0">
                          <a:solidFill>
                            <a:srgbClr val="14213D"/>
                          </a:solidFill>
                          <a:latin typeface="Arial"/>
                        </a:rPr>
                        <a:t>AI</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tc>
                  <a:txBody>
                    <a:bodyPr/>
                    <a:lstStyle/>
                    <a:p>
                      <a:pPr algn="r"/>
                      <a:r>
                        <a:rPr sz="1100" b="0">
                          <a:solidFill>
                            <a:srgbClr val="14213D"/>
                          </a:solidFill>
                          <a:latin typeface="Arial"/>
                        </a:rPr>
                        <a:t>1</a:t>
                      </a:r>
                    </a:p>
                  </a:txBody>
                  <a:tcPr marL="73152" marR="73152" marT="27432" marB="27432" anchor="ctr">
                    <a:solidFill>
                      <a:srgbClr val="FFFFFF"/>
                    </a:solidFill>
                  </a:tcPr>
                </a:tc>
                <a:tc>
                  <a:txBody>
                    <a:bodyPr/>
                    <a:lstStyle/>
                    <a:p>
                      <a:pPr algn="r"/>
                      <a:r>
                        <a:rPr sz="1100" b="0">
                          <a:solidFill>
                            <a:srgbClr val="14213D"/>
                          </a:solidFill>
                          <a:latin typeface="Arial"/>
                        </a:rPr>
                        <a:t>0</a:t>
                      </a:r>
                    </a:p>
                  </a:txBody>
                  <a:tcPr marL="73152" marR="73152" marT="27432" marB="27432" anchor="ctr">
                    <a:solidFill>
                      <a:srgbClr val="FFFFFF"/>
                    </a:solidFill>
                  </a:tcPr>
                </a:tc>
                <a:tc>
                  <a:txBody>
                    <a:bodyPr/>
                    <a:lstStyle/>
                    <a:p>
                      <a:pPr algn="r"/>
                      <a:r>
                        <a:rPr sz="1100" b="0">
                          <a:solidFill>
                            <a:srgbClr val="14213D"/>
                          </a:solidFill>
                          <a:latin typeface="Arial"/>
                        </a:rPr>
                        <a:t>$0</a:t>
                      </a:r>
                    </a:p>
                  </a:txBody>
                  <a:tcPr marL="73152" marR="73152" marT="27432" marB="27432" anchor="ctr">
                    <a:solidFill>
                      <a:srgbClr val="FFFFFF"/>
                    </a:solidFill>
                  </a:tcPr>
                </a:tc>
                <a:tc>
                  <a:txBody>
                    <a:bodyPr/>
                    <a:lstStyle/>
                    <a:p>
                      <a:pPr algn="r"/>
                      <a:r>
                        <a:rPr sz="1100" b="0">
                          <a:solidFill>
                            <a:srgbClr val="14213D"/>
                          </a:solidFill>
                          <a:latin typeface="Arial"/>
                        </a:rPr>
                        <a:t>—</a:t>
                      </a:r>
                    </a:p>
                  </a:txBody>
                  <a:tcPr marL="73152" marR="73152" marT="27432" marB="27432" anchor="ctr">
                    <a:solidFill>
                      <a:srgbClr val="FFFFFF"/>
                    </a:solidFill>
                  </a:tcPr>
                </a:tc>
                <a:extLst>
                  <a:ext uri="{0D108BD9-81ED-4DB2-BD59-A6C34878D82A}">
                    <a16:rowId xmlns:a16="http://schemas.microsoft.com/office/drawing/2014/main" val="10013"/>
                  </a:ext>
                </a:extLst>
              </a:tr>
              <a:tr h="310896">
                <a:tc>
                  <a:txBody>
                    <a:bodyPr/>
                    <a:lstStyle/>
                    <a:p>
                      <a:pPr algn="r"/>
                      <a:r>
                        <a:rPr sz="1100" b="0">
                          <a:solidFill>
                            <a:srgbClr val="14213D"/>
                          </a:solidFill>
                          <a:latin typeface="Arial"/>
                        </a:rPr>
                        <a:t>56</a:t>
                      </a:r>
                    </a:p>
                  </a:txBody>
                  <a:tcPr marL="73152" marR="73152" marT="27432" marB="27432" anchor="ctr">
                    <a:solidFill>
                      <a:srgbClr val="F7F6F2"/>
                    </a:solidFill>
                  </a:tcPr>
                </a:tc>
                <a:tc>
                  <a:txBody>
                    <a:bodyPr/>
                    <a:lstStyle/>
                    <a:p>
                      <a:pPr algn="l"/>
                      <a:r>
                        <a:rPr sz="1100" b="0">
                          <a:solidFill>
                            <a:srgbClr val="14213D"/>
                          </a:solidFill>
                          <a:latin typeface="Arial"/>
                        </a:rPr>
                        <a:t>mapstakeover</a:t>
                      </a:r>
                    </a:p>
                  </a:txBody>
                  <a:tcPr marL="73152" marR="73152" marT="27432" marB="27432" anchor="ctr">
                    <a:solidFill>
                      <a:srgbClr val="F7F6F2"/>
                    </a:solidFill>
                  </a:tcPr>
                </a:tc>
                <a:tc>
                  <a:txBody>
                    <a:bodyPr/>
                    <a:lstStyle/>
                    <a:p>
                      <a:pPr algn="l"/>
                      <a:r>
                        <a:rPr sz="1100" b="0">
                          <a:solidFill>
                            <a:srgbClr val="14213D"/>
                          </a:solidFill>
                          <a:latin typeface="Arial"/>
                        </a:rPr>
                        <a:t>Other</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tc>
                  <a:txBody>
                    <a:bodyPr/>
                    <a:lstStyle/>
                    <a:p>
                      <a:pPr algn="r"/>
                      <a:r>
                        <a:rPr sz="1100" b="0">
                          <a:solidFill>
                            <a:srgbClr val="14213D"/>
                          </a:solidFill>
                          <a:latin typeface="Arial"/>
                        </a:rPr>
                        <a:t>0</a:t>
                      </a:r>
                    </a:p>
                  </a:txBody>
                  <a:tcPr marL="73152" marR="73152" marT="27432" marB="27432" anchor="ctr">
                    <a:solidFill>
                      <a:srgbClr val="F7F6F2"/>
                    </a:solidFill>
                  </a:tcPr>
                </a:tc>
                <a:tc>
                  <a:txBody>
                    <a:bodyPr/>
                    <a:lstStyle/>
                    <a:p>
                      <a:pPr algn="r"/>
                      <a:r>
                        <a:rPr sz="1100" b="0">
                          <a:solidFill>
                            <a:srgbClr val="14213D"/>
                          </a:solidFill>
                          <a:latin typeface="Arial"/>
                        </a:rPr>
                        <a:t>0</a:t>
                      </a:r>
                    </a:p>
                  </a:txBody>
                  <a:tcPr marL="73152" marR="73152" marT="27432" marB="27432" anchor="ctr">
                    <a:solidFill>
                      <a:srgbClr val="F7F6F2"/>
                    </a:solidFill>
                  </a:tcPr>
                </a:tc>
                <a:tc>
                  <a:txBody>
                    <a:bodyPr/>
                    <a:lstStyle/>
                    <a:p>
                      <a:pPr algn="r"/>
                      <a:r>
                        <a:rPr sz="1100" b="0">
                          <a:solidFill>
                            <a:srgbClr val="14213D"/>
                          </a:solidFill>
                          <a:latin typeface="Arial"/>
                        </a:rPr>
                        <a:t>$0</a:t>
                      </a:r>
                    </a:p>
                  </a:txBody>
                  <a:tcPr marL="73152" marR="73152" marT="27432" marB="27432" anchor="ctr">
                    <a:solidFill>
                      <a:srgbClr val="F7F6F2"/>
                    </a:solidFill>
                  </a:tcPr>
                </a:tc>
                <a:tc>
                  <a:txBody>
                    <a:bodyPr/>
                    <a:lstStyle/>
                    <a:p>
                      <a:pPr algn="r"/>
                      <a:r>
                        <a:rPr sz="1100" b="0">
                          <a:solidFill>
                            <a:srgbClr val="14213D"/>
                          </a:solidFill>
                          <a:latin typeface="Arial"/>
                        </a:rPr>
                        <a:t>—</a:t>
                      </a:r>
                    </a:p>
                  </a:txBody>
                  <a:tcPr marL="73152" marR="73152" marT="27432" marB="27432" anchor="ctr">
                    <a:solidFill>
                      <a:srgbClr val="F7F6F2"/>
                    </a:solidFill>
                  </a:tcPr>
                </a:tc>
                <a:extLst>
                  <a:ext uri="{0D108BD9-81ED-4DB2-BD59-A6C34878D82A}">
                    <a16:rowId xmlns:a16="http://schemas.microsoft.com/office/drawing/2014/main" val="10014"/>
                  </a:ext>
                </a:extLst>
              </a:tr>
              <a:tr h="310896">
                <a:tc>
                  <a:txBody>
                    <a:bodyPr/>
                    <a:lstStyle/>
                    <a:p>
                      <a:pPr algn="r"/>
                      <a:endParaRPr/>
                    </a:p>
                  </a:txBody>
                  <a:tcPr marL="73152" marR="73152" marT="27432" marB="27432" anchor="ctr">
                    <a:solidFill>
                      <a:srgbClr val="E8ECF3"/>
                    </a:solidFill>
                  </a:tcPr>
                </a:tc>
                <a:tc>
                  <a:txBody>
                    <a:bodyPr/>
                    <a:lstStyle/>
                    <a:p>
                      <a:pPr algn="l"/>
                      <a:r>
                        <a:rPr sz="1100" b="1">
                          <a:solidFill>
                            <a:srgbClr val="14213D"/>
                          </a:solidFill>
                          <a:latin typeface="Arial"/>
                        </a:rPr>
                        <a:t>Spend not tied to a campaign</a:t>
                      </a:r>
                    </a:p>
                  </a:txBody>
                  <a:tcPr marL="73152" marR="73152" marT="27432" marB="27432" anchor="ctr">
                    <a:solidFill>
                      <a:srgbClr val="E8ECF3"/>
                    </a:solidFill>
                  </a:tcPr>
                </a:tc>
                <a:tc>
                  <a:txBody>
                    <a:bodyPr/>
                    <a:lstStyle/>
                    <a:p>
                      <a:pPr algn="l"/>
                      <a:r>
                        <a:rPr sz="1100" b="1">
                          <a:solidFill>
                            <a:srgbClr val="14213D"/>
                          </a:solidFill>
                          <a:latin typeface="Arial"/>
                        </a:rPr>
                        <a:t>Advertising</a:t>
                      </a:r>
                    </a:p>
                  </a:txBody>
                  <a:tcPr marL="73152" marR="73152" marT="27432" marB="27432" anchor="ctr">
                    <a:solidFill>
                      <a:srgbClr val="E8ECF3"/>
                    </a:solidFill>
                  </a:tcPr>
                </a:tc>
                <a:tc>
                  <a:txBody>
                    <a:bodyPr/>
                    <a:lstStyle/>
                    <a:p>
                      <a:pPr algn="r"/>
                      <a:r>
                        <a:rPr sz="1100" b="1">
                          <a:solidFill>
                            <a:srgbClr val="14213D"/>
                          </a:solidFill>
                          <a:latin typeface="Arial"/>
                        </a:rPr>
                        <a:t>$5,065</a:t>
                      </a:r>
                    </a:p>
                  </a:txBody>
                  <a:tcPr marL="73152" marR="73152" marT="27432" marB="27432" anchor="ctr">
                    <a:solidFill>
                      <a:srgbClr val="E8ECF3"/>
                    </a:solidFill>
                  </a:tcPr>
                </a:tc>
                <a:tc>
                  <a:txBody>
                    <a:bodyPr/>
                    <a:lstStyle/>
                    <a:p>
                      <a:pPr algn="r"/>
                      <a:r>
                        <a:rPr sz="1100" b="1">
                          <a:solidFill>
                            <a:srgbClr val="14213D"/>
                          </a:solidFill>
                          <a:latin typeface="Arial"/>
                        </a:rPr>
                        <a:t>—</a:t>
                      </a:r>
                    </a:p>
                  </a:txBody>
                  <a:tcPr marL="73152" marR="73152" marT="27432" marB="27432" anchor="ctr">
                    <a:solidFill>
                      <a:srgbClr val="E8ECF3"/>
                    </a:solidFill>
                  </a:tcPr>
                </a:tc>
                <a:tc>
                  <a:txBody>
                    <a:bodyPr/>
                    <a:lstStyle/>
                    <a:p>
                      <a:pPr algn="r"/>
                      <a:r>
                        <a:rPr sz="1100" b="1">
                          <a:solidFill>
                            <a:srgbClr val="14213D"/>
                          </a:solidFill>
                          <a:latin typeface="Arial"/>
                        </a:rPr>
                        <a:t>—</a:t>
                      </a:r>
                    </a:p>
                  </a:txBody>
                  <a:tcPr marL="73152" marR="73152" marT="27432" marB="27432" anchor="ctr">
                    <a:solidFill>
                      <a:srgbClr val="E8ECF3"/>
                    </a:solidFill>
                  </a:tcPr>
                </a:tc>
                <a:tc>
                  <a:txBody>
                    <a:bodyPr/>
                    <a:lstStyle/>
                    <a:p>
                      <a:pPr algn="r"/>
                      <a:r>
                        <a:rPr sz="1100" b="1">
                          <a:solidFill>
                            <a:srgbClr val="14213D"/>
                          </a:solidFill>
                          <a:latin typeface="Arial"/>
                        </a:rPr>
                        <a:t>—</a:t>
                      </a:r>
                    </a:p>
                  </a:txBody>
                  <a:tcPr marL="73152" marR="73152" marT="27432" marB="27432" anchor="ctr">
                    <a:solidFill>
                      <a:srgbClr val="E8ECF3"/>
                    </a:solidFill>
                  </a:tcPr>
                </a:tc>
                <a:tc>
                  <a:txBody>
                    <a:bodyPr/>
                    <a:lstStyle/>
                    <a:p>
                      <a:pPr algn="r"/>
                      <a:r>
                        <a:rPr sz="1100" b="1">
                          <a:solidFill>
                            <a:srgbClr val="14213D"/>
                          </a:solidFill>
                          <a:latin typeface="Arial"/>
                        </a:rPr>
                        <a:t>—</a:t>
                      </a:r>
                    </a:p>
                  </a:txBody>
                  <a:tcPr marL="73152" marR="73152" marT="27432" marB="27432" anchor="ctr">
                    <a:solidFill>
                      <a:srgbClr val="E8ECF3"/>
                    </a:solidFill>
                  </a:tcPr>
                </a:tc>
                <a:extLst>
                  <a:ext uri="{0D108BD9-81ED-4DB2-BD59-A6C34878D82A}">
                    <a16:rowId xmlns:a16="http://schemas.microsoft.com/office/drawing/2014/main" val="10015"/>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TotalTime>
  <Words>2573</Words>
  <Application>Microsoft Macintosh PowerPoint</Application>
  <PresentationFormat>Widescreen</PresentationFormat>
  <Paragraphs>900</Paragraphs>
  <Slides>19</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Coastal Air Plus YTD Performance</dc:title>
  <dc:subject/>
  <dc:creator/>
  <cp:keywords/>
  <dc:description>generated using python-pptx</dc:description>
  <cp:lastModifiedBy>Michael Dempsey</cp:lastModifiedBy>
  <cp:revision>6</cp:revision>
  <dcterms:created xsi:type="dcterms:W3CDTF">2013-01-27T09:14:16Z</dcterms:created>
  <dcterms:modified xsi:type="dcterms:W3CDTF">2026-10-25T17:04:44Z</dcterms:modified>
  <cp:category/>
</cp:coreProperties>
</file>