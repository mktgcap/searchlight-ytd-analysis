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Eyebrow"/>
          <p:cNvSpPr txBox="1"/>
          <p:nvPr/>
        </p:nvSpPr>
        <p:spPr>
          <a:xfrm>
            <a:off x="548640" y="18288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F2A65A"/>
                </a:solidFill>
                <a:latin typeface="Arial"/>
              </a:rPr>
              <a:t>COASTAL AIR PLUS</a:t>
            </a:r>
          </a:p>
        </p:txBody>
      </p:sp>
      <p:sp>
        <p:nvSpPr>
          <p:cNvPr id="3" name="Title"/>
          <p:cNvSpPr txBox="1"/>
          <p:nvPr/>
        </p:nvSpPr>
        <p:spPr>
          <a:xfrm>
            <a:off x="548640" y="2377440"/>
            <a:ext cx="1109441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F7F6F2"/>
                </a:solidFill>
                <a:latin typeface="Arial"/>
              </a:rPr>
              <a:t>2027 Marketing Plan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548640" y="3566160"/>
            <a:ext cx="1109441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9D3E3"/>
                </a:solidFill>
                <a:latin typeface="Arial"/>
              </a:rPr>
              <a:t>Priorities, changes, opportunities and budget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Build On 2026 Wins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2</a:t>
            </a:r>
          </a:p>
        </p:txBody>
      </p:sp>
      <p:sp>
        <p:nvSpPr>
          <p:cNvPr id="5" name="Section label"/>
          <p:cNvSpPr txBox="1"/>
          <p:nvPr/>
        </p:nvSpPr>
        <p:spPr>
          <a:xfrm>
            <a:off x="548640" y="1325880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1F6676"/>
                </a:solidFill>
                <a:latin typeface="Arial"/>
              </a:rPr>
              <a:t>DIGITAL ADDS</a:t>
            </a:r>
          </a:p>
        </p:txBody>
      </p:sp>
      <p:sp>
        <p:nvSpPr>
          <p:cNvPr id="6" name="Add Facebook"/>
          <p:cNvSpPr/>
          <p:nvPr/>
        </p:nvSpPr>
        <p:spPr>
          <a:xfrm>
            <a:off x="548640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Badge 1"/>
          <p:cNvSpPr/>
          <p:nvPr/>
        </p:nvSpPr>
        <p:spPr>
          <a:xfrm>
            <a:off x="868680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971800"/>
            <a:ext cx="19277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Facebook</a:t>
            </a:r>
          </a:p>
        </p:txBody>
      </p:sp>
      <p:sp>
        <p:nvSpPr>
          <p:cNvPr id="9" name="Add Stronger Summer Push $"/>
          <p:cNvSpPr/>
          <p:nvPr/>
        </p:nvSpPr>
        <p:spPr>
          <a:xfrm>
            <a:off x="3390823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Badge 2"/>
          <p:cNvSpPr/>
          <p:nvPr/>
        </p:nvSpPr>
        <p:spPr>
          <a:xfrm>
            <a:off x="3710863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10863" y="2971800"/>
            <a:ext cx="19277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Stronger Summer Push $</a:t>
            </a:r>
          </a:p>
        </p:txBody>
      </p:sp>
      <p:sp>
        <p:nvSpPr>
          <p:cNvPr id="12" name="Add LettrLabs"/>
          <p:cNvSpPr/>
          <p:nvPr/>
        </p:nvSpPr>
        <p:spPr>
          <a:xfrm>
            <a:off x="6233007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dge 3"/>
          <p:cNvSpPr/>
          <p:nvPr/>
        </p:nvSpPr>
        <p:spPr>
          <a:xfrm>
            <a:off x="6553047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2971800"/>
            <a:ext cx="19277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LettrLabs</a:t>
            </a:r>
          </a:p>
        </p:txBody>
      </p:sp>
      <p:sp>
        <p:nvSpPr>
          <p:cNvPr id="15" name="Add SEO"/>
          <p:cNvSpPr/>
          <p:nvPr/>
        </p:nvSpPr>
        <p:spPr>
          <a:xfrm>
            <a:off x="9075191" y="1828800"/>
            <a:ext cx="2567863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Badge 4"/>
          <p:cNvSpPr/>
          <p:nvPr/>
        </p:nvSpPr>
        <p:spPr>
          <a:xfrm>
            <a:off x="9395231" y="21945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95231" y="2971800"/>
            <a:ext cx="1927783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SEO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2027 Changes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3</a:t>
            </a:r>
          </a:p>
        </p:txBody>
      </p:sp>
      <p:sp>
        <p:nvSpPr>
          <p:cNvPr id="5" name="Change 1"/>
          <p:cNvSpPr/>
          <p:nvPr/>
        </p:nvSpPr>
        <p:spPr>
          <a:xfrm>
            <a:off x="548640" y="141732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dge 1"/>
          <p:cNvSpPr/>
          <p:nvPr/>
        </p:nvSpPr>
        <p:spPr>
          <a:xfrm>
            <a:off x="914400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19" y="1801368"/>
            <a:ext cx="394700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Shift TV Spend to Direct Response And Other Areas</a:t>
            </a:r>
          </a:p>
        </p:txBody>
      </p:sp>
      <p:sp>
        <p:nvSpPr>
          <p:cNvPr id="8" name="Change 2"/>
          <p:cNvSpPr/>
          <p:nvPr/>
        </p:nvSpPr>
        <p:spPr>
          <a:xfrm>
            <a:off x="6233007" y="141732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adge 2"/>
          <p:cNvSpPr/>
          <p:nvPr/>
        </p:nvSpPr>
        <p:spPr>
          <a:xfrm>
            <a:off x="6598767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30287" y="1801368"/>
            <a:ext cx="394700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Leverage Avoca To The Fullest</a:t>
            </a:r>
          </a:p>
        </p:txBody>
      </p:sp>
      <p:sp>
        <p:nvSpPr>
          <p:cNvPr id="11" name="Change 3"/>
          <p:cNvSpPr/>
          <p:nvPr/>
        </p:nvSpPr>
        <p:spPr>
          <a:xfrm>
            <a:off x="548640" y="388620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Badge 3"/>
          <p:cNvSpPr/>
          <p:nvPr/>
        </p:nvSpPr>
        <p:spPr>
          <a:xfrm>
            <a:off x="914400" y="42519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19" y="4270248"/>
            <a:ext cx="394700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Merge Agencies</a:t>
            </a:r>
          </a:p>
        </p:txBody>
      </p:sp>
      <p:sp>
        <p:nvSpPr>
          <p:cNvPr id="14" name="Change 4"/>
          <p:cNvSpPr/>
          <p:nvPr/>
        </p:nvSpPr>
        <p:spPr>
          <a:xfrm>
            <a:off x="6233007" y="3886200"/>
            <a:ext cx="5410047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adge 4"/>
          <p:cNvSpPr/>
          <p:nvPr/>
        </p:nvSpPr>
        <p:spPr>
          <a:xfrm>
            <a:off x="6598767" y="425196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30287" y="4270248"/>
            <a:ext cx="3947007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4213D"/>
                </a:solidFill>
                <a:latin typeface="Arial"/>
              </a:rPr>
              <a:t>Take Coastal Carolina Comfort Website Dormant And Move All Traffic To Our Website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Great Opportunities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4</a:t>
            </a:r>
          </a:p>
        </p:txBody>
      </p:sp>
      <p:sp>
        <p:nvSpPr>
          <p:cNvPr id="5" name="Opportunity 1"/>
          <p:cNvSpPr/>
          <p:nvPr/>
        </p:nvSpPr>
        <p:spPr>
          <a:xfrm>
            <a:off x="548640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Badge 1"/>
          <p:cNvSpPr/>
          <p:nvPr/>
        </p:nvSpPr>
        <p:spPr>
          <a:xfrm>
            <a:off x="868680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87517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Improve Myrtle Beach GBP</a:t>
            </a:r>
          </a:p>
        </p:txBody>
      </p:sp>
      <p:sp>
        <p:nvSpPr>
          <p:cNvPr id="8" name="Opportunity 2"/>
          <p:cNvSpPr/>
          <p:nvPr/>
        </p:nvSpPr>
        <p:spPr>
          <a:xfrm>
            <a:off x="4338218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Badge 2"/>
          <p:cNvSpPr/>
          <p:nvPr/>
        </p:nvSpPr>
        <p:spPr>
          <a:xfrm>
            <a:off x="4658258" y="1783080"/>
            <a:ext cx="502920" cy="502920"/>
          </a:xfrm>
          <a:prstGeom prst="ellipse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4213D"/>
                </a:solidFill>
                <a:latin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8258" y="2560320"/>
            <a:ext cx="287517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F7F6F2"/>
                </a:solidFill>
                <a:latin typeface="Arial"/>
              </a:rPr>
              <a:t>Leverage LettrLabs Direct Mail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8258" y="3931920"/>
            <a:ext cx="2875178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3E3"/>
                </a:solidFill>
                <a:latin typeface="Arial"/>
              </a:rPr>
              <a:t>•  Increased budget</a:t>
            </a:r>
          </a:p>
          <a:p>
            <a:pPr algn="l">
              <a:spcAft>
                <a:spcPts val="600"/>
              </a:spcAft>
            </a:pPr>
            <a:r>
              <a:rPr sz="1800" b="0">
                <a:solidFill>
                  <a:srgbClr val="C9D3E3"/>
                </a:solidFill>
                <a:latin typeface="Arial"/>
              </a:rPr>
              <a:t>•  Broader focus</a:t>
            </a:r>
          </a:p>
        </p:txBody>
      </p:sp>
      <p:sp>
        <p:nvSpPr>
          <p:cNvPr id="12" name="Opportunity 3"/>
          <p:cNvSpPr/>
          <p:nvPr/>
        </p:nvSpPr>
        <p:spPr>
          <a:xfrm>
            <a:off x="8127796" y="1417320"/>
            <a:ext cx="3515258" cy="3291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Badge 3"/>
          <p:cNvSpPr/>
          <p:nvPr/>
        </p:nvSpPr>
        <p:spPr>
          <a:xfrm>
            <a:off x="8447836" y="1783080"/>
            <a:ext cx="502920" cy="502920"/>
          </a:xfrm>
          <a:prstGeom prst="ellipse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47836" y="2560320"/>
            <a:ext cx="287517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Arial"/>
              </a:rPr>
              <a:t>Website Refinement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4213D"/>
                </a:solidFill>
                <a:latin typeface="Arial"/>
              </a:rPr>
              <a:t>Marketing Budget: $613,750</a:t>
            </a:r>
          </a:p>
        </p:txBody>
      </p:sp>
      <p:sp>
        <p:nvSpPr>
          <p:cNvPr id="3" name="Footer"/>
          <p:cNvSpPr txBox="1"/>
          <p:nvPr/>
        </p:nvSpPr>
        <p:spPr>
          <a:xfrm>
            <a:off x="548640" y="6355080"/>
            <a:ext cx="101800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5A6478"/>
                </a:solidFill>
                <a:latin typeface="Arial"/>
              </a:rPr>
              <a:t>Coastal Air Plus · 2027 Marketing Plan</a:t>
            </a:r>
          </a:p>
        </p:txBody>
      </p:sp>
      <p:sp>
        <p:nvSpPr>
          <p:cNvPr id="4" name="Page number"/>
          <p:cNvSpPr txBox="1"/>
          <p:nvPr/>
        </p:nvSpPr>
        <p:spPr>
          <a:xfrm>
            <a:off x="11094415" y="635508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5A6478"/>
                </a:solidFill>
                <a:latin typeface="Arial"/>
              </a:rPr>
              <a:t>5</a:t>
            </a:r>
          </a:p>
        </p:txBody>
      </p:sp>
      <p:graphicFrame>
        <p:nvGraphicFramePr>
          <p:cNvPr id="5" name="Budget table"/>
          <p:cNvGraphicFramePr>
            <a:graphicFrameLocks noGrp="1"/>
          </p:cNvGraphicFramePr>
          <p:nvPr/>
        </p:nvGraphicFramePr>
        <p:xfrm>
          <a:off x="548640" y="1234440"/>
          <a:ext cx="6766560" cy="493776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1645920"/>
                <a:gridCol w="128016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Line item</a:t>
                      </a:r>
                    </a:p>
                  </a:txBody>
                  <a:tcPr marL="91440" marR="91440" marT="18288" marB="18288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2027 budget</a:t>
                      </a:r>
                    </a:p>
                  </a:txBody>
                  <a:tcPr marL="91440" marR="91440" marT="18288" marB="18288" anchor="ctr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Share</a:t>
                      </a:r>
                    </a:p>
                  </a:txBody>
                  <a:tcPr marL="91440" marR="91440" marT="18288" marB="18288" anchor="ctr"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Direct Response/Digital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$420,000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68.4%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SEO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$30,000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Aespire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$30,000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4.9%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Direct Mail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$75,000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12.2%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 Design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$3,000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0.5%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Printing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$8,000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1.3%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Sponsorships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$1,000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0.2%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Events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$5,000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0.8%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Truck Wraps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$12,500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2.0%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Service Titan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$19,000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3.1%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Contractor Commerce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$8,000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1.3%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Associations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$750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0.1%</a:t>
                      </a:r>
                    </a:p>
                  </a:txBody>
                  <a:tcPr marL="91440" marR="91440" marT="18288" marB="18288" anchor="ctr">
                    <a:solidFill>
                      <a:srgbClr val="F7F6F2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Kino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$1,500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0.2%</a:t>
                      </a:r>
                    </a:p>
                  </a:txBody>
                  <a:tcPr marL="91440" marR="91440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18288" marB="18288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$613,750</a:t>
                      </a:r>
                    </a:p>
                  </a:txBody>
                  <a:tcPr marL="91440" marR="91440" marT="18288" marB="18288" anchor="ctr">
                    <a:solidFill>
                      <a:srgbClr val="E8EC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100%</a:t>
                      </a:r>
                    </a:p>
                  </a:txBody>
                  <a:tcPr marL="91440" marR="91440" marT="18288" marB="18288" anchor="ctr">
                    <a:solidFill>
                      <a:srgbClr val="E8ECF3"/>
                    </a:solidFill>
                  </a:tcPr>
                </a:tc>
              </a:tr>
            </a:tbl>
          </a:graphicData>
        </a:graphic>
      </p:graphicFrame>
      <p:sp>
        <p:nvSpPr>
          <p:cNvPr id="6" name="Total budget"/>
          <p:cNvSpPr/>
          <p:nvPr/>
        </p:nvSpPr>
        <p:spPr>
          <a:xfrm>
            <a:off x="7589520" y="1234440"/>
            <a:ext cx="4053535" cy="2194560"/>
          </a:xfrm>
          <a:prstGeom prst="roundRect">
            <a:avLst>
              <a:gd name="adj" fmla="val 5000"/>
            </a:avLst>
          </a:prstGeom>
          <a:solidFill>
            <a:srgbClr val="14213D"/>
          </a:solidFill>
          <a:ln w="9525">
            <a:solidFill>
              <a:srgbClr val="1421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09560" y="1508760"/>
            <a:ext cx="3413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C9D3E3"/>
                </a:solidFill>
                <a:latin typeface="Arial"/>
              </a:rPr>
              <a:t>TOTAL 2027 BUDGET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09560" y="1874519"/>
            <a:ext cx="341345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>
                <a:solidFill>
                  <a:srgbClr val="F2A65A"/>
                </a:solidFill>
                <a:latin typeface="Arial"/>
              </a:rPr>
              <a:t>$613,750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09560" y="2788920"/>
            <a:ext cx="3413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C9D3E3"/>
                </a:solidFill>
                <a:latin typeface="Arial"/>
              </a:rPr>
              <a:t>13 line items</a:t>
            </a:r>
          </a:p>
        </p:txBody>
      </p:sp>
      <p:sp>
        <p:nvSpPr>
          <p:cNvPr id="10" name="Largest items"/>
          <p:cNvSpPr/>
          <p:nvPr/>
        </p:nvSpPr>
        <p:spPr>
          <a:xfrm>
            <a:off x="7589520" y="3703320"/>
            <a:ext cx="4053535" cy="2468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2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3977639"/>
            <a:ext cx="341345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A6478"/>
                </a:solidFill>
                <a:latin typeface="Arial"/>
              </a:rPr>
              <a:t>LARGEST ITEMS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4389120"/>
            <a:ext cx="341345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14213D"/>
                </a:solidFill>
                <a:latin typeface="Arial"/>
              </a:rPr>
              <a:t>Direct Response/Digital: 68%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213D"/>
                </a:solidFill>
                <a:latin typeface="Arial"/>
              </a:rPr>
              <a:t>Direct Mail: 12%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14213D"/>
                </a:solidFill>
                <a:latin typeface="Arial"/>
              </a:rPr>
              <a:t>SEO and Aespire: 5% each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Coastal Air Plus YTD Performance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