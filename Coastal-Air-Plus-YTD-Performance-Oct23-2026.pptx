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2"/>
    <p:sldId id="268" r:id="rId20"/>
    <p:sldId id="272" r:id="rId24"/>
    <p:sldId id="269" r:id="rId21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20" Type="http://schemas.openxmlformats.org/officeDocument/2006/relationships/slide" Target="slides/slide3.xml"/><Relationship Id="rId21" Type="http://schemas.openxmlformats.org/officeDocument/2006/relationships/slide" Target="slides/slide5.xml"/><Relationship Id="rId22" Type="http://schemas.openxmlformats.org/officeDocument/2006/relationships/slide" Target="slides/slide2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Coastal Air Plus marketing performance from January 1 through October 23, 2026. Digital figures come directly from Searchlight's performance-by report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closed revenue from Searchlight is $841,452 for January 1 to October 23. Adding $94,000 from LettrLabs direct mail brings the total to $935,452. TV revenue has not been provided yet, so it is a placeholder and not in the total. Searchlight's digital figure already includes $1,627 from two campaigns named Direct Mail; the LettrLabs figure is reported separately. The LettrLabs amount is as provided earlier and may cover a different date range than Jan 1 to Oct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 revenue of 841 thousand on 174 thousand of ad spend. The 4.8x return counts revenue from every channel against ad spend; paid advertising on its own returned about 2x. The brand-assisted figure is an estimate explained on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Organic, led by the Charleston Google Business Profile, and paid advertising each bring in about 350 thousand. Advertising returns about 2 dollars per dollar spent.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brand-assisted estimate comes from a job-by-job trace of Searchlight data: about 106 thousand came back through direct website visits, 56 thousand through website forms, 51 thousand through organic and 13 thousand through ads. It is not a Searchlight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search and the plumbing Local Services Ads listing return around 9 to 11 dollars per dollar. The HVAC LSA listing and Carolina-Cool competitor search are lower but still return more than twice their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paid campaigns closed less revenue than they cost. The Myrtle Beach non-brand HVAC and plumbing search campaigns are the largest. Recent offer campaigns may still close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Unpaid sources with more than 10 thousand in closed revenue. Book rate = booked jobs divided by unique leads. Charleston GBP alone closed about 214 thousand from 636 unique leads, far ahead of Myrtle Beach GBP.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campaigns with any activity, ranked by closed revenue. Direct Mktg = Direct Marketing; AI = Artificial Intelligence. Unique leads are counted per campaign, so a person who came through two campaigns appears in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campaigns with any activity, ranked by closed revenue. Direct Mktg = Direct Marketing; AI = Artificial Intelligence. Unique leads are counted per campaign, so a person who came through two campaigns appears in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campaigns with any activity, ranked by closed revenue. Direct Mktg = Direct Marketing; AI = Artificial Intelligence. Unique leads are counted per campaign, so a person who came through two campaigns appears in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campaigns with any activity, ranked by closed revenue. Direct Mktg = Direct Marketing; AI = Artificial Intelligence. Unique leads are counted per campaign, so a person who came through two campaigns appears in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Earlier versions of this deck showed 1.06 million through September because they added up month-by-month data, which shifts credit between channels. This version uses Searchlight's single-period export and matches the report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Arial"/>
              </a:rPr>
              <a:t>SEARCHLIGHT PERFORMANCE REVIEW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7F6F2"/>
                </a:solidFill>
                <a:latin typeface="Arial"/>
              </a:rPr>
              <a:t>Coastal Air Plus</a:t>
            </a:r>
          </a:p>
          <a:p>
            <a:pPr algn="l"/>
            <a:r>
              <a:rPr sz="4800" b="1">
                <a:solidFill>
                  <a:srgbClr val="F7F6F2"/>
                </a:solidFill>
                <a:latin typeface="Arial"/>
              </a:rPr>
              <a:t>Year-to-Date Results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3977639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9D3E3"/>
                </a:solidFill>
                <a:latin typeface="Arial"/>
              </a:rPr>
              <a:t>January 1 – October 23, 2026 · by channel and campaign</a:t>
            </a:r>
          </a:p>
        </p:txBody>
      </p:sp>
      <p:sp>
        <p:nvSpPr>
          <p:cNvPr id="5" name="Filter note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9"/>
                </a:solidFill>
                <a:latin typeface="Arial"/>
              </a:rPr>
              <a:t>All digital figures from Searchlight's performance-by report. Excludes 46 retention, membership, estimate follow-up, SMS reminder and Mainline campaigns.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4213D"/>
                </a:solidFill>
                <a:latin typeface="Arial"/>
              </a:rPr>
              <a:t>A Customer’s Journey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6096000" y="1931920"/>
            <a:ext cx="0" cy="2000000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4" name="Connector"/>
          <p:cNvCxnSpPr/>
          <p:nvPr/>
        </p:nvCxnSpPr>
        <p:spPr>
          <a:xfrm flipV="1">
            <a:off x="6096000" y="2313886"/>
            <a:ext cx="2703812" cy="1618034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5" name="Connector"/>
          <p:cNvCxnSpPr/>
          <p:nvPr/>
        </p:nvCxnSpPr>
        <p:spPr>
          <a:xfrm flipV="1">
            <a:off x="6096000" y="3313886"/>
            <a:ext cx="4374859" cy="618034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6" name="Connector"/>
          <p:cNvCxnSpPr/>
          <p:nvPr/>
        </p:nvCxnSpPr>
        <p:spPr>
          <a:xfrm>
            <a:off x="6096000" y="3931920"/>
            <a:ext cx="4374859" cy="618033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7" name="Connector"/>
          <p:cNvCxnSpPr/>
          <p:nvPr/>
        </p:nvCxnSpPr>
        <p:spPr>
          <a:xfrm>
            <a:off x="6096000" y="3931920"/>
            <a:ext cx="2703812" cy="1618033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8" name="Connector"/>
          <p:cNvCxnSpPr/>
          <p:nvPr/>
        </p:nvCxnSpPr>
        <p:spPr>
          <a:xfrm>
            <a:off x="6096000" y="3931920"/>
            <a:ext cx="0" cy="2000000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9" name="Connector"/>
          <p:cNvCxnSpPr/>
          <p:nvPr/>
        </p:nvCxnSpPr>
        <p:spPr>
          <a:xfrm flipV="1">
            <a:off x="3392187" y="3931920"/>
            <a:ext cx="2703813" cy="1618033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10" name="Connector"/>
          <p:cNvCxnSpPr/>
          <p:nvPr/>
        </p:nvCxnSpPr>
        <p:spPr>
          <a:xfrm flipV="1">
            <a:off x="1721140" y="3931920"/>
            <a:ext cx="4374860" cy="618033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11" name="Connector"/>
          <p:cNvCxnSpPr/>
          <p:nvPr/>
        </p:nvCxnSpPr>
        <p:spPr>
          <a:xfrm>
            <a:off x="1721140" y="3313886"/>
            <a:ext cx="4374860" cy="618034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cxnSp>
        <p:nvCxnSpPr>
          <p:cNvPr id="12" name="Connector"/>
          <p:cNvCxnSpPr/>
          <p:nvPr/>
        </p:nvCxnSpPr>
        <p:spPr>
          <a:xfrm>
            <a:off x="3392187" y="2313886"/>
            <a:ext cx="2703813" cy="1618034"/>
          </a:xfrm>
          <a:prstGeom prst="line">
            <a:avLst/>
          </a:prstGeom>
          <a:ln w="12700">
            <a:solidFill>
              <a:srgbClr val="C9CDD6"/>
            </a:solidFill>
            <a:prstDash val="dash"/>
          </a:ln>
        </p:spPr>
      </p:cxnSp>
      <p:sp>
        <p:nvSpPr>
          <p:cNvPr id="13" name="Customer"/>
          <p:cNvSpPr/>
          <p:nvPr/>
        </p:nvSpPr>
        <p:spPr>
          <a:xfrm>
            <a:off x="5227320" y="3063240"/>
            <a:ext cx="1737360" cy="1737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2000" b="1">
                <a:solidFill>
                  <a:srgbClr val="F7F6F2"/>
                </a:solidFill>
                <a:latin typeface="Arial"/>
              </a:rPr>
              <a:t>Customer</a:t>
            </a:r>
          </a:p>
        </p:txBody>
      </p:sp>
      <p:sp>
        <p:nvSpPr>
          <p:cNvPr id="14" name="Touchpoint TV"/>
          <p:cNvSpPr/>
          <p:nvPr/>
        </p:nvSpPr>
        <p:spPr>
          <a:xfrm>
            <a:off x="5364480" y="1634740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TV</a:t>
            </a:r>
          </a:p>
        </p:txBody>
      </p:sp>
      <p:sp>
        <p:nvSpPr>
          <p:cNvPr id="15" name="Touchpoint Direct Mail"/>
          <p:cNvSpPr/>
          <p:nvPr/>
        </p:nvSpPr>
        <p:spPr>
          <a:xfrm>
            <a:off x="7944848" y="2016706"/>
            <a:ext cx="1709928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Direct Mail</a:t>
            </a:r>
          </a:p>
        </p:txBody>
      </p:sp>
      <p:sp>
        <p:nvSpPr>
          <p:cNvPr id="16" name="Touchpoint GBP"/>
          <p:cNvSpPr/>
          <p:nvPr/>
        </p:nvSpPr>
        <p:spPr>
          <a:xfrm>
            <a:off x="9739339" y="3016706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GBP</a:t>
            </a:r>
          </a:p>
        </p:txBody>
      </p:sp>
      <p:sp>
        <p:nvSpPr>
          <p:cNvPr id="17" name="Touchpoint Website"/>
          <p:cNvSpPr/>
          <p:nvPr/>
        </p:nvSpPr>
        <p:spPr>
          <a:xfrm>
            <a:off x="9739339" y="4252773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Website</a:t>
            </a:r>
          </a:p>
        </p:txBody>
      </p:sp>
      <p:sp>
        <p:nvSpPr>
          <p:cNvPr id="18" name="Touchpoint Promos"/>
          <p:cNvSpPr/>
          <p:nvPr/>
        </p:nvSpPr>
        <p:spPr>
          <a:xfrm>
            <a:off x="8068292" y="5252773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Promos</a:t>
            </a:r>
          </a:p>
        </p:txBody>
      </p:sp>
      <p:sp>
        <p:nvSpPr>
          <p:cNvPr id="19" name="Touchpoint Outbound Text Campaigns"/>
          <p:cNvSpPr/>
          <p:nvPr/>
        </p:nvSpPr>
        <p:spPr>
          <a:xfrm>
            <a:off x="4582669" y="5634740"/>
            <a:ext cx="3026663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Outbound Text Campaigns</a:t>
            </a:r>
          </a:p>
        </p:txBody>
      </p:sp>
      <p:sp>
        <p:nvSpPr>
          <p:cNvPr id="20" name="Touchpoint Inbound"/>
          <p:cNvSpPr/>
          <p:nvPr/>
        </p:nvSpPr>
        <p:spPr>
          <a:xfrm>
            <a:off x="2660667" y="5252773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Inbound</a:t>
            </a:r>
          </a:p>
        </p:txBody>
      </p:sp>
      <p:sp>
        <p:nvSpPr>
          <p:cNvPr id="21" name="Touchpoint Facebook"/>
          <p:cNvSpPr/>
          <p:nvPr/>
        </p:nvSpPr>
        <p:spPr>
          <a:xfrm>
            <a:off x="989620" y="4252773"/>
            <a:ext cx="14630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Facebook</a:t>
            </a:r>
          </a:p>
        </p:txBody>
      </p:sp>
      <p:sp>
        <p:nvSpPr>
          <p:cNvPr id="22" name="Touchpoint Google Ads"/>
          <p:cNvSpPr/>
          <p:nvPr/>
        </p:nvSpPr>
        <p:spPr>
          <a:xfrm>
            <a:off x="921040" y="3016706"/>
            <a:ext cx="1600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Google Ads</a:t>
            </a:r>
          </a:p>
        </p:txBody>
      </p:sp>
      <p:sp>
        <p:nvSpPr>
          <p:cNvPr id="23" name="Touchpoint Fleetworx"/>
          <p:cNvSpPr/>
          <p:nvPr/>
        </p:nvSpPr>
        <p:spPr>
          <a:xfrm>
            <a:off x="2646951" y="2016706"/>
            <a:ext cx="1490472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</p:spPr>
        <p:txBody>
          <a:bodyPr wrap="none" anchor="ctr" lIns="91440" rIns="91440" tIns="0" bIns="0"/>
          <a:lstStyle/>
          <a:p>
            <a:pPr algn="ctr"/>
            <a:r>
              <a:rPr lang="en-US" sz="1600" b="1">
                <a:solidFill>
                  <a:srgbClr val="14213D"/>
                </a:solidFill>
                <a:latin typeface="Arial"/>
              </a:rPr>
              <a:t>Fleetworx</a:t>
            </a:r>
          </a:p>
        </p:txBody>
      </p:sp>
      <p:sp>
        <p:nvSpPr>
          <p:cNvPr id="2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000" b="0">
                <a:solidFill>
                  <a:srgbClr val="5A64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4213D"/>
                </a:solidFill>
                <a:latin typeface="Arial"/>
              </a:rPr>
              <a:t>Total revenue: $935K across digital, TV and direct mail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000" b="0">
                <a:solidFill>
                  <a:srgbClr val="5A6478"/>
                </a:solidFill>
                <a:latin typeface="Arial"/>
              </a:rPr>
              <a:t>Sources: Searchlight (digital, Jan 1 – Oct 23, 2026) · LettrLabs (direct mail, as provided)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000" b="0">
                <a:solidFill>
                  <a:srgbClr val="5A6478"/>
                </a:solidFill>
                <a:latin typeface="Arial"/>
              </a:rPr>
              <a:t>3</a:t>
            </a:r>
          </a:p>
        </p:txBody>
      </p:sp>
      <p:sp>
        <p:nvSpPr>
          <p:cNvPr id="5" name="Source Digital"/>
          <p:cNvSpPr/>
          <p:nvPr/>
        </p:nvSpPr>
        <p:spPr>
          <a:xfrm>
            <a:off x="548640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gital label"/>
          <p:cNvSpPr txBox="1"/>
          <p:nvPr/>
        </p:nvSpPr>
        <p:spPr>
          <a:xfrm>
            <a:off x="868680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5A6478"/>
                </a:solidFill>
                <a:latin typeface="Arial"/>
              </a:rPr>
              <a:t>DIGITAL · SEARCHLIGHT</a:t>
            </a:r>
          </a:p>
        </p:txBody>
      </p:sp>
      <p:sp>
        <p:nvSpPr>
          <p:cNvPr id="7" name="Digital value"/>
          <p:cNvSpPr txBox="1"/>
          <p:nvPr/>
        </p:nvSpPr>
        <p:spPr>
          <a:xfrm>
            <a:off x="868680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4800" b="1">
                <a:solidFill>
                  <a:srgbClr val="14213D"/>
                </a:solidFill>
                <a:latin typeface="Arial"/>
              </a:rPr>
              <a:t>$841K</a:t>
            </a:r>
          </a:p>
        </p:txBody>
      </p:sp>
      <p:sp>
        <p:nvSpPr>
          <p:cNvPr id="8" name="Digital detail"/>
          <p:cNvSpPr txBox="1"/>
          <p:nvPr/>
        </p:nvSpPr>
        <p:spPr>
          <a:xfrm>
            <a:off x="868680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5A6478"/>
                </a:solidFill>
                <a:latin typeface="Arial"/>
              </a:rPr>
              <a:t>$841,452 closed revenue</a:t>
            </a:r>
          </a:p>
        </p:txBody>
      </p:sp>
      <p:sp>
        <p:nvSpPr>
          <p:cNvPr id="9" name="Source TV"/>
          <p:cNvSpPr/>
          <p:nvPr/>
        </p:nvSpPr>
        <p:spPr>
          <a:xfrm>
            <a:off x="4337218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V label"/>
          <p:cNvSpPr txBox="1"/>
          <p:nvPr/>
        </p:nvSpPr>
        <p:spPr>
          <a:xfrm>
            <a:off x="4657258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5A6478"/>
                </a:solidFill>
                <a:latin typeface="Arial"/>
              </a:rPr>
              <a:t>TV</a:t>
            </a:r>
          </a:p>
        </p:txBody>
      </p:sp>
      <p:sp>
        <p:nvSpPr>
          <p:cNvPr id="11" name="TV value"/>
          <p:cNvSpPr txBox="1"/>
          <p:nvPr/>
        </p:nvSpPr>
        <p:spPr>
          <a:xfrm>
            <a:off x="4657258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4800" b="1">
                <a:solidFill>
                  <a:srgbClr val="5A6478"/>
                </a:solidFill>
                <a:latin typeface="Arial"/>
              </a:rPr>
              <a:t>—</a:t>
            </a:r>
          </a:p>
        </p:txBody>
      </p:sp>
      <p:sp>
        <p:nvSpPr>
          <p:cNvPr id="12" name="TV detail"/>
          <p:cNvSpPr txBox="1"/>
          <p:nvPr/>
        </p:nvSpPr>
        <p:spPr>
          <a:xfrm>
            <a:off x="4657258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5A6478"/>
                </a:solidFill>
                <a:latin typeface="Arial"/>
              </a:rPr>
              <a:t>Amount not yet provided</a:t>
            </a:r>
          </a:p>
        </p:txBody>
      </p:sp>
      <p:sp>
        <p:nvSpPr>
          <p:cNvPr id="13" name="Source Direct Mail"/>
          <p:cNvSpPr/>
          <p:nvPr/>
        </p:nvSpPr>
        <p:spPr>
          <a:xfrm>
            <a:off x="8125796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rect Mail label"/>
          <p:cNvSpPr txBox="1"/>
          <p:nvPr/>
        </p:nvSpPr>
        <p:spPr>
          <a:xfrm>
            <a:off x="8445836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5A6478"/>
                </a:solidFill>
                <a:latin typeface="Arial"/>
              </a:rPr>
              <a:t>DIRECT MAIL · LETTRLABS</a:t>
            </a:r>
          </a:p>
        </p:txBody>
      </p:sp>
      <p:sp>
        <p:nvSpPr>
          <p:cNvPr id="15" name="Direct Mail value"/>
          <p:cNvSpPr txBox="1"/>
          <p:nvPr/>
        </p:nvSpPr>
        <p:spPr>
          <a:xfrm>
            <a:off x="8445836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4800" b="1">
                <a:solidFill>
                  <a:srgbClr val="14213D"/>
                </a:solidFill>
                <a:latin typeface="Arial"/>
              </a:rPr>
              <a:t>$94K</a:t>
            </a:r>
          </a:p>
        </p:txBody>
      </p:sp>
      <p:sp>
        <p:nvSpPr>
          <p:cNvPr id="16" name="Direct Mail detail"/>
          <p:cNvSpPr txBox="1"/>
          <p:nvPr/>
        </p:nvSpPr>
        <p:spPr>
          <a:xfrm>
            <a:off x="8445836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5A6478"/>
                </a:solidFill>
                <a:latin typeface="Arial"/>
              </a:rPr>
              <a:t>$94,000</a:t>
            </a:r>
          </a:p>
        </p:txBody>
      </p:sp>
      <p:sp>
        <p:nvSpPr>
          <p:cNvPr id="17" name="Total Revenue"/>
          <p:cNvSpPr/>
          <p:nvPr/>
        </p:nvSpPr>
        <p:spPr>
          <a:xfrm>
            <a:off x="548640" y="3840480"/>
            <a:ext cx="11094416" cy="2148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tal label"/>
          <p:cNvSpPr txBox="1"/>
          <p:nvPr/>
        </p:nvSpPr>
        <p:spPr>
          <a:xfrm>
            <a:off x="868680" y="4114800"/>
            <a:ext cx="50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200" b="1">
                <a:solidFill>
                  <a:srgbClr val="C9D3E3"/>
                </a:solidFill>
                <a:latin typeface="Arial"/>
              </a:rPr>
              <a:t>TOTAL REVENUE, ALL SOURCES</a:t>
            </a:r>
          </a:p>
        </p:txBody>
      </p:sp>
      <p:sp>
        <p:nvSpPr>
          <p:cNvPr id="19" name="Total value"/>
          <p:cNvSpPr txBox="1"/>
          <p:nvPr/>
        </p:nvSpPr>
        <p:spPr>
          <a:xfrm>
            <a:off x="868680" y="4480560"/>
            <a:ext cx="500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4800" b="1">
                <a:solidFill>
                  <a:srgbClr val="F2A65A"/>
                </a:solidFill>
                <a:latin typeface="Arial"/>
              </a:rPr>
              <a:t>$935K</a:t>
            </a:r>
          </a:p>
        </p:txBody>
      </p:sp>
      <p:sp>
        <p:nvSpPr>
          <p:cNvPr id="20" name="Total detail"/>
          <p:cNvSpPr txBox="1"/>
          <p:nvPr/>
        </p:nvSpPr>
        <p:spPr>
          <a:xfrm>
            <a:off x="868680" y="5394960"/>
            <a:ext cx="500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C9D3E3"/>
                </a:solidFill>
                <a:latin typeface="Arial"/>
              </a:rPr>
              <a:t>$935,452</a:t>
            </a:r>
          </a:p>
        </p:txBody>
      </p:sp>
      <p:sp>
        <p:nvSpPr>
          <p:cNvPr id="21" name="Breakdown 1 name"/>
          <p:cNvSpPr txBox="1"/>
          <p:nvPr/>
        </p:nvSpPr>
        <p:spPr>
          <a:xfrm>
            <a:off x="6400800" y="4206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C9D3E3"/>
                </a:solidFill>
                <a:latin typeface="Arial"/>
              </a:rPr>
              <a:t>Digital (Searchlight)</a:t>
            </a:r>
          </a:p>
        </p:txBody>
      </p:sp>
      <p:sp>
        <p:nvSpPr>
          <p:cNvPr id="22" name="Breakdown 1 amount"/>
          <p:cNvSpPr txBox="1"/>
          <p:nvPr/>
        </p:nvSpPr>
        <p:spPr>
          <a:xfrm>
            <a:off x="9601200" y="4206240"/>
            <a:ext cx="17145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400" b="1">
                <a:solidFill>
                  <a:srgbClr val="F7F6F2"/>
                </a:solidFill>
                <a:latin typeface="Arial"/>
              </a:rPr>
              <a:t>$841,452</a:t>
            </a:r>
          </a:p>
        </p:txBody>
      </p:sp>
      <p:sp>
        <p:nvSpPr>
          <p:cNvPr id="23" name="Breakdown 2 name"/>
          <p:cNvSpPr txBox="1"/>
          <p:nvPr/>
        </p:nvSpPr>
        <p:spPr>
          <a:xfrm>
            <a:off x="6400800" y="4663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C9D3E3"/>
                </a:solidFill>
                <a:latin typeface="Arial"/>
              </a:rPr>
              <a:t>TV</a:t>
            </a:r>
          </a:p>
        </p:txBody>
      </p:sp>
      <p:sp>
        <p:nvSpPr>
          <p:cNvPr id="24" name="Breakdown 2 amount"/>
          <p:cNvSpPr txBox="1"/>
          <p:nvPr/>
        </p:nvSpPr>
        <p:spPr>
          <a:xfrm>
            <a:off x="9601200" y="4663440"/>
            <a:ext cx="17145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400" b="1">
                <a:solidFill>
                  <a:srgbClr val="F7F6F2"/>
                </a:solidFill>
                <a:latin typeface="Arial"/>
              </a:rPr>
              <a:t>—</a:t>
            </a:r>
          </a:p>
        </p:txBody>
      </p:sp>
      <p:sp>
        <p:nvSpPr>
          <p:cNvPr id="25" name="Breakdown 3 name"/>
          <p:cNvSpPr txBox="1"/>
          <p:nvPr/>
        </p:nvSpPr>
        <p:spPr>
          <a:xfrm>
            <a:off x="6400800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0">
                <a:solidFill>
                  <a:srgbClr val="C9D3E3"/>
                </a:solidFill>
                <a:latin typeface="Arial"/>
              </a:rPr>
              <a:t>Direct mail (LettrLabs)</a:t>
            </a:r>
          </a:p>
        </p:txBody>
      </p:sp>
      <p:sp>
        <p:nvSpPr>
          <p:cNvPr id="26" name="Breakdown 3 amount"/>
          <p:cNvSpPr txBox="1"/>
          <p:nvPr/>
        </p:nvSpPr>
        <p:spPr>
          <a:xfrm>
            <a:off x="9601200" y="5120640"/>
            <a:ext cx="17145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400" b="1">
                <a:solidFill>
                  <a:srgbClr val="F7F6F2"/>
                </a:solidFill>
                <a:latin typeface="Arial"/>
              </a:rPr>
              <a:t>$94,000</a:t>
            </a:r>
          </a:p>
        </p:txBody>
      </p:sp>
      <p:cxnSp>
        <p:nvCxnSpPr>
          <p:cNvPr id="27" name="Breakdown rule"/>
          <p:cNvCxnSpPr/>
          <p:nvPr/>
        </p:nvCxnSpPr>
        <p:spPr>
          <a:xfrm>
            <a:off x="6400800" y="5486400"/>
            <a:ext cx="4914900" cy="0"/>
          </a:xfrm>
          <a:prstGeom prst="line">
            <a:avLst/>
          </a:prstGeom>
          <a:ln w="9525">
            <a:solidFill>
              <a:srgbClr val="5A6478"/>
            </a:solidFill>
          </a:ln>
        </p:spPr>
      </p:cxnSp>
      <p:sp>
        <p:nvSpPr>
          <p:cNvPr id="28" name="Breakdown total name"/>
          <p:cNvSpPr txBox="1"/>
          <p:nvPr/>
        </p:nvSpPr>
        <p:spPr>
          <a:xfrm>
            <a:off x="6400800" y="55778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1400" b="1">
                <a:solidFill>
                  <a:srgbClr val="F7F6F2"/>
                </a:solidFill>
                <a:latin typeface="Arial"/>
              </a:rPr>
              <a:t>Total</a:t>
            </a:r>
          </a:p>
        </p:txBody>
      </p:sp>
      <p:sp>
        <p:nvSpPr>
          <p:cNvPr id="29" name="Breakdown total amount"/>
          <p:cNvSpPr txBox="1"/>
          <p:nvPr/>
        </p:nvSpPr>
        <p:spPr>
          <a:xfrm>
            <a:off x="9601200" y="5577840"/>
            <a:ext cx="17145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400" b="1">
                <a:solidFill>
                  <a:srgbClr val="F2A65A"/>
                </a:solidFill>
                <a:latin typeface="Arial"/>
              </a:rPr>
              <a:t>$935,452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2A65A"/>
                </a:solidFill>
                <a:latin typeface="Arial"/>
              </a:rPr>
              <a:t>SECTION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292608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en-US" sz="5400" b="1">
                <a:solidFill>
                  <a:srgbClr val="F7F6F2"/>
                </a:solidFill>
                <a:latin typeface="Arial"/>
              </a:rPr>
              <a:t>Digital Advertising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en-US" sz="1000" b="0">
                <a:solidFill>
                  <a:srgbClr val="9FB0C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Year to date: $841,452 closed on $173,872 of ad spend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4</a:t>
            </a:r>
          </a:p>
        </p:txBody>
      </p:sp>
      <p:sp>
        <p:nvSpPr>
          <p:cNvPr id="5" name="Stat Closed Revenue"/>
          <p:cNvSpPr/>
          <p:nvPr/>
        </p:nvSpPr>
        <p:spPr>
          <a:xfrm>
            <a:off x="548640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6478"/>
                </a:solidFill>
                <a:latin typeface="Arial"/>
              </a:rPr>
              <a:t>CLOSED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Arial"/>
              </a:rPr>
              <a:t>$841K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478"/>
                </a:solidFill>
                <a:latin typeface="Arial"/>
              </a:rPr>
              <a:t>$841,452</a:t>
            </a:r>
          </a:p>
        </p:txBody>
      </p:sp>
      <p:sp>
        <p:nvSpPr>
          <p:cNvPr id="9" name="Stat Unique Leads"/>
          <p:cNvSpPr/>
          <p:nvPr/>
        </p:nvSpPr>
        <p:spPr>
          <a:xfrm>
            <a:off x="4338218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8258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6478"/>
                </a:solidFill>
                <a:latin typeface="Arial"/>
              </a:rPr>
              <a:t>UNIQUE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8258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Arial"/>
              </a:rPr>
              <a:t>3,613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258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478"/>
                </a:solidFill>
                <a:latin typeface="Arial"/>
              </a:rPr>
              <a:t>5,007 total calls and forms</a:t>
            </a:r>
          </a:p>
        </p:txBody>
      </p:sp>
      <p:sp>
        <p:nvSpPr>
          <p:cNvPr id="13" name="Stat Booked Jobs"/>
          <p:cNvSpPr/>
          <p:nvPr/>
        </p:nvSpPr>
        <p:spPr>
          <a:xfrm>
            <a:off x="8127796" y="141732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7836" y="169164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6478"/>
                </a:solidFill>
                <a:latin typeface="Arial"/>
              </a:rPr>
              <a:t>BOOKED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7836" y="205740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Arial"/>
              </a:rPr>
              <a:t>714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7836" y="297180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478"/>
                </a:solidFill>
                <a:latin typeface="Arial"/>
              </a:rPr>
              <a:t>20% of unique leads</a:t>
            </a:r>
          </a:p>
        </p:txBody>
      </p:sp>
      <p:sp>
        <p:nvSpPr>
          <p:cNvPr id="17" name="Stat Ad Spend"/>
          <p:cNvSpPr/>
          <p:nvPr/>
        </p:nvSpPr>
        <p:spPr>
          <a:xfrm>
            <a:off x="548640" y="384048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D3E3"/>
                </a:solidFill>
                <a:latin typeface="Arial"/>
              </a:rPr>
              <a:t>AD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7F6F2"/>
                </a:solidFill>
                <a:latin typeface="Arial"/>
              </a:rPr>
              <a:t>$174K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Arial"/>
              </a:rPr>
              <a:t>$173,872</a:t>
            </a:r>
          </a:p>
        </p:txBody>
      </p:sp>
      <p:sp>
        <p:nvSpPr>
          <p:cNvPr id="21" name="Stat Cost Per Booked Job"/>
          <p:cNvSpPr/>
          <p:nvPr/>
        </p:nvSpPr>
        <p:spPr>
          <a:xfrm>
            <a:off x="4338218" y="384048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8258" y="411480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D3E3"/>
                </a:solidFill>
                <a:latin typeface="Arial"/>
              </a:rPr>
              <a:t>COST PER BOOKED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8258" y="448056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7F6F2"/>
                </a:solidFill>
                <a:latin typeface="Arial"/>
              </a:rPr>
              <a:t>$244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8258" y="539496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Arial"/>
              </a:rPr>
              <a:t>$48 per unique lead</a:t>
            </a:r>
          </a:p>
        </p:txBody>
      </p:sp>
      <p:sp>
        <p:nvSpPr>
          <p:cNvPr id="25" name="Stat Return On Ad Spend"/>
          <p:cNvSpPr/>
          <p:nvPr/>
        </p:nvSpPr>
        <p:spPr>
          <a:xfrm>
            <a:off x="8127796" y="3840480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7836" y="411480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D3E3"/>
                </a:solidFill>
                <a:latin typeface="Arial"/>
              </a:rPr>
              <a:t>RETURN ON AD 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7836" y="448056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2A65A"/>
                </a:solidFill>
                <a:latin typeface="Arial"/>
              </a:rPr>
              <a:t>4.8x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7836" y="539496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Arial"/>
              </a:rPr>
              <a:t>All closed revenue ÷ ad spend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Organic and advertising each drive about 41% of closed revenue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6</a:t>
            </a:r>
          </a:p>
        </p:txBody>
      </p:sp>
      <p:graphicFrame>
        <p:nvGraphicFramePr>
          <p:cNvPr id="5" name="Channel table"/>
          <p:cNvGraphicFramePr>
            <a:graphicFrameLocks noGrp="1"/>
          </p:cNvGraphicFramePr>
          <p:nvPr/>
        </p:nvGraphicFramePr>
        <p:xfrm>
          <a:off x="548640" y="1417320"/>
          <a:ext cx="11094415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371600"/>
                <a:gridCol w="1371600"/>
                <a:gridCol w="1371600"/>
                <a:gridCol w="1645920"/>
                <a:gridCol w="1097280"/>
                <a:gridCol w="121889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Unique 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Booked jobs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Closed revenue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1,135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$351,993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41.8%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$173,872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1,820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$348,694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41.4%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2.01x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$122,599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Direct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$16,989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Direct 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$1,177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0.1%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Artificial Intelligence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$173,872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3,613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$841,452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4213D"/>
                          </a:solidFill>
                          <a:latin typeface="Arial"/>
                        </a:rPr>
                        <a:t>4.84x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</a:tr>
            </a:tbl>
          </a:graphicData>
        </a:graphic>
      </p:graphicFrame>
      <p:sp>
        <p:nvSpPr>
          <p:cNvPr id="6" name="Channel note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Arial"/>
              </a:rPr>
              <a:t>Advertising spend includes $5,065 Searchlight could not tie to a campaign. "Other" is mostly website forms; "Direct" is direct web traffic.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Counting brand-assisted revenue: about $1.07M marketing-influenced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7</a:t>
            </a:r>
          </a:p>
        </p:txBody>
      </p:sp>
      <p:sp>
        <p:nvSpPr>
          <p:cNvPr id="5" name="Layer Tracked marketing"/>
          <p:cNvSpPr/>
          <p:nvPr/>
        </p:nvSpPr>
        <p:spPr>
          <a:xfrm>
            <a:off x="548640" y="141732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Tracked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$841,452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691640"/>
            <a:ext cx="6522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Arial"/>
              </a:rPr>
              <a:t>Searchlight's number: revenue credited to a marketing campaign as the customer's first contact this year.</a:t>
            </a:r>
          </a:p>
        </p:txBody>
      </p:sp>
      <p:sp>
        <p:nvSpPr>
          <p:cNvPr id="9" name="Layer Brand-assisted (estimate)"/>
          <p:cNvSpPr/>
          <p:nvPr/>
        </p:nvSpPr>
        <p:spPr>
          <a:xfrm>
            <a:off x="548640" y="288036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Brand-assisted (estimate)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≈ $225,000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154680"/>
            <a:ext cx="6522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Arial"/>
              </a:rPr>
              <a:t>Customers whose first contact was a call to the main phone line (Mainline, excluded from the report) who later came back through the website, Google listings or ads.</a:t>
            </a:r>
          </a:p>
        </p:txBody>
      </p:sp>
      <p:sp>
        <p:nvSpPr>
          <p:cNvPr id="13" name="Layer Marketing-influenced total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952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7F6F2"/>
                </a:solidFill>
                <a:latin typeface="Arial"/>
              </a:rPr>
              <a:t>Marketing-influenced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2A65A"/>
                </a:solidFill>
                <a:latin typeface="Arial"/>
              </a:rPr>
              <a:t>≈ $1.07M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617720"/>
            <a:ext cx="6522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Arial"/>
              </a:rPr>
              <a:t>Both layers together. Use the tracked number when it must match Searchlight exactly.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Paid winners: brand search and Local Services Ads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8</a:t>
            </a:r>
          </a:p>
        </p:txBody>
      </p:sp>
      <p:sp>
        <p:nvSpPr>
          <p:cNvPr id="5" name="Winner Brand Search"/>
          <p:cNvSpPr/>
          <p:nvPr/>
        </p:nvSpPr>
        <p:spPr>
          <a:xfrm>
            <a:off x="548640" y="1417320"/>
            <a:ext cx="3515258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676"/>
                </a:solidFill>
                <a:latin typeface="Arial"/>
              </a:rPr>
              <a:t>BRAND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4213D"/>
                </a:solidFill>
                <a:latin typeface="Arial"/>
              </a:rPr>
              <a:t>9.4x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rial"/>
              </a:rPr>
              <a:t>PPC_Brand_Core_Myrtle-Beach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$7,574 spend → $71,450 closed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161 unique leads · 78 booked jobs</a:t>
            </a:r>
          </a:p>
        </p:txBody>
      </p:sp>
      <p:sp>
        <p:nvSpPr>
          <p:cNvPr id="10" name="Winner Local Services Ads"/>
          <p:cNvSpPr/>
          <p:nvPr/>
        </p:nvSpPr>
        <p:spPr>
          <a:xfrm>
            <a:off x="4338218" y="1417320"/>
            <a:ext cx="3515258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73736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676"/>
                </a:solidFill>
                <a:latin typeface="Arial"/>
              </a:rPr>
              <a:t>LOCAL SERVICES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258" y="210312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4213D"/>
                </a:solidFill>
                <a:latin typeface="Arial"/>
              </a:rPr>
              <a:t>4.1x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315468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rial"/>
              </a:rPr>
              <a:t>Coastal Air Plus LSA (HVAC + Plumbing)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402336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$35,969 spend → $145,887 closed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478 unique leads · 173 booked jobs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Plumbing LSA alone: 11.1x</a:t>
            </a:r>
          </a:p>
        </p:txBody>
      </p:sp>
      <p:sp>
        <p:nvSpPr>
          <p:cNvPr id="15" name="Winner Competitor Search"/>
          <p:cNvSpPr/>
          <p:nvPr/>
        </p:nvSpPr>
        <p:spPr>
          <a:xfrm>
            <a:off x="8127796" y="1417320"/>
            <a:ext cx="3515258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7836" y="1737360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676"/>
                </a:solidFill>
                <a:latin typeface="Arial"/>
              </a:rPr>
              <a:t>COMPETITOR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7836" y="2103120"/>
            <a:ext cx="28751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4213D"/>
                </a:solidFill>
                <a:latin typeface="Arial"/>
              </a:rPr>
              <a:t>2.1x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7836" y="315468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rial"/>
              </a:rPr>
              <a:t>PPC_NB_Competitor-Carolina-Cool_Myrtle-Beach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836" y="402336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$26,983 spend → $56,577 closed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Arial"/>
              </a:rPr>
              <a:t>326 unique leads · 56 booked jobs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Below break-even: $87,813 spent for $34,948 closed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9</a:t>
            </a:r>
          </a:p>
        </p:txBody>
      </p:sp>
      <p:graphicFrame>
        <p:nvGraphicFramePr>
          <p:cNvPr id="5" name="Laggard table"/>
          <p:cNvGraphicFramePr>
            <a:graphicFrameLocks noGrp="1"/>
          </p:cNvGraphicFramePr>
          <p:nvPr/>
        </p:nvGraphicFramePr>
        <p:xfrm>
          <a:off x="548640" y="1417320"/>
          <a:ext cx="11094415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0"/>
                <a:gridCol w="1371600"/>
                <a:gridCol w="1280160"/>
                <a:gridCol w="1005840"/>
                <a:gridCol w="1463040"/>
                <a:gridCol w="103601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Unique 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Booked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PPC_NB_HVAC_Myrtle-Beach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$28,006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$10,476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0.37x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PPC_NB_Plumbing_Myrtle-Beach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$25,375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$8,127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0.32x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July - Sept 2026 Special | $99 New System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$12,078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$10,048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0.83x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PPC_NB_Competitor_Myrtle-Beach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$8,100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$4,833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0.60x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August 2026 Special | $100 Off HVAC Repair - 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$5,022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Performance Max - HVAC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$3,663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$1,146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0.31x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Aug 2026 Special | $100 Off Plumbing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$2,313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0.14x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Leads Campaign June Offers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$2,082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PDM -  Sept Plumbing Offer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$828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Performance Max - Carolina Cool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$345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Total, 10 campaigns below 1x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$87,813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$34,948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4213D"/>
                          </a:solidFill>
                          <a:latin typeface="Arial"/>
                        </a:rPr>
                        <a:t>0.40x</a:t>
                      </a:r>
                    </a:p>
                  </a:txBody>
                  <a:tcPr marL="73152" marR="73152" marT="27432" marB="27432" anchor="ctr">
                    <a:solidFill>
                      <a:srgbClr val="FBE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Charleston GBP brings the most revenue but books only 7% of its leads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10</a:t>
            </a:r>
          </a:p>
        </p:txBody>
      </p:sp>
      <p:graphicFrame>
        <p:nvGraphicFramePr>
          <p:cNvPr id="5" name="Unpaid table"/>
          <p:cNvGraphicFramePr>
            <a:graphicFrameLocks noGrp="1"/>
          </p:cNvGraphicFramePr>
          <p:nvPr/>
        </p:nvGraphicFramePr>
        <p:xfrm>
          <a:off x="548640" y="1417320"/>
          <a:ext cx="1109441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1645920"/>
                <a:gridCol w="1280160"/>
                <a:gridCol w="1280160"/>
                <a:gridCol w="1554480"/>
                <a:gridCol w="1676095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Unique 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Booked jobs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Book rate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Charleston GBP |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$213,907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Website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$90,250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(no campaign)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$54,291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Google 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$50,471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Myrtle Beach GBP |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$25,849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Uncategorized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$18,031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Direct Web Traffic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Direct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$16,989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PPC HVAC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Arial"/>
                        </a:rPr>
                        <a:t>$16,930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All campaigns ranked by closed revenue · 1–14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11</a:t>
            </a:r>
          </a:p>
        </p:txBody>
      </p:sp>
      <p:graphicFrame>
        <p:nvGraphicFramePr>
          <p:cNvPr id="5" name="Ranking 1-14"/>
          <p:cNvGraphicFramePr>
            <a:graphicFrameLocks noGrp="1"/>
          </p:cNvGraphicFramePr>
          <p:nvPr/>
        </p:nvGraphicFramePr>
        <p:xfrm>
          <a:off x="548640" y="1234440"/>
          <a:ext cx="11094415" cy="4663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4572000"/>
                <a:gridCol w="1371600"/>
                <a:gridCol w="1097280"/>
                <a:gridCol w="777240"/>
                <a:gridCol w="777240"/>
                <a:gridCol w="1188720"/>
                <a:gridCol w="853135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Booked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Charleston GBP |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$213,907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Website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$90,250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(LSA) Coastal Air Plus (HVAC)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$29,625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$75,644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2.55x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PPC_Brand_Core_Myrtle-Beach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$7,574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$71,450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9.43x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(LSA) Coastal Air Plus (Plumbing)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$6,344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$70,243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11.07x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PPC_NB_Competitor-Carolina-Cool_Myrtle-Beach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$26,983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$56,577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2.10x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(no campaign)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$54,291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Google 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$50,471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Myrtle Beach GBP |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$25,849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Uncategorized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$18,031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Performance Max - Remarketing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$10,467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$16,999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1.62x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 Web Traffic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$16,989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 HVAC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$16,930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PPC_NB_HVAC_Myrtle-Beach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$28,006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$10,476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0.37x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All campaigns ranked by closed revenue · 15–28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12</a:t>
            </a:r>
          </a:p>
        </p:txBody>
      </p:sp>
      <p:graphicFrame>
        <p:nvGraphicFramePr>
          <p:cNvPr id="5" name="Ranking 15-28"/>
          <p:cNvGraphicFramePr>
            <a:graphicFrameLocks noGrp="1"/>
          </p:cNvGraphicFramePr>
          <p:nvPr/>
        </p:nvGraphicFramePr>
        <p:xfrm>
          <a:off x="548640" y="1234440"/>
          <a:ext cx="11094415" cy="4663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4572000"/>
                <a:gridCol w="1371600"/>
                <a:gridCol w="1097280"/>
                <a:gridCol w="777240"/>
                <a:gridCol w="777240"/>
                <a:gridCol w="1188720"/>
                <a:gridCol w="853135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Booked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July - Sept 2026 Special | $99 New System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$12,078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$10,048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0.83x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PPC_NB_Plumbing_Myrtle-Beach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$25,375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$8,127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0.32x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Avoca Live Transfer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$7,469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PPC_NB_Competitor_Myrtle-Beach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$8,100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$4,833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0.60x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Honey Do List Plumbing Campaign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$3,672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Bing 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$2,781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 Web Traffic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$2,597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Facebooks Ads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$2,237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Updated Unsold SMS 9-2024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$1,871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[Va] [Search] | Brand | mCPC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$1,814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 Plumbing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$1,448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(no campaign)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$1,307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 Mail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 Mktg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$1,177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Website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$1,174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All campaigns ranked by closed revenue · 29–42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13</a:t>
            </a:r>
          </a:p>
        </p:txBody>
      </p:sp>
      <p:graphicFrame>
        <p:nvGraphicFramePr>
          <p:cNvPr id="5" name="Ranking 29-42"/>
          <p:cNvGraphicFramePr>
            <a:graphicFrameLocks noGrp="1"/>
          </p:cNvGraphicFramePr>
          <p:nvPr/>
        </p:nvGraphicFramePr>
        <p:xfrm>
          <a:off x="548640" y="1234440"/>
          <a:ext cx="11094415" cy="4663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4572000"/>
                <a:gridCol w="1371600"/>
                <a:gridCol w="1097280"/>
                <a:gridCol w="777240"/>
                <a:gridCol w="777240"/>
                <a:gridCol w="1188720"/>
                <a:gridCol w="853135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Booked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Performance Max - HVAC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$3,663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$1,146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0.31x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Direct Mail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$450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Google Ads Pending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Yahoo 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$375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Aug 2026 Special | $100 Off Plumbing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$2,313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$319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0.14x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mapstakeover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$99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Promotional Maintenance MailChimp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August 2026 Special | $100 Off HVAC Repair - Copy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$5,022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Uncategorized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DuckDuckGo 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Spring HVAC Tuneup $79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Leads Campaign June Offers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$2,082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PDM -  Sept Plumbing Offer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$828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Trane TCS Leads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rial"/>
              </a:rPr>
              <a:t>All campaigns ranked by closed revenue · 43–56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Arial"/>
              </a:rPr>
              <a:t>Source: Searchlight performance-by export · Jan 1 – Oct 23, 2026 · 46 retention, follow-up and Mainline campaigns excluded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8"/>
                </a:solidFill>
                <a:latin typeface="Arial"/>
              </a:rPr>
              <a:t>14</a:t>
            </a:r>
          </a:p>
        </p:txBody>
      </p:sp>
      <p:graphicFrame>
        <p:nvGraphicFramePr>
          <p:cNvPr id="5" name="Ranking 43-56"/>
          <p:cNvGraphicFramePr>
            <a:graphicFrameLocks noGrp="1"/>
          </p:cNvGraphicFramePr>
          <p:nvPr/>
        </p:nvGraphicFramePr>
        <p:xfrm>
          <a:off x="548640" y="1234440"/>
          <a:ext cx="11094415" cy="4974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4572000"/>
                <a:gridCol w="1371600"/>
                <a:gridCol w="1097280"/>
                <a:gridCol w="777240"/>
                <a:gridCol w="777240"/>
                <a:gridCol w="1188720"/>
                <a:gridCol w="853135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Leads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Booked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Closed rev.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$99 Winter Tuneup Promo - Unbooked Customers Over 3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test DM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(no campaign)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PPC Google Brand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$99 Winter Tuneup Promo Charleston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Uncategorized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December 2024 $99 Tune Up Promotional Offer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Unopened Expired Memberships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$99 Winter Tuneup Promo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Performance Max - Carolina Cool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$345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0.00x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[Va] [Search] | HVAC | mCPC &gt; tCPA $50 &gt; $40 &gt; $61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thebluebook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Organic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ChatGPT Referral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mapstakeover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6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Spend not tied to a campaign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Advertising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$5,065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8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7F6F2"/>
                </a:solidFill>
                <a:latin typeface="Arial"/>
              </a:rPr>
              <a:t>About these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2728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A65A"/>
                </a:solidFill>
                <a:latin typeface="Arial"/>
              </a:rPr>
              <a:t>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527288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3E3"/>
                </a:solidFill>
                <a:latin typeface="Arial"/>
              </a:rPr>
              <a:t>Searchlight performance-by report, Coastal Air Plus, Jan 1 – Oct 23, 2026, exported as one period. All campaigns except 46 retention, membership, follow-up, SMS reminder and Mainline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554480"/>
            <a:ext cx="52728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A65A"/>
                </a:solidFill>
                <a:latin typeface="Arial"/>
              </a:rPr>
              <a:t>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057400"/>
            <a:ext cx="527288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3E3"/>
                </a:solidFill>
                <a:latin typeface="Arial"/>
              </a:rPr>
              <a:t>Unique leads = Searchlight "Unique Leads". Closed revenue is credited to the customer's first contact this year. Booked jobs = Searchlight "Booked Customers". ROAS = closed revenue ÷ ad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2728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A65A"/>
                </a:solidFill>
                <a:latin typeface="Arial"/>
              </a:rPr>
              <a:t>Brand-assisted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59"/>
            <a:ext cx="527288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3E3"/>
                </a:solidFill>
                <a:latin typeface="Arial"/>
              </a:rPr>
              <a:t>About $225K from customers who first called the main line and later came back through marketing. Estimated from a job-by-job trace of Searchlight data; not a Searchlight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749039"/>
            <a:ext cx="52728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A65A"/>
                </a:solidFill>
                <a:latin typeface="Arial"/>
              </a:rPr>
              <a:t>Still maturing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4251959"/>
            <a:ext cx="527288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3E3"/>
                </a:solidFill>
                <a:latin typeface="Arial"/>
              </a:rPr>
              <a:t>Jobs booked in October keep closing over the coming weeks, so recent campaigns and October offers may still add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Coastal Air Plus YTD Performance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