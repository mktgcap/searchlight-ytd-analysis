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Coastal Air Plus marketing performance from January 1 through October 23, 2026, taken directly from Searchlight's performance-by report export.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Closed revenue of 841 thousand on 174 thousand of ad spend. The 4.8x return counts revenue from every channel against ad spend; paid advertising on its own returned about 2x. The brand-assisted figure is an estimate explained on slide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Organic, led by the Charleston Google Business Profile, and paid advertising each bring in about 350 thousand. Advertising returns about 2 dollars per dollar spent.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brand-assisted estimate comes from a job-by-job trace of Searchlight data: about 106 thousand came back through direct website visits, 56 thousand through website forms, 51 thousand through organic and 13 thousand through ads. It is not a Searchlight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 search and the plumbing Local Services Ads listing return around 9 to 11 dollars per dollar. The HVAC LSA listing and Carolina-Cool competitor search are lower but still return more than twice their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paid campaigns closed less revenue than they cost. The Myrtle Beach non-brand HVAC and plumbing search campaigns are the largest. Recent offer campaigns may still close revenue.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Unpaid sources with more than 10 thousand in closed revenue. Book rate = booked jobs divided by unique leads. Charleston GBP alone closed about 214 thousand from 636 unique leads, far ahead of Myrtle Beach GBP.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Earlier versions of this deck showed 1.06 million through September because they added up month-by-month data, which shifts credit between channels. This version uses Searchlight's single-period export and matches the report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Arial"/>
              </a:rPr>
              <a:t>SEARCHLIGHT PERFORMANCE REVIEW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2011680"/>
            <a:ext cx="1109441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Coastal Air Plus</a:t>
            </a:r>
          </a:p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Year-to-Date Results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548640" y="3977639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9D3E3"/>
                </a:solidFill>
                <a:latin typeface="Arial"/>
              </a:rPr>
              <a:t>January 1 – October 23, 2026 · by channel and campaign</a:t>
            </a:r>
          </a:p>
        </p:txBody>
      </p:sp>
      <p:sp>
        <p:nvSpPr>
          <p:cNvPr id="5" name="Filter note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FB0C9"/>
                </a:solidFill>
                <a:latin typeface="Arial"/>
              </a:rPr>
              <a:t>All figures from Searchlight's performance-by report. Excludes 46 retention, membership, estimate follow-up, SMS reminder and Mainline campaigns.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Year to date: $841,452 closed on $173,872 of ad spend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2</a:t>
            </a:r>
          </a:p>
        </p:txBody>
      </p:sp>
      <p:sp>
        <p:nvSpPr>
          <p:cNvPr id="5" name="Stat Closed Revenue"/>
          <p:cNvSpPr/>
          <p:nvPr/>
        </p:nvSpPr>
        <p:spPr>
          <a:xfrm>
            <a:off x="548640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CLOSED 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$841K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rial"/>
              </a:rPr>
              <a:t>$841,452</a:t>
            </a:r>
          </a:p>
        </p:txBody>
      </p:sp>
      <p:sp>
        <p:nvSpPr>
          <p:cNvPr id="9" name="Stat Unique Leads"/>
          <p:cNvSpPr/>
          <p:nvPr/>
        </p:nvSpPr>
        <p:spPr>
          <a:xfrm>
            <a:off x="4338218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58258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UNIQUE LEADS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8258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3,613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8258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rial"/>
              </a:rPr>
              <a:t>5,007 total calls and forms</a:t>
            </a:r>
          </a:p>
        </p:txBody>
      </p:sp>
      <p:sp>
        <p:nvSpPr>
          <p:cNvPr id="13" name="Stat Booked Jobs"/>
          <p:cNvSpPr/>
          <p:nvPr/>
        </p:nvSpPr>
        <p:spPr>
          <a:xfrm>
            <a:off x="8127796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7836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BOOKED JOBS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7836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714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7836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rial"/>
              </a:rPr>
              <a:t>20% of unique leads</a:t>
            </a:r>
          </a:p>
        </p:txBody>
      </p:sp>
      <p:sp>
        <p:nvSpPr>
          <p:cNvPr id="17" name="Stat Ad Spend"/>
          <p:cNvSpPr/>
          <p:nvPr/>
        </p:nvSpPr>
        <p:spPr>
          <a:xfrm>
            <a:off x="548640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11480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AD SPEND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48056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$174K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9496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$173,872</a:t>
            </a:r>
          </a:p>
        </p:txBody>
      </p:sp>
      <p:sp>
        <p:nvSpPr>
          <p:cNvPr id="21" name="Stat Cost Per Booked Job"/>
          <p:cNvSpPr/>
          <p:nvPr/>
        </p:nvSpPr>
        <p:spPr>
          <a:xfrm>
            <a:off x="4338218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58258" y="411480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COST PER BOOKED JOB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58258" y="448056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$244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58258" y="539496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$48 per unique lead</a:t>
            </a:r>
          </a:p>
        </p:txBody>
      </p:sp>
      <p:sp>
        <p:nvSpPr>
          <p:cNvPr id="25" name="Stat Return On Ad Spend"/>
          <p:cNvSpPr/>
          <p:nvPr/>
        </p:nvSpPr>
        <p:spPr>
          <a:xfrm>
            <a:off x="8127796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47836" y="411480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RETURN ON AD SPEND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7836" y="448056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2A65A"/>
                </a:solidFill>
                <a:latin typeface="Arial"/>
              </a:rPr>
              <a:t>4.8x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7836" y="539496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All closed revenue ÷ ad spend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Organic and advertising each drive about 41% of closed revenue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3</a:t>
            </a:r>
          </a:p>
        </p:txBody>
      </p:sp>
      <p:graphicFrame>
        <p:nvGraphicFramePr>
          <p:cNvPr id="5" name="Channel table"/>
          <p:cNvGraphicFramePr>
            <a:graphicFrameLocks noGrp="1"/>
          </p:cNvGraphicFramePr>
          <p:nvPr/>
        </p:nvGraphicFramePr>
        <p:xfrm>
          <a:off x="548640" y="1417320"/>
          <a:ext cx="11094415" cy="38039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1371600"/>
                <a:gridCol w="1371600"/>
                <a:gridCol w="1371600"/>
                <a:gridCol w="1645920"/>
                <a:gridCol w="1097280"/>
                <a:gridCol w="1218895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Unique 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Booked jobs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Closed revenue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1,135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$351,993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41.8%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$173,872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1,820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$348,694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41.4%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2.01x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$122,599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14.6%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Direct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$16,989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2.0%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Direct Marketing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$1,177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0.1%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Artificial Intelligence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$173,872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3,613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$841,452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4.84x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</a:tr>
            </a:tbl>
          </a:graphicData>
        </a:graphic>
      </p:graphicFrame>
      <p:sp>
        <p:nvSpPr>
          <p:cNvPr id="6" name="Channel note"/>
          <p:cNvSpPr txBox="1"/>
          <p:nvPr/>
        </p:nvSpPr>
        <p:spPr>
          <a:xfrm>
            <a:off x="548640" y="54406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Arial"/>
              </a:rPr>
              <a:t>Advertising spend includes $5,065 Searchlight could not tie to a campaign. "Other" is mostly website forms; "Direct" is direct web traffic.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Counting brand-assisted revenue: about $1.07M marketing-influenced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4</a:t>
            </a:r>
          </a:p>
        </p:txBody>
      </p:sp>
      <p:sp>
        <p:nvSpPr>
          <p:cNvPr id="5" name="Layer Tracked marketing"/>
          <p:cNvSpPr/>
          <p:nvPr/>
        </p:nvSpPr>
        <p:spPr>
          <a:xfrm>
            <a:off x="548640" y="1417320"/>
            <a:ext cx="11094415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4213D"/>
                </a:solidFill>
                <a:latin typeface="Arial"/>
              </a:rPr>
              <a:t>Tracked marketing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$841,452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79" y="1691640"/>
            <a:ext cx="6522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Arial"/>
              </a:rPr>
              <a:t>Searchlight's number: revenue credited to a marketing campaign as the customer's first contact this year.</a:t>
            </a:r>
          </a:p>
        </p:txBody>
      </p:sp>
      <p:sp>
        <p:nvSpPr>
          <p:cNvPr id="9" name="Layer Brand-assisted (estimate)"/>
          <p:cNvSpPr/>
          <p:nvPr/>
        </p:nvSpPr>
        <p:spPr>
          <a:xfrm>
            <a:off x="548640" y="2880360"/>
            <a:ext cx="11094415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4213D"/>
                </a:solidFill>
                <a:latin typeface="Arial"/>
              </a:rPr>
              <a:t>Brand-assisted (estimate)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≈ $225,000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3154680"/>
            <a:ext cx="6522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Arial"/>
              </a:rPr>
              <a:t>Customers whose first contact was a call to the main phone line (Mainline, excluded from the report) who later came back through the website, Google listings or ads.</a:t>
            </a:r>
          </a:p>
        </p:txBody>
      </p:sp>
      <p:sp>
        <p:nvSpPr>
          <p:cNvPr id="13" name="Layer Marketing-influenced total"/>
          <p:cNvSpPr/>
          <p:nvPr/>
        </p:nvSpPr>
        <p:spPr>
          <a:xfrm>
            <a:off x="548640" y="4343400"/>
            <a:ext cx="11094415" cy="12344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5720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7F6F2"/>
                </a:solidFill>
                <a:latin typeface="Arial"/>
              </a:rPr>
              <a:t>Marketing-influenced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834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2A65A"/>
                </a:solidFill>
                <a:latin typeface="Arial"/>
              </a:rPr>
              <a:t>≈ $1.07M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4617720"/>
            <a:ext cx="6522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Both layers together. Use the tracked number when it must match Searchlight exactly.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Paid winners: brand search and Local Services Ads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5</a:t>
            </a:r>
          </a:p>
        </p:txBody>
      </p:sp>
      <p:sp>
        <p:nvSpPr>
          <p:cNvPr id="5" name="Winner Brand Search"/>
          <p:cNvSpPr/>
          <p:nvPr/>
        </p:nvSpPr>
        <p:spPr>
          <a:xfrm>
            <a:off x="548640" y="1417320"/>
            <a:ext cx="3515258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6676"/>
                </a:solidFill>
                <a:latin typeface="Arial"/>
              </a:rPr>
              <a:t>BRAND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4213D"/>
                </a:solidFill>
                <a:latin typeface="Arial"/>
              </a:rPr>
              <a:t>9.4x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154680"/>
            <a:ext cx="28751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Arial"/>
              </a:rPr>
              <a:t>PPC_Brand_Core_Myrtle-Beach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023360"/>
            <a:ext cx="287517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$7,574 spend → $71,450 closed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161 unique leads · 78 booked jobs</a:t>
            </a:r>
          </a:p>
        </p:txBody>
      </p:sp>
      <p:sp>
        <p:nvSpPr>
          <p:cNvPr id="10" name="Winner Local Services Ads"/>
          <p:cNvSpPr/>
          <p:nvPr/>
        </p:nvSpPr>
        <p:spPr>
          <a:xfrm>
            <a:off x="4338218" y="1417320"/>
            <a:ext cx="3515258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8258" y="173736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6676"/>
                </a:solidFill>
                <a:latin typeface="Arial"/>
              </a:rPr>
              <a:t>LOCAL SERVICES 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8258" y="2103120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4213D"/>
                </a:solidFill>
                <a:latin typeface="Arial"/>
              </a:rPr>
              <a:t>4.1x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8258" y="3154680"/>
            <a:ext cx="28751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Arial"/>
              </a:rPr>
              <a:t>Coastal Air Plus LSA (HVAC + Plumbing)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8258" y="4023360"/>
            <a:ext cx="287517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$35,969 spend → $145,887 closed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478 unique leads · 173 booked jobs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Plumbing LSA alone: 11.1x</a:t>
            </a:r>
          </a:p>
        </p:txBody>
      </p:sp>
      <p:sp>
        <p:nvSpPr>
          <p:cNvPr id="15" name="Winner Competitor Search"/>
          <p:cNvSpPr/>
          <p:nvPr/>
        </p:nvSpPr>
        <p:spPr>
          <a:xfrm>
            <a:off x="8127796" y="1417320"/>
            <a:ext cx="3515258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47836" y="173736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6676"/>
                </a:solidFill>
                <a:latin typeface="Arial"/>
              </a:rPr>
              <a:t>COMPETITOR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7836" y="2103120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4213D"/>
                </a:solidFill>
                <a:latin typeface="Arial"/>
              </a:rPr>
              <a:t>2.1x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7836" y="3154680"/>
            <a:ext cx="28751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Arial"/>
              </a:rPr>
              <a:t>PPC_NB_Competitor-Carolina-Cool_Myrtle-Beach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7836" y="4023360"/>
            <a:ext cx="287517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$26,983 spend → $56,577 closed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326 unique leads · 56 booked jobs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Below break-even: $87,813 spent for $34,948 closed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6</a:t>
            </a:r>
          </a:p>
        </p:txBody>
      </p:sp>
      <p:graphicFrame>
        <p:nvGraphicFramePr>
          <p:cNvPr id="5" name="Laggard table"/>
          <p:cNvGraphicFramePr>
            <a:graphicFrameLocks noGrp="1"/>
          </p:cNvGraphicFramePr>
          <p:nvPr/>
        </p:nvGraphicFramePr>
        <p:xfrm>
          <a:off x="548640" y="1417320"/>
          <a:ext cx="11094415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937760"/>
                <a:gridCol w="1371600"/>
                <a:gridCol w="1280160"/>
                <a:gridCol w="1005840"/>
                <a:gridCol w="1463040"/>
                <a:gridCol w="103601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Unique 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PPC_NB_HVAC_Myrtle-Beach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$28,006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$10,476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0.37x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PPC_NB_Plumbing_Myrtle-Beach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$25,375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$8,127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0.32x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July - Sept 2026 Special | $99 New System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$12,078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$10,048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0.83x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PPC_NB_Competitor_Myrtle-Beach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$8,100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$4,833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0.60x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August 2026 Special | $100 Off HVAC Repair - Copy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$5,022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HVAC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$3,663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$1,146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0.31x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Aug 2026 Special | $100 Off Plumbing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$2,313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0.14x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Leads Campaign June Offers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$2,082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PDM -  Sept Plumbing Offer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Carolina Cool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$345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Total, 10 campaigns below 1x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$87,813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$34,948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0.40x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Charleston GBP brings the most revenue but books only 7% of its leads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7</a:t>
            </a:r>
          </a:p>
        </p:txBody>
      </p:sp>
      <p:graphicFrame>
        <p:nvGraphicFramePr>
          <p:cNvPr id="5" name="Unpaid table"/>
          <p:cNvGraphicFramePr>
            <a:graphicFrameLocks noGrp="1"/>
          </p:cNvGraphicFramePr>
          <p:nvPr/>
        </p:nvGraphicFramePr>
        <p:xfrm>
          <a:off x="548640" y="1417320"/>
          <a:ext cx="1109441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1645920"/>
                <a:gridCol w="1280160"/>
                <a:gridCol w="1280160"/>
                <a:gridCol w="1554480"/>
                <a:gridCol w="1676095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Unique 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Booked jobs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Book rate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Charleston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$213,907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Website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$90,250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$54,291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Google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$50,471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Myrtle Beach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$25,849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$18,031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Direct Web Traffic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Direct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$16,989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PPC HVAC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$16,930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1–14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8</a:t>
            </a:r>
          </a:p>
        </p:txBody>
      </p:sp>
      <p:graphicFrame>
        <p:nvGraphicFramePr>
          <p:cNvPr id="5" name="Ranking 1-14"/>
          <p:cNvGraphicFramePr>
            <a:graphicFrameLocks noGrp="1"/>
          </p:cNvGraphicFramePr>
          <p:nvPr/>
        </p:nvGraphicFramePr>
        <p:xfrm>
          <a:off x="548640" y="1234440"/>
          <a:ext cx="11094415" cy="4663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Charleston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$213,907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Website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$90,250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(LSA) Coastal Air Plus (HVAC)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$29,625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$75,644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2.55x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PPC_Brand_Core_Myrtle-Beach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$7,574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$71,450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9.43x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(LSA) Coastal Air Plus (Plumbing)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$6,344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$70,243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11.07x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PPC_NB_Competitor-Carolina-Cool_Myrtle-Beach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$26,983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$56,577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2.10x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$54,291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Google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$50,471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Myrtle Beach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$25,849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$18,031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Remarketing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$10,467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$16,999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1.62x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Web Traffic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$16,989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 HVAC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$16,930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PPC_NB_HVAC_Myrtle-Beach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$28,006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$10,476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0.37x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15–28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Ranking 15-28"/>
          <p:cNvGraphicFramePr>
            <a:graphicFrameLocks noGrp="1"/>
          </p:cNvGraphicFramePr>
          <p:nvPr/>
        </p:nvGraphicFramePr>
        <p:xfrm>
          <a:off x="548640" y="1234440"/>
          <a:ext cx="11094415" cy="4663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July - Sept 2026 Special | $99 New System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$12,078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$10,048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0.83x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PPC_NB_Plumbing_Myrtle-Beach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$25,375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$8,127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0.32x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Avoca Live Transfer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$7,469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PPC_NB_Competitor_Myrtle-Beach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$8,100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$4,833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0.60x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Honey Do List Plumbing Campaign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$3,672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Bing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$2,781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Web Traffic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$2,597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Facebooks Ads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$2,237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Updated Unsold SMS 9-2024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$1,871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[Va] [Search] | Brand | mCPC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$1,814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 Plumbing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$1,448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$1,307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Mail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Mktg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$1,177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Website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$1,174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29–42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10</a:t>
            </a:r>
          </a:p>
        </p:txBody>
      </p:sp>
      <p:graphicFrame>
        <p:nvGraphicFramePr>
          <p:cNvPr id="5" name="Ranking 29-42"/>
          <p:cNvGraphicFramePr>
            <a:graphicFrameLocks noGrp="1"/>
          </p:cNvGraphicFramePr>
          <p:nvPr/>
        </p:nvGraphicFramePr>
        <p:xfrm>
          <a:off x="548640" y="1234440"/>
          <a:ext cx="11094415" cy="4663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HVAC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$3,663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$1,146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0.31x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Mail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$450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Google Ads Pending Validation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$404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Yahoo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$375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Aug 2026 Special | $100 Off Plumbing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$2,313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0.14x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mapstakeover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Promotional Maintenance MailChimp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August 2026 Special | $100 Off HVAC Repair - Copy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$5,022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DuckDuckGo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Spring HVAC Tuneup $79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Leads Campaign June Offers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$2,082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PDM -  Sept Plumbing Offer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$828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Trane TCS Leads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43–56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11</a:t>
            </a:r>
          </a:p>
        </p:txBody>
      </p:sp>
      <p:graphicFrame>
        <p:nvGraphicFramePr>
          <p:cNvPr id="5" name="Ranking 43-56"/>
          <p:cNvGraphicFramePr>
            <a:graphicFrameLocks noGrp="1"/>
          </p:cNvGraphicFramePr>
          <p:nvPr/>
        </p:nvGraphicFramePr>
        <p:xfrm>
          <a:off x="548640" y="1234440"/>
          <a:ext cx="11094415" cy="49743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 Winter Tuneup Promo - Unbooked Customers Over 3 years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test DM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 Google Brand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 Winter Tuneup Promo Charleston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AI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December 2024 $99 Tune Up Promotional Offer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Unopened Expired Memberships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 Winter Tuneup Promo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Carolina Cool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$345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[Va] [Search] | HVAC | mCPC &gt; tCPA $50 &gt; $40 &gt; $61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thebluebook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ChatGPT Referral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mapstakeover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Spend not tied to a campaign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$5,065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7F6F2"/>
                </a:solidFill>
                <a:latin typeface="Arial"/>
              </a:rPr>
              <a:t>About these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57400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Searchlight performance-by report, Coastal Air Plus, Jan 1 – Oct 23, 2026, exported as one period. All campaigns except 46 retention, membership, follow-up, SMS reminder and Mainline campaigns.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554480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Definitions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2057400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Unique leads = Searchlight "Unique Leads". Closed revenue is credited to the customer's first contact this year. Booked jobs = Searchlight "Booked Customers". ROAS = closed revenue ÷ ad spend.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Brand-assisted estimate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51959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About $225K from customers who first called the main line and later came back through marketing. Estimated from a job-by-job trace of Searchlight data; not a Searchlight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167" y="3749039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Still maturing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4251959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Jobs booked in October keep closing over the coming weeks, so recent campaigns and October offers may still add revenue.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Coastal Air Plus YTD Performance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