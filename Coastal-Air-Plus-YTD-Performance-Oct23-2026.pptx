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0" r:id="rId22"/>
    <p:sldId id="268" r:id="rId20"/>
    <p:sldId id="272" r:id="rId24"/>
    <p:sldId id="283" r:id="rId23"/>
    <p:sldId id="284" r:id="rId19"/>
    <p:sldId id="269" r:id="rId21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20" Type="http://schemas.openxmlformats.org/officeDocument/2006/relationships/slide" Target="slides/slide3.xml"/><Relationship Id="rId21" Type="http://schemas.openxmlformats.org/officeDocument/2006/relationships/slide" Target="slides/slide6.xml"/><Relationship Id="rId22" Type="http://schemas.openxmlformats.org/officeDocument/2006/relationships/slide" Target="slides/slide2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Coastal Air Plus marketing performance from January 1 through October 23, 2026. Digital figures come directly from Searchlight's performance-by report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 Marketing: $139,811 ad spend, 555 booked jobs and $650,259 in revenue. These figures were provided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closed revenue from Searchlight is $841,452 for January 1 to October 23. Brand-assisted revenue, about $225,000, is an estimate of revenue from customers who first called the main line and later came back through the website, Google listings or ads; Searchlight credits it to the main line, so it is not in the $841,452. Together that is about $1.07 million in marketing-influenced revenue. Adding $94,000 from LettrLabs direct mail brings the total to $1,160,452. Searchlight's digital figure already includes $1,627 from two campaigns named Direct Mail; the LettrLabs amount is reported separately and may cover a different date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Charleston marketing managed by ROI Marketing, April through September 2026: $144,496 ad spend, 969 qualified leads at $149 per lead, 346 booked jobs and $244,807 in revenue. These figures were provided separately and are not from Searchlight.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revenue of 841 thousand on 174 thousand of ad spend. The 4.8x return counts revenue from every channel against ad spend; paid advertising on its own returned about 2x. The brand-assisted figure is an estimate explained on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Organic, led by the Charleston Google Business Profile, and paid advertising each bring in about 350 thousand. Advertising returns about 2 dollars per dollar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brand-assisted estimate comes from a job-by-job trace of Searchlight data: about 106 thousand came back through direct website visits, 56 thousand through website forms, 51 thousand through organic and 13 thousand through ads. It is not a Searchlight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search and the plumbing Local Services Ads listing return around 9 to 11 dollars per dollar. The HVAC LSA listing and Carolina-Cool competitor search are lower but still return more than twice their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paid campaigns closed less revenue than they cost. The Myrtle Beach non-brand HVAC and plumbing search campaigns are the largest. Recent offer campaigns may still close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Unpaid sources with more than 10 thousand in closed revenue. Book rate = booked jobs divided by unique leads. Charleston GBP alone closed about 214 thousand from 636 unique leads, far ahead of Myrtle Beach GBP.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Earlier versions of this deck showed 1.06 million through September because they added up month-by-month data, which shifts credit between channels. This version uses Searchlight's single-period export and matches the report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SEARCHLIGHT PERFORMANCE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011680"/>
            <a:ext cx="110944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Coastal Air Plus</a:t>
            </a:r>
          </a:p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Year-to-Date Results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977639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January 1 – October 23, 2026 · by channel and campaign</a:t>
            </a:r>
          </a:p>
        </p:txBody>
      </p:sp>
      <p:sp>
        <p:nvSpPr>
          <p:cNvPr id="5" name="Filter note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FB0C9"/>
                </a:solidFill>
                <a:latin typeface="Arial"/>
              </a:rPr>
              <a:t>All digital figures from Searchlight's performance-by report. Excludes 46 retention, membership, estimate follow-up, SMS reminder and Mainline campaigns.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A Customer’s Journey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096000" y="1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4" name="Connector"/>
          <p:cNvCxnSpPr/>
          <p:nvPr/>
        </p:nvCxnSpPr>
        <p:spPr>
          <a:xfrm flipV="1">
            <a:off x="6096000" y="2313886"/>
            <a:ext cx="2703812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5" name="Connector"/>
          <p:cNvCxnSpPr/>
          <p:nvPr/>
        </p:nvCxnSpPr>
        <p:spPr>
          <a:xfrm flipV="1">
            <a:off x="6096000" y="3313886"/>
            <a:ext cx="4374859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6" name="Connector"/>
          <p:cNvCxnSpPr/>
          <p:nvPr/>
        </p:nvCxnSpPr>
        <p:spPr>
          <a:xfrm>
            <a:off x="6096000" y="3931920"/>
            <a:ext cx="4374859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7" name="Connector"/>
          <p:cNvCxnSpPr/>
          <p:nvPr/>
        </p:nvCxnSpPr>
        <p:spPr>
          <a:xfrm>
            <a:off x="6096000" y="3931920"/>
            <a:ext cx="2703812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8" name="Connector"/>
          <p:cNvCxnSpPr/>
          <p:nvPr/>
        </p:nvCxnSpPr>
        <p:spPr>
          <a:xfrm>
            <a:off x="6096000" y="3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9" name="Connector"/>
          <p:cNvCxnSpPr/>
          <p:nvPr/>
        </p:nvCxnSpPr>
        <p:spPr>
          <a:xfrm flipV="1">
            <a:off x="3392187" y="3931920"/>
            <a:ext cx="2703813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0" name="Connector"/>
          <p:cNvCxnSpPr/>
          <p:nvPr/>
        </p:nvCxnSpPr>
        <p:spPr>
          <a:xfrm flipV="1">
            <a:off x="1721140" y="3931920"/>
            <a:ext cx="4374860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1" name="Connector"/>
          <p:cNvCxnSpPr/>
          <p:nvPr/>
        </p:nvCxnSpPr>
        <p:spPr>
          <a:xfrm>
            <a:off x="1721140" y="3313886"/>
            <a:ext cx="4374860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2" name="Connector"/>
          <p:cNvCxnSpPr/>
          <p:nvPr/>
        </p:nvCxnSpPr>
        <p:spPr>
          <a:xfrm>
            <a:off x="3392187" y="2313886"/>
            <a:ext cx="2703813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sp>
        <p:nvSpPr>
          <p:cNvPr id="13" name="Customer"/>
          <p:cNvSpPr/>
          <p:nvPr/>
        </p:nvSpPr>
        <p:spPr>
          <a:xfrm>
            <a:off x="5227320" y="3063240"/>
            <a:ext cx="1737360" cy="1737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2000" b="1">
                <a:solidFill>
                  <a:srgbClr val="F7F6F2"/>
                </a:solidFill>
                <a:latin typeface="Arial"/>
              </a:rPr>
              <a:t>Customer</a:t>
            </a:r>
          </a:p>
        </p:txBody>
      </p:sp>
      <p:sp>
        <p:nvSpPr>
          <p:cNvPr id="14" name="Touchpoint TV"/>
          <p:cNvSpPr/>
          <p:nvPr/>
        </p:nvSpPr>
        <p:spPr>
          <a:xfrm>
            <a:off x="5364480" y="1634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TV</a:t>
            </a:r>
          </a:p>
        </p:txBody>
      </p:sp>
      <p:sp>
        <p:nvSpPr>
          <p:cNvPr id="15" name="Touchpoint Direct Mail"/>
          <p:cNvSpPr/>
          <p:nvPr/>
        </p:nvSpPr>
        <p:spPr>
          <a:xfrm>
            <a:off x="7944848" y="2016706"/>
            <a:ext cx="1709928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Direct Mail</a:t>
            </a:r>
          </a:p>
        </p:txBody>
      </p:sp>
      <p:sp>
        <p:nvSpPr>
          <p:cNvPr id="16" name="Touchpoint GBP"/>
          <p:cNvSpPr/>
          <p:nvPr/>
        </p:nvSpPr>
        <p:spPr>
          <a:xfrm>
            <a:off x="9739339" y="3016706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GBP</a:t>
            </a:r>
          </a:p>
        </p:txBody>
      </p:sp>
      <p:sp>
        <p:nvSpPr>
          <p:cNvPr id="17" name="Touchpoint Website"/>
          <p:cNvSpPr/>
          <p:nvPr/>
        </p:nvSpPr>
        <p:spPr>
          <a:xfrm>
            <a:off x="9739339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Website</a:t>
            </a:r>
          </a:p>
        </p:txBody>
      </p:sp>
      <p:sp>
        <p:nvSpPr>
          <p:cNvPr id="18" name="Touchpoint Promos"/>
          <p:cNvSpPr/>
          <p:nvPr/>
        </p:nvSpPr>
        <p:spPr>
          <a:xfrm>
            <a:off x="8068292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Promos</a:t>
            </a:r>
          </a:p>
        </p:txBody>
      </p:sp>
      <p:sp>
        <p:nvSpPr>
          <p:cNvPr id="19" name="Touchpoint Outbound Text Campaigns"/>
          <p:cNvSpPr/>
          <p:nvPr/>
        </p:nvSpPr>
        <p:spPr>
          <a:xfrm>
            <a:off x="4582669" y="5634740"/>
            <a:ext cx="3026663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Outbound Text Campaigns</a:t>
            </a:r>
          </a:p>
        </p:txBody>
      </p:sp>
      <p:sp>
        <p:nvSpPr>
          <p:cNvPr id="20" name="Touchpoint Inbound"/>
          <p:cNvSpPr/>
          <p:nvPr/>
        </p:nvSpPr>
        <p:spPr>
          <a:xfrm>
            <a:off x="2660667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Inbound</a:t>
            </a:r>
          </a:p>
        </p:txBody>
      </p:sp>
      <p:sp>
        <p:nvSpPr>
          <p:cNvPr id="21" name="Touchpoint Facebook"/>
          <p:cNvSpPr/>
          <p:nvPr/>
        </p:nvSpPr>
        <p:spPr>
          <a:xfrm>
            <a:off x="989620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Facebook</a:t>
            </a:r>
          </a:p>
        </p:txBody>
      </p:sp>
      <p:sp>
        <p:nvSpPr>
          <p:cNvPr id="22" name="Touchpoint Google Ads"/>
          <p:cNvSpPr/>
          <p:nvPr/>
        </p:nvSpPr>
        <p:spPr>
          <a:xfrm>
            <a:off x="921040" y="3016706"/>
            <a:ext cx="160020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Google Ads</a:t>
            </a:r>
          </a:p>
        </p:txBody>
      </p:sp>
      <p:sp>
        <p:nvSpPr>
          <p:cNvPr id="23" name="Touchpoint Fleetworx"/>
          <p:cNvSpPr/>
          <p:nvPr/>
        </p:nvSpPr>
        <p:spPr>
          <a:xfrm>
            <a:off x="2646951" y="2016706"/>
            <a:ext cx="1490472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Fleetworx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Total revenue: $1.16M from all sources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000" b="0">
                <a:solidFill>
                  <a:srgbClr val="5A6478"/>
                </a:solidFill>
                <a:latin typeface="Arial"/>
              </a:rPr>
              <a:t>Sources: Searchlight (digital, Jan 1 – Oct 23, 2026) · brand-assisted is an estimate from Searchlight data · LettrLabs (direct mail, as provided)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sp>
        <p:nvSpPr>
          <p:cNvPr id="5" name="Source Digital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gital label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DIGITAL · SEARCHLIGHT</a:t>
            </a:r>
          </a:p>
        </p:txBody>
      </p:sp>
      <p:sp>
        <p:nvSpPr>
          <p:cNvPr id="7" name="Digital value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Digital detail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$841,452 closed revenue</a:t>
            </a:r>
          </a:p>
        </p:txBody>
      </p:sp>
      <p:sp>
        <p:nvSpPr>
          <p:cNvPr id="9" name="Source TV"/>
          <p:cNvSpPr/>
          <p:nvPr/>
        </p:nvSpPr>
        <p:spPr>
          <a:xfrm>
            <a:off x="4337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V label"/>
          <p:cNvSpPr txBox="1"/>
          <p:nvPr/>
        </p:nvSpPr>
        <p:spPr>
          <a:xfrm>
            <a:off x="4657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BRAND-ASSISTED · ESTIMATE</a:t>
            </a:r>
          </a:p>
        </p:txBody>
      </p:sp>
      <p:sp>
        <p:nvSpPr>
          <p:cNvPr id="11" name="TV value"/>
          <p:cNvSpPr txBox="1"/>
          <p:nvPr/>
        </p:nvSpPr>
        <p:spPr>
          <a:xfrm>
            <a:off x="4657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$225K</a:t>
            </a:r>
          </a:p>
        </p:txBody>
      </p:sp>
      <p:sp>
        <p:nvSpPr>
          <p:cNvPr id="12" name="TV detail"/>
          <p:cNvSpPr txBox="1"/>
          <p:nvPr/>
        </p:nvSpPr>
        <p:spPr>
          <a:xfrm>
            <a:off x="4657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Main line first, then marketing</a:t>
            </a:r>
          </a:p>
        </p:txBody>
      </p:sp>
      <p:sp>
        <p:nvSpPr>
          <p:cNvPr id="13" name="Source Direct Mail"/>
          <p:cNvSpPr/>
          <p:nvPr/>
        </p:nvSpPr>
        <p:spPr>
          <a:xfrm>
            <a:off x="8125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rect Mail label"/>
          <p:cNvSpPr txBox="1"/>
          <p:nvPr/>
        </p:nvSpPr>
        <p:spPr>
          <a:xfrm>
            <a:off x="8445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DIRECT MAIL · LETTRLABS</a:t>
            </a:r>
          </a:p>
        </p:txBody>
      </p:sp>
      <p:sp>
        <p:nvSpPr>
          <p:cNvPr id="15" name="Direct Mail value"/>
          <p:cNvSpPr txBox="1"/>
          <p:nvPr/>
        </p:nvSpPr>
        <p:spPr>
          <a:xfrm>
            <a:off x="8445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$94K</a:t>
            </a:r>
          </a:p>
        </p:txBody>
      </p:sp>
      <p:sp>
        <p:nvSpPr>
          <p:cNvPr id="16" name="Direct Mail detail"/>
          <p:cNvSpPr txBox="1"/>
          <p:nvPr/>
        </p:nvSpPr>
        <p:spPr>
          <a:xfrm>
            <a:off x="8445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$94,000</a:t>
            </a:r>
          </a:p>
        </p:txBody>
      </p:sp>
      <p:sp>
        <p:nvSpPr>
          <p:cNvPr id="17" name="Total Revenue"/>
          <p:cNvSpPr/>
          <p:nvPr/>
        </p:nvSpPr>
        <p:spPr>
          <a:xfrm>
            <a:off x="548640" y="3840480"/>
            <a:ext cx="11094416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otal label"/>
          <p:cNvSpPr txBox="1"/>
          <p:nvPr/>
        </p:nvSpPr>
        <p:spPr>
          <a:xfrm>
            <a:off x="868680" y="4114800"/>
            <a:ext cx="500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C9D3E3"/>
                </a:solidFill>
                <a:latin typeface="Arial"/>
              </a:rPr>
              <a:t>TOTAL REVENUE, ALL SOURCES</a:t>
            </a:r>
          </a:p>
        </p:txBody>
      </p:sp>
      <p:sp>
        <p:nvSpPr>
          <p:cNvPr id="19" name="Total value"/>
          <p:cNvSpPr txBox="1"/>
          <p:nvPr/>
        </p:nvSpPr>
        <p:spPr>
          <a:xfrm>
            <a:off x="868680" y="4480560"/>
            <a:ext cx="500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F2A65A"/>
                </a:solidFill>
                <a:latin typeface="Arial"/>
              </a:rPr>
              <a:t>$1.16M</a:t>
            </a:r>
          </a:p>
        </p:txBody>
      </p:sp>
      <p:sp>
        <p:nvSpPr>
          <p:cNvPr id="20" name="Total detail"/>
          <p:cNvSpPr txBox="1"/>
          <p:nvPr/>
        </p:nvSpPr>
        <p:spPr>
          <a:xfrm>
            <a:off x="868680" y="5394960"/>
            <a:ext cx="500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$1,160,452</a:t>
            </a:r>
          </a:p>
        </p:txBody>
      </p:sp>
      <p:sp>
        <p:nvSpPr>
          <p:cNvPr id="21" name="Breakdown 1 name"/>
          <p:cNvSpPr txBox="1"/>
          <p:nvPr/>
        </p:nvSpPr>
        <p:spPr>
          <a:xfrm>
            <a:off x="6400800" y="42062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Digital (Searchlight)</a:t>
            </a:r>
          </a:p>
        </p:txBody>
      </p:sp>
      <p:sp>
        <p:nvSpPr>
          <p:cNvPr id="22" name="Breakdown 1 amount"/>
          <p:cNvSpPr txBox="1"/>
          <p:nvPr/>
        </p:nvSpPr>
        <p:spPr>
          <a:xfrm>
            <a:off x="9601200" y="42062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$841,452</a:t>
            </a:r>
          </a:p>
        </p:txBody>
      </p:sp>
      <p:sp>
        <p:nvSpPr>
          <p:cNvPr id="23" name="Breakdown 2 name"/>
          <p:cNvSpPr txBox="1"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Brand-assisted (estimate)</a:t>
            </a:r>
          </a:p>
        </p:txBody>
      </p:sp>
      <p:sp>
        <p:nvSpPr>
          <p:cNvPr id="24" name="Breakdown 2 amount"/>
          <p:cNvSpPr txBox="1"/>
          <p:nvPr/>
        </p:nvSpPr>
        <p:spPr>
          <a:xfrm>
            <a:off x="9601200" y="46634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$225,000</a:t>
            </a:r>
          </a:p>
        </p:txBody>
      </p:sp>
      <p:sp>
        <p:nvSpPr>
          <p:cNvPr id="25" name="Breakdown 3 name"/>
          <p:cNvSpPr txBox="1"/>
          <p:nvPr/>
        </p:nvSpPr>
        <p:spPr>
          <a:xfrm>
            <a:off x="6400800" y="51206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Direct mail (LettrLabs)</a:t>
            </a:r>
          </a:p>
        </p:txBody>
      </p:sp>
      <p:sp>
        <p:nvSpPr>
          <p:cNvPr id="26" name="Breakdown 3 amount"/>
          <p:cNvSpPr txBox="1"/>
          <p:nvPr/>
        </p:nvSpPr>
        <p:spPr>
          <a:xfrm>
            <a:off x="9601200" y="51206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$94,000</a:t>
            </a:r>
          </a:p>
        </p:txBody>
      </p:sp>
      <p:cxnSp>
        <p:nvCxnSpPr>
          <p:cNvPr id="27" name="Breakdown rule"/>
          <p:cNvCxnSpPr/>
          <p:nvPr/>
        </p:nvCxnSpPr>
        <p:spPr>
          <a:xfrm>
            <a:off x="6400800" y="5486400"/>
            <a:ext cx="4914900" cy="0"/>
          </a:xfrm>
          <a:prstGeom prst="line">
            <a:avLst/>
          </a:prstGeom>
          <a:ln w="9525">
            <a:solidFill>
              <a:srgbClr val="5A6478"/>
            </a:solidFill>
          </a:ln>
        </p:spPr>
      </p:cxnSp>
      <p:sp>
        <p:nvSpPr>
          <p:cNvPr id="28" name="Breakdown total name"/>
          <p:cNvSpPr txBox="1"/>
          <p:nvPr/>
        </p:nvSpPr>
        <p:spPr>
          <a:xfrm>
            <a:off x="6400800" y="55778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1">
                <a:solidFill>
                  <a:srgbClr val="F7F6F2"/>
                </a:solidFill>
                <a:latin typeface="Arial"/>
              </a:rPr>
              <a:t>Total</a:t>
            </a:r>
          </a:p>
        </p:txBody>
      </p:sp>
      <p:sp>
        <p:nvSpPr>
          <p:cNvPr id="29" name="Breakdown total amount"/>
          <p:cNvSpPr txBox="1"/>
          <p:nvPr/>
        </p:nvSpPr>
        <p:spPr>
          <a:xfrm>
            <a:off x="9601200" y="55778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2A65A"/>
                </a:solidFill>
                <a:latin typeface="Arial"/>
              </a:rPr>
              <a:t>$1,160,452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Year to date: $841,452 closed on $173,872 of ad spend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Stat Closed Revenue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CLOSED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$841,452</a:t>
            </a:r>
          </a:p>
        </p:txBody>
      </p:sp>
      <p:sp>
        <p:nvSpPr>
          <p:cNvPr id="9" name="Stat Unique Leads"/>
          <p:cNvSpPr/>
          <p:nvPr/>
        </p:nvSpPr>
        <p:spPr>
          <a:xfrm>
            <a:off x="4338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8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UNIQUE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3,613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5,007 total calls and forms</a:t>
            </a:r>
          </a:p>
        </p:txBody>
      </p:sp>
      <p:sp>
        <p:nvSpPr>
          <p:cNvPr id="13" name="Stat Booked Jobs"/>
          <p:cNvSpPr/>
          <p:nvPr/>
        </p:nvSpPr>
        <p:spPr>
          <a:xfrm>
            <a:off x="8127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7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7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20% of unique leads</a:t>
            </a:r>
          </a:p>
        </p:txBody>
      </p:sp>
      <p:sp>
        <p:nvSpPr>
          <p:cNvPr id="17" name="Stat Ad Spend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$174K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$173,872</a:t>
            </a:r>
          </a:p>
        </p:txBody>
      </p:sp>
      <p:sp>
        <p:nvSpPr>
          <p:cNvPr id="21" name="Stat Cost Per Booked Job"/>
          <p:cNvSpPr/>
          <p:nvPr/>
        </p:nvSpPr>
        <p:spPr>
          <a:xfrm>
            <a:off x="4338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8258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BOOKED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8258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258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$48 per unique lead</a:t>
            </a:r>
          </a:p>
        </p:txBody>
      </p:sp>
      <p:sp>
        <p:nvSpPr>
          <p:cNvPr id="25" name="Stat Return On Ad Spend"/>
          <p:cNvSpPr/>
          <p:nvPr/>
        </p:nvSpPr>
        <p:spPr>
          <a:xfrm>
            <a:off x="8127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7836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RETURN ON AD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7836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7836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All closed revenue ÷ ad spend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Marketing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6676"/>
                </a:solidFill>
                <a:latin typeface="Arial"/>
              </a:rPr>
              <a:t>ROI Marketing</a:t>
            </a:r>
          </a:p>
        </p:txBody>
      </p:sp>
      <p:sp>
        <p:nvSpPr>
          <p:cNvPr id="4" name="Period"/>
          <p:cNvSpPr txBox="1"/>
          <p:nvPr/>
        </p:nvSpPr>
        <p:spPr>
          <a:xfrm>
            <a:off x="548640" y="1371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APRIL – SEPTEMBER 2026</a:t>
            </a:r>
          </a:p>
        </p:txBody>
      </p:sp>
      <p:sp>
        <p:nvSpPr>
          <p:cNvPr id="5" name="Stat Ad Spend"/>
          <p:cNvSpPr/>
          <p:nvPr/>
        </p:nvSpPr>
        <p:spPr>
          <a:xfrm>
            <a:off x="548640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"/>
          <p:cNvSpPr txBox="1"/>
          <p:nvPr/>
        </p:nvSpPr>
        <p:spPr>
          <a:xfrm>
            <a:off x="868680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AD SPEND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868680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$144,496</a:t>
            </a:r>
          </a:p>
        </p:txBody>
      </p:sp>
      <p:sp>
        <p:nvSpPr>
          <p:cNvPr id="8" name="Stat Qualified Leads"/>
          <p:cNvSpPr/>
          <p:nvPr/>
        </p:nvSpPr>
        <p:spPr>
          <a:xfrm>
            <a:off x="4338218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4658258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QUALIFIED LEADS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4658258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969</a:t>
            </a:r>
          </a:p>
        </p:txBody>
      </p:sp>
      <p:sp>
        <p:nvSpPr>
          <p:cNvPr id="11" name="Stat Cost Per Lead"/>
          <p:cNvSpPr/>
          <p:nvPr/>
        </p:nvSpPr>
        <p:spPr>
          <a:xfrm>
            <a:off x="8127796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8447836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COST PER LEAD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447836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$149</a:t>
            </a:r>
          </a:p>
        </p:txBody>
      </p:sp>
      <p:sp>
        <p:nvSpPr>
          <p:cNvPr id="14" name="Stat Booked Jobs"/>
          <p:cNvSpPr/>
          <p:nvPr/>
        </p:nvSpPr>
        <p:spPr>
          <a:xfrm>
            <a:off x="548640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68680" y="4251959"/>
            <a:ext cx="476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BOOKED JOBS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68680" y="4663440"/>
            <a:ext cx="47699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7F6F2"/>
                </a:solidFill>
                <a:latin typeface="Arial"/>
              </a:rPr>
              <a:t>346</a:t>
            </a:r>
          </a:p>
        </p:txBody>
      </p:sp>
      <p:sp>
        <p:nvSpPr>
          <p:cNvPr id="17" name="Stat Revenue"/>
          <p:cNvSpPr/>
          <p:nvPr/>
        </p:nvSpPr>
        <p:spPr>
          <a:xfrm>
            <a:off x="6233007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6553047" y="4251959"/>
            <a:ext cx="476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REVENUE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553047" y="4663440"/>
            <a:ext cx="47699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2A65A"/>
                </a:solidFill>
                <a:latin typeface="Arial"/>
              </a:rPr>
              <a:t>$244,807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ROI Marketing, Charleston · April – September 2026 · figures as provided</a:t>
            </a:r>
          </a:p>
        </p:txBody>
      </p:sp>
      <p:sp>
        <p:nvSpPr>
          <p:cNvPr id="21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9260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5400" b="1">
                <a:solidFill>
                  <a:srgbClr val="F7F6F2"/>
                </a:solidFill>
                <a:latin typeface="Arial"/>
              </a:rPr>
              <a:t>Digital Advertising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9FB0C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Organic and advertising each drive about 41% of closed revenue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8</a:t>
            </a:r>
          </a:p>
        </p:txBody>
      </p:sp>
      <p:graphicFrame>
        <p:nvGraphicFramePr>
          <p:cNvPr id="5" name="Channel table"/>
          <p:cNvGraphicFramePr>
            <a:graphicFrameLocks noGrp="1"/>
          </p:cNvGraphicFramePr>
          <p:nvPr/>
        </p:nvGraphicFramePr>
        <p:xfrm>
          <a:off x="548640" y="1417320"/>
          <a:ext cx="11094415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371600"/>
                <a:gridCol w="1371600"/>
                <a:gridCol w="1371600"/>
                <a:gridCol w="1645920"/>
                <a:gridCol w="1097280"/>
                <a:gridCol w="121889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Closed revenue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1,135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$351,993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1,820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$348,694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41.4%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$122,599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Artificial Intelligence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3,613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$841,452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4.84x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  <p:sp>
        <p:nvSpPr>
          <p:cNvPr id="6" name="Channel note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Advertising spend includes $5,065 Searchlight could not tie to a campaign. "Other" is mostly website forms; "Direct" is direct web traffic.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Counting brand-assisted revenue: about $1.07M marketing-influenced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9</a:t>
            </a:r>
          </a:p>
        </p:txBody>
      </p:sp>
      <p:sp>
        <p:nvSpPr>
          <p:cNvPr id="5" name="Layer Tracked marketing"/>
          <p:cNvSpPr/>
          <p:nvPr/>
        </p:nvSpPr>
        <p:spPr>
          <a:xfrm>
            <a:off x="548640" y="141732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Tracked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$841,452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169164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Searchlight's number: revenue credited to a marketing campaign as the customer's first contact this year.</a:t>
            </a:r>
          </a:p>
        </p:txBody>
      </p:sp>
      <p:sp>
        <p:nvSpPr>
          <p:cNvPr id="9" name="Layer Brand-assisted (estimate)"/>
          <p:cNvSpPr/>
          <p:nvPr/>
        </p:nvSpPr>
        <p:spPr>
          <a:xfrm>
            <a:off x="548640" y="288036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Brand-assisted (estimate)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≈ $225,000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Customers whose first contact was a call to the main phone line (Mainline, excluded from the report) who later came back through the website, Google listings or ads.</a:t>
            </a:r>
          </a:p>
        </p:txBody>
      </p:sp>
      <p:sp>
        <p:nvSpPr>
          <p:cNvPr id="13" name="Layer Marketing-influenced total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7F6F2"/>
                </a:solidFill>
                <a:latin typeface="Arial"/>
              </a:rPr>
              <a:t>Marketing-influenced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2A65A"/>
                </a:solidFill>
                <a:latin typeface="Arial"/>
              </a:rPr>
              <a:t>≈ $1.07M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61772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Both layers together. Use the tracked number when it must match Searchlight exactly.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Paid winners: brand search and Local Services 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10</a:t>
            </a:r>
          </a:p>
        </p:txBody>
      </p:sp>
      <p:sp>
        <p:nvSpPr>
          <p:cNvPr id="5" name="Winner Brand Search"/>
          <p:cNvSpPr/>
          <p:nvPr/>
        </p:nvSpPr>
        <p:spPr>
          <a:xfrm>
            <a:off x="548640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BRAND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9.4x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PPC_Brand_Core_Myrtle-Beach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$7,574 spend → $71,450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161 unique leads · 78 booked jobs</a:t>
            </a:r>
          </a:p>
        </p:txBody>
      </p:sp>
      <p:sp>
        <p:nvSpPr>
          <p:cNvPr id="10" name="Winner Local Services Ads"/>
          <p:cNvSpPr/>
          <p:nvPr/>
        </p:nvSpPr>
        <p:spPr>
          <a:xfrm>
            <a:off x="4338218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LOCAL SERVICES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4.1x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Coastal Air Plus LSA (HVAC + Plumbing)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$35,969 spend → $145,887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478 unique leads · 173 booked jobs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Plumbing LSA alone: 11.1x</a:t>
            </a:r>
          </a:p>
        </p:txBody>
      </p:sp>
      <p:sp>
        <p:nvSpPr>
          <p:cNvPr id="15" name="Winner Competitor Search"/>
          <p:cNvSpPr/>
          <p:nvPr/>
        </p:nvSpPr>
        <p:spPr>
          <a:xfrm>
            <a:off x="8127796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7836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COMPETITOR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7836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2.1x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7836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PPC_NB_Competitor-Carolina-Cool_Myrtle-Beach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836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$26,983 spend → $56,577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326 unique leads · 56 booked jobs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Below break-even: $87,813 spent for $34,948 closed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Laggard table"/>
          <p:cNvGraphicFramePr>
            <a:graphicFrameLocks noGrp="1"/>
          </p:cNvGraphicFramePr>
          <p:nvPr/>
        </p:nvGraphicFramePr>
        <p:xfrm>
          <a:off x="548640" y="1417320"/>
          <a:ext cx="11094415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7760"/>
                <a:gridCol w="1371600"/>
                <a:gridCol w="1280160"/>
                <a:gridCol w="1005840"/>
                <a:gridCol w="1463040"/>
                <a:gridCol w="103601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Total, 10 campaigns below 1x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$87,813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$34,948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GBP brings the most revenue but books only 7% of its leads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12</a:t>
            </a:r>
          </a:p>
        </p:txBody>
      </p:sp>
      <p:graphicFrame>
        <p:nvGraphicFramePr>
          <p:cNvPr id="5" name="Unpaid table"/>
          <p:cNvGraphicFramePr>
            <a:graphicFrameLocks noGrp="1"/>
          </p:cNvGraphicFramePr>
          <p:nvPr/>
        </p:nvGraphicFramePr>
        <p:xfrm>
          <a:off x="548640" y="1417320"/>
          <a:ext cx="110944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1645920"/>
                <a:gridCol w="1280160"/>
                <a:gridCol w="1280160"/>
                <a:gridCol w="1554480"/>
                <a:gridCol w="16760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 rate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1–14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13</a:t>
            </a:r>
          </a:p>
        </p:txBody>
      </p:sp>
      <p:graphicFrame>
        <p:nvGraphicFramePr>
          <p:cNvPr id="5" name="Ranking 1-14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(HVAC)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$29,625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$75,644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2.55x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PPC_Brand_Core_Myrtle-Beach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$7,574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$71,450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9.43x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(Plumbing)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$6,344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$70,243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11.07x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PPC_NB_Competitor-Carolina-Cool_Myrtle-Beach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$26,983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$56,577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2.10x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Remarketing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15–28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Ranking 15-28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Avoca Live 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$7,469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Honey Do List Plumbing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Bing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$2,781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$2,597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Facebooks 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Updated Unsold SMS 9-2024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Brand | mCPC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$1,448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$1,307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Mktg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29–42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15</a:t>
            </a:r>
          </a:p>
        </p:txBody>
      </p:sp>
      <p:graphicFrame>
        <p:nvGraphicFramePr>
          <p:cNvPr id="5" name="Ranking 29-42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Ads Pending 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Yahoo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Promotional Maintenance MailChimp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DuckDuckGo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Spring HVAC Tuneup $79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Trane TCS Leads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43–56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16</a:t>
            </a:r>
          </a:p>
        </p:txBody>
      </p:sp>
      <p:graphicFrame>
        <p:nvGraphicFramePr>
          <p:cNvPr id="5" name="Ranking 43-56"/>
          <p:cNvGraphicFramePr>
            <a:graphicFrameLocks noGrp="1"/>
          </p:cNvGraphicFramePr>
          <p:nvPr/>
        </p:nvGraphicFramePr>
        <p:xfrm>
          <a:off x="548640" y="1234440"/>
          <a:ext cx="11094415" cy="4974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- Unbooked Customers Over 3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test DM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Google Brand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Charleston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December 2024 $99 Tune Up Promotional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Unopened Expired Memberships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HVAC | mCPC &gt; tCPA $50 &gt; $40 &gt; $61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thebluebook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ChatGPT Referral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Spend not tied to a campaign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$5,065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7F6F2"/>
                </a:solidFill>
                <a:latin typeface="Arial"/>
              </a:rPr>
              <a:t>About these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Searchlight performance-by report, Coastal Air Plus, Jan 1 – Oct 23, 2026, exported as one period. All campaigns except 46 retention, membership, follow-up, SMS reminder and Mainline campaigns.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Unique leads = Searchlight "Unique Leads". Closed revenue is credited to the customer's first contact this year. Booked jobs = Searchlight "Booked Customers". ROAS = closed revenue ÷ ad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Brand-assisted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About $225K from customers who first called the main line and later came back through marketing. Estimated from a job-by-job trace of Searchlight data; not a Searchlight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Still maturing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Jobs booked in October keep closing over the coming weeks, so recent campaigns and October offers may still add revenue.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CAP Marketing</a:t>
            </a:r>
          </a:p>
        </p:txBody>
      </p:sp>
      <p:sp>
        <p:nvSpPr>
          <p:cNvPr id="3" name="Stat Ad Spend"/>
          <p:cNvSpPr/>
          <p:nvPr/>
        </p:nvSpPr>
        <p:spPr>
          <a:xfrm>
            <a:off x="548640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"/>
          <p:cNvSpPr txBox="1"/>
          <p:nvPr/>
        </p:nvSpPr>
        <p:spPr>
          <a:xfrm>
            <a:off x="868680" y="224027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AD SPEND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868680" y="2743200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$139,811</a:t>
            </a:r>
          </a:p>
        </p:txBody>
      </p:sp>
      <p:sp>
        <p:nvSpPr>
          <p:cNvPr id="6" name="Stat Booked Jobs"/>
          <p:cNvSpPr/>
          <p:nvPr/>
        </p:nvSpPr>
        <p:spPr>
          <a:xfrm>
            <a:off x="4338218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 txBox="1"/>
          <p:nvPr/>
        </p:nvSpPr>
        <p:spPr>
          <a:xfrm>
            <a:off x="4658258" y="224027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4658258" y="2743200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555</a:t>
            </a:r>
          </a:p>
        </p:txBody>
      </p:sp>
      <p:sp>
        <p:nvSpPr>
          <p:cNvPr id="9" name="Stat Revenue"/>
          <p:cNvSpPr/>
          <p:nvPr/>
        </p:nvSpPr>
        <p:spPr>
          <a:xfrm>
            <a:off x="8127796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 txBox="1"/>
          <p:nvPr/>
        </p:nvSpPr>
        <p:spPr>
          <a:xfrm>
            <a:off x="8447836" y="224027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REVENUE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447836" y="2743200"/>
            <a:ext cx="28751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$650,259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CAP Marketing · figures as provided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